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67c498817_0_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f67c498817_0_9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g3f67c498817_0_9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66242697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66242697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66242697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662426976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67c498817_39_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g3f67c498817_39_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g3f67c498817_39_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67c498817_39_3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f67c498817_39_3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f67c498817_39_3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67c498817_39_3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f67c498817_39_3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f67c498817_39_3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67c498817_39_3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g3f67c498817_39_3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f67c498817_39_3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67c498817_39_3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f67c498817_39_3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f67c498817_39_3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67c498817_39_3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f67c498817_39_36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g3f67c498817_39_36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67c498817_39_37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f67c498817_39_37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f67c498817_39_37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f667a2fb0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f667a2fb0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67c498817_39_39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f67c498817_39_39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f67c498817_39_39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67c498817_39_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g3f67c498817_39_6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f67c498817_39_6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67c498817_39_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f67c498817_39_6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g3f67c498817_39_6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67c498817_39_9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g3f67c498817_39_9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g3f67c498817_39_9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67c498817_39_1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f67c498817_39_1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f67c498817_39_1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f67c498817_39_12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3f67c498817_39_12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3f67c498817_39_12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67c498817_39_1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g3f67c498817_39_14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g3f67c498817_39_14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67c498817_39_1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g3f67c498817_39_16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g3f67c498817_39_16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67c498817_39_18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g3f67c498817_39_18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3f67c498817_39_18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f67c498817_39_20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f67c498817_39_20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f67c498817_39_20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f67c498817_39_2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g3f67c498817_39_2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g3f67c498817_39_2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f67c498817_39_2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g3f67c498817_39_2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g3f67c498817_39_2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f67c498817_39_2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f67c498817_39_27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g3f67c498817_39_27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f67c498817_39_2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g3f67c498817_39_29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g3f67c498817_39_29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f667a2fb07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f667a2fb07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f667a2fb07_0_6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g3f667a2fb07_0_6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g3f667a2fb07_0_6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f667a2fb0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f667a2fb07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f667a2fb07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f667a2fb07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f667a2fb07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f667a2fb07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f667a2fb07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f667a2fb07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f67c498817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f67c498817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f67c498817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f67c498817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f667a2fb07_0_7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f667a2fb07_0_7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g3f667a2fb07_0_7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f667a2fb07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f667a2fb07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f67c498817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f67c498817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f667a2fb07_0_9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g3f667a2fb07_0_9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4" name="Google Shape;704;g3f667a2fb07_0_9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f667a2fb0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f667a2fb0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f67c498817_0_1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f67c498817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f67c498817_0_1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3f67c498817_0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f667a2fb0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3f667a2fb0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f67c498817_0_1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f67c498817_0_1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f667a2fb07_0_18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3f667a2fb07_0_18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g3f667a2fb07_0_18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f67c498817_14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f67c498817_14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f667a2fb07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f667a2fb07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f68543a30a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3f68543a30a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4a219e74794f911c">
  <p:cSld name="BLANK_4a219e74794f911c">
    <p:spTree>
      <p:nvGrpSpPr>
        <p:cNvPr id="52" name="Shape 5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
        <p:nvSpPr>
          <p:cNvPr id="56" name="Google Shape;56;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13.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1.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61" name="Shape 61"/>
        <p:cNvGrpSpPr/>
        <p:nvPr/>
      </p:nvGrpSpPr>
      <p:grpSpPr>
        <a:xfrm>
          <a:off x="0" y="0"/>
          <a:ext cx="0" cy="0"/>
          <a:chOff x="0" y="0"/>
          <a:chExt cx="0" cy="0"/>
        </a:xfrm>
      </p:grpSpPr>
      <p:sp>
        <p:nvSpPr>
          <p:cNvPr id="62" name="Google Shape;62;p17"/>
          <p:cNvSpPr/>
          <p:nvPr/>
        </p:nvSpPr>
        <p:spPr>
          <a:xfrm>
            <a:off x="7269480" y="-1234440"/>
            <a:ext cx="3429000" cy="34290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7"/>
          <p:cNvSpPr/>
          <p:nvPr/>
        </p:nvSpPr>
        <p:spPr>
          <a:xfrm>
            <a:off x="-1028700" y="3566160"/>
            <a:ext cx="2743200" cy="27432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 name="Google Shape;64;p17"/>
          <p:cNvSpPr/>
          <p:nvPr/>
        </p:nvSpPr>
        <p:spPr>
          <a:xfrm>
            <a:off x="582930" y="1543050"/>
            <a:ext cx="7200900" cy="823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3300"/>
              <a:buFont typeface="Cambria"/>
              <a:buNone/>
            </a:pPr>
            <a:r>
              <a:rPr b="1" lang="en" sz="3300">
                <a:solidFill>
                  <a:srgbClr val="FFFFFF"/>
                </a:solidFill>
                <a:latin typeface="Cambria"/>
                <a:ea typeface="Cambria"/>
                <a:cs typeface="Cambria"/>
                <a:sym typeface="Cambria"/>
              </a:rPr>
              <a:t>Social Media Initiative</a:t>
            </a:r>
            <a:endParaRPr b="0" i="0" sz="3300" u="none" cap="none" strike="noStrike">
              <a:solidFill>
                <a:schemeClr val="dk1"/>
              </a:solidFill>
              <a:latin typeface="Calibri"/>
              <a:ea typeface="Calibri"/>
              <a:cs typeface="Calibri"/>
              <a:sym typeface="Calibri"/>
            </a:endParaRPr>
          </a:p>
        </p:txBody>
      </p:sp>
      <p:sp>
        <p:nvSpPr>
          <p:cNvPr id="65" name="Google Shape;65;p17"/>
          <p:cNvSpPr/>
          <p:nvPr/>
        </p:nvSpPr>
        <p:spPr>
          <a:xfrm>
            <a:off x="925825" y="2337192"/>
            <a:ext cx="6515100" cy="15681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1100"/>
              <a:buFont typeface="Arial"/>
              <a:buNone/>
            </a:pPr>
            <a:r>
              <a:rPr i="1" lang="en" sz="1800">
                <a:solidFill>
                  <a:schemeClr val="lt2"/>
                </a:solidFill>
              </a:rPr>
              <a:t>Faces of HAAG</a:t>
            </a:r>
            <a:br>
              <a:rPr i="1" lang="en" sz="1800">
                <a:solidFill>
                  <a:schemeClr val="lt2"/>
                </a:solidFill>
              </a:rPr>
            </a:br>
            <a:r>
              <a:rPr i="1" lang="en" sz="1800">
                <a:solidFill>
                  <a:schemeClr val="lt2"/>
                </a:solidFill>
              </a:rPr>
              <a:t>Project Spotlight</a:t>
            </a:r>
            <a:br>
              <a:rPr i="1" lang="en" sz="1800">
                <a:solidFill>
                  <a:schemeClr val="lt2"/>
                </a:solidFill>
              </a:rPr>
            </a:br>
            <a:r>
              <a:rPr i="1" lang="en" sz="1800">
                <a:solidFill>
                  <a:schemeClr val="lt2"/>
                </a:solidFill>
              </a:rPr>
              <a:t>Blog Posts</a:t>
            </a:r>
            <a:br>
              <a:rPr i="1" lang="en" sz="1800">
                <a:solidFill>
                  <a:schemeClr val="lt2"/>
                </a:solidFill>
              </a:rPr>
            </a:br>
            <a:r>
              <a:rPr i="1" lang="en" sz="1800">
                <a:solidFill>
                  <a:schemeClr val="lt2"/>
                </a:solidFill>
              </a:rPr>
              <a:t>Event Promotion</a:t>
            </a:r>
            <a:endParaRPr b="0" i="0" sz="1400" u="none" cap="none" strike="noStrike">
              <a:solidFill>
                <a:schemeClr val="lt2"/>
              </a:solidFill>
              <a:latin typeface="Calibri"/>
              <a:ea typeface="Calibri"/>
              <a:cs typeface="Calibri"/>
              <a:sym typeface="Calibri"/>
            </a:endParaRPr>
          </a:p>
        </p:txBody>
      </p:sp>
      <p:sp>
        <p:nvSpPr>
          <p:cNvPr id="66" name="Google Shape;66;p17"/>
          <p:cNvSpPr/>
          <p:nvPr/>
        </p:nvSpPr>
        <p:spPr>
          <a:xfrm>
            <a:off x="1440175" y="4147227"/>
            <a:ext cx="5486400" cy="732300"/>
          </a:xfrm>
          <a:prstGeom prst="rect">
            <a:avLst/>
          </a:prstGeom>
          <a:no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1100"/>
              <a:buFont typeface="Arial"/>
              <a:buNone/>
            </a:pPr>
            <a:r>
              <a:rPr lang="en" sz="1600">
                <a:solidFill>
                  <a:schemeClr val="lt2"/>
                </a:solidFill>
              </a:rPr>
              <a:t>Jacob McGivern (Manager)</a:t>
            </a:r>
            <a:br>
              <a:rPr lang="en" sz="1600">
                <a:solidFill>
                  <a:schemeClr val="lt2"/>
                </a:solidFill>
              </a:rPr>
            </a:br>
            <a:r>
              <a:rPr lang="en" sz="1600">
                <a:solidFill>
                  <a:schemeClr val="lt2"/>
                </a:solidFill>
              </a:rPr>
              <a:t>Sheena Patel (Manager)</a:t>
            </a:r>
            <a:br>
              <a:rPr lang="en" sz="1600">
                <a:solidFill>
                  <a:schemeClr val="lt2"/>
                </a:solidFill>
              </a:rPr>
            </a:br>
            <a:r>
              <a:rPr lang="en" sz="1600">
                <a:solidFill>
                  <a:schemeClr val="lt2"/>
                </a:solidFill>
              </a:rPr>
              <a:t>Neelima Pandey (Lead) </a:t>
            </a:r>
            <a:endParaRPr b="0" i="0" sz="100" u="none" cap="none" strike="noStrike">
              <a:solidFill>
                <a:schemeClr val="lt2"/>
              </a:solidFill>
              <a:latin typeface="Calibri"/>
              <a:ea typeface="Calibri"/>
              <a:cs typeface="Calibri"/>
              <a:sym typeface="Calibri"/>
            </a:endParaRPr>
          </a:p>
        </p:txBody>
      </p:sp>
      <p:sp>
        <p:nvSpPr>
          <p:cNvPr id="67" name="Google Shape;67;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Address the Problem</a:t>
            </a:r>
            <a:endParaRPr/>
          </a:p>
        </p:txBody>
      </p:sp>
      <p:pic>
        <p:nvPicPr>
          <p:cNvPr id="73" name="Google Shape;73;p18"/>
          <p:cNvPicPr preferRelativeResize="0"/>
          <p:nvPr/>
        </p:nvPicPr>
        <p:blipFill>
          <a:blip r:embed="rId3">
            <a:alphaModFix/>
          </a:blip>
          <a:stretch>
            <a:fillRect/>
          </a:stretch>
        </p:blipFill>
        <p:spPr>
          <a:xfrm>
            <a:off x="807632" y="1017725"/>
            <a:ext cx="7528736" cy="3820975"/>
          </a:xfrm>
          <a:prstGeom prst="rect">
            <a:avLst/>
          </a:prstGeom>
          <a:noFill/>
          <a:ln>
            <a:noFill/>
          </a:ln>
        </p:spPr>
      </p:pic>
      <p:sp>
        <p:nvSpPr>
          <p:cNvPr id="74" name="Google Shape;7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Goes Out on LinkedIn</a:t>
            </a:r>
            <a:endParaRPr/>
          </a:p>
        </p:txBody>
      </p:sp>
      <p:pic>
        <p:nvPicPr>
          <p:cNvPr id="80" name="Google Shape;80;p19"/>
          <p:cNvPicPr preferRelativeResize="0"/>
          <p:nvPr/>
        </p:nvPicPr>
        <p:blipFill>
          <a:blip r:embed="rId3">
            <a:alphaModFix/>
          </a:blip>
          <a:stretch>
            <a:fillRect/>
          </a:stretch>
        </p:blipFill>
        <p:spPr>
          <a:xfrm>
            <a:off x="932475" y="1271375"/>
            <a:ext cx="7279051" cy="3456100"/>
          </a:xfrm>
          <a:prstGeom prst="rect">
            <a:avLst/>
          </a:prstGeom>
          <a:noFill/>
          <a:ln>
            <a:noFill/>
          </a:ln>
        </p:spPr>
      </p:pic>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0"/>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INITIATIVE OVERVIEW</a:t>
            </a:r>
            <a:endParaRPr b="0" i="0" sz="827" u="none" cap="none" strike="noStrike">
              <a:solidFill>
                <a:schemeClr val="dk1"/>
              </a:solidFill>
              <a:latin typeface="Calibri"/>
              <a:ea typeface="Calibri"/>
              <a:cs typeface="Calibri"/>
              <a:sym typeface="Calibri"/>
            </a:endParaRPr>
          </a:p>
        </p:txBody>
      </p:sp>
      <p:sp>
        <p:nvSpPr>
          <p:cNvPr id="88" name="Google Shape;88;p20"/>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Context and Goals</a:t>
            </a:r>
            <a:endParaRPr b="0" i="0" sz="2030" u="none" cap="none" strike="noStrike">
              <a:solidFill>
                <a:schemeClr val="dk1"/>
              </a:solidFill>
              <a:latin typeface="Calibri"/>
              <a:ea typeface="Calibri"/>
              <a:cs typeface="Calibri"/>
              <a:sym typeface="Calibri"/>
            </a:endParaRPr>
          </a:p>
        </p:txBody>
      </p:sp>
      <p:sp>
        <p:nvSpPr>
          <p:cNvPr id="89" name="Google Shape;89;p20"/>
          <p:cNvSpPr/>
          <p:nvPr/>
        </p:nvSpPr>
        <p:spPr>
          <a:xfrm>
            <a:off x="447142" y="1203350"/>
            <a:ext cx="4091026" cy="1031443"/>
          </a:xfrm>
          <a:prstGeom prst="roundRect">
            <a:avLst>
              <a:gd fmla="val 3369"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0"/>
          <p:cNvSpPr/>
          <p:nvPr/>
        </p:nvSpPr>
        <p:spPr>
          <a:xfrm>
            <a:off x="652882" y="1326794"/>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problem we addressed</a:t>
            </a:r>
            <a:endParaRPr b="0" i="0" sz="1015" u="none" cap="none" strike="noStrike">
              <a:solidFill>
                <a:schemeClr val="dk1"/>
              </a:solidFill>
              <a:latin typeface="Calibri"/>
              <a:ea typeface="Calibri"/>
              <a:cs typeface="Calibri"/>
              <a:sym typeface="Calibri"/>
            </a:endParaRPr>
          </a:p>
        </p:txBody>
      </p:sp>
      <p:sp>
        <p:nvSpPr>
          <p:cNvPr id="91" name="Google Shape;91;p20"/>
          <p:cNvSpPr/>
          <p:nvPr/>
        </p:nvSpPr>
        <p:spPr>
          <a:xfrm>
            <a:off x="652882" y="1588313"/>
            <a:ext cx="3678631" cy="52212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Right now, it is not very clear where the feedback is being sent, how to be able to access it, and what the steps are to follow afterward.</a:t>
            </a:r>
            <a:endParaRPr b="0" i="0" sz="940" u="none" cap="none" strike="noStrike">
              <a:solidFill>
                <a:schemeClr val="dk1"/>
              </a:solidFill>
              <a:latin typeface="Calibri"/>
              <a:ea typeface="Calibri"/>
              <a:cs typeface="Calibri"/>
              <a:sym typeface="Calibri"/>
            </a:endParaRPr>
          </a:p>
        </p:txBody>
      </p:sp>
      <p:sp>
        <p:nvSpPr>
          <p:cNvPr id="92" name="Google Shape;92;p20"/>
          <p:cNvSpPr/>
          <p:nvPr/>
        </p:nvSpPr>
        <p:spPr>
          <a:xfrm>
            <a:off x="4606747" y="1203350"/>
            <a:ext cx="4091026" cy="1031443"/>
          </a:xfrm>
          <a:prstGeom prst="roundRect">
            <a:avLst>
              <a:gd fmla="val 3369"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0"/>
          <p:cNvSpPr/>
          <p:nvPr/>
        </p:nvSpPr>
        <p:spPr>
          <a:xfrm>
            <a:off x="4812487" y="1326794"/>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scope of our work</a:t>
            </a:r>
            <a:endParaRPr b="0" i="0" sz="1015" u="none" cap="none" strike="noStrike">
              <a:solidFill>
                <a:schemeClr val="dk1"/>
              </a:solidFill>
              <a:latin typeface="Calibri"/>
              <a:ea typeface="Calibri"/>
              <a:cs typeface="Calibri"/>
              <a:sym typeface="Calibri"/>
            </a:endParaRPr>
          </a:p>
        </p:txBody>
      </p:sp>
      <p:sp>
        <p:nvSpPr>
          <p:cNvPr id="94" name="Google Shape;94;p20"/>
          <p:cNvSpPr/>
          <p:nvPr/>
        </p:nvSpPr>
        <p:spPr>
          <a:xfrm>
            <a:off x="4812487" y="1588313"/>
            <a:ext cx="3678631" cy="52212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Faces of HAAG and Project Spotlight — two LinkedIn content streams, each with its own template, tracker, and post-feedback process.</a:t>
            </a:r>
            <a:endParaRPr b="0" i="0" sz="940" u="none" cap="none" strike="noStrike">
              <a:solidFill>
                <a:schemeClr val="dk1"/>
              </a:solidFill>
              <a:latin typeface="Calibri"/>
              <a:ea typeface="Calibri"/>
              <a:cs typeface="Calibri"/>
              <a:sym typeface="Calibri"/>
            </a:endParaRPr>
          </a:p>
        </p:txBody>
      </p:sp>
      <p:sp>
        <p:nvSpPr>
          <p:cNvPr id="95" name="Google Shape;95;p20"/>
          <p:cNvSpPr/>
          <p:nvPr/>
        </p:nvSpPr>
        <p:spPr>
          <a:xfrm>
            <a:off x="447142" y="2406701"/>
            <a:ext cx="8250631"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What each template is for</a:t>
            </a:r>
            <a:endParaRPr b="0" i="0" sz="1015" u="none" cap="none" strike="noStrike">
              <a:solidFill>
                <a:schemeClr val="dk1"/>
              </a:solidFill>
              <a:latin typeface="Calibri"/>
              <a:ea typeface="Calibri"/>
              <a:cs typeface="Calibri"/>
              <a:sym typeface="Calibri"/>
            </a:endParaRPr>
          </a:p>
        </p:txBody>
      </p:sp>
      <p:sp>
        <p:nvSpPr>
          <p:cNvPr id="96" name="Google Shape;96;p20"/>
          <p:cNvSpPr/>
          <p:nvPr/>
        </p:nvSpPr>
        <p:spPr>
          <a:xfrm>
            <a:off x="447142" y="2647188"/>
            <a:ext cx="4091026" cy="1100023"/>
          </a:xfrm>
          <a:prstGeom prst="roundRect">
            <a:avLst>
              <a:gd fmla="val 3159" name="adj"/>
            </a:avLst>
          </a:prstGeom>
          <a:solidFill>
            <a:srgbClr val="003057"/>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0"/>
          <p:cNvSpPr/>
          <p:nvPr/>
        </p:nvSpPr>
        <p:spPr>
          <a:xfrm>
            <a:off x="652882" y="277063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1014"/>
              <a:buFont typeface="Calibri"/>
              <a:buNone/>
            </a:pPr>
            <a:r>
              <a:rPr b="1" i="0" lang="en" sz="1015" u="none" cap="none" strike="noStrike">
                <a:solidFill>
                  <a:srgbClr val="B3A369"/>
                </a:solidFill>
                <a:latin typeface="Calibri"/>
                <a:ea typeface="Calibri"/>
                <a:cs typeface="Calibri"/>
                <a:sym typeface="Calibri"/>
              </a:rPr>
              <a:t>Project Spotlight</a:t>
            </a:r>
            <a:endParaRPr b="0" i="0" sz="1015" u="none" cap="none" strike="noStrike">
              <a:solidFill>
                <a:schemeClr val="dk1"/>
              </a:solidFill>
              <a:latin typeface="Calibri"/>
              <a:ea typeface="Calibri"/>
              <a:cs typeface="Calibri"/>
              <a:sym typeface="Calibri"/>
            </a:endParaRPr>
          </a:p>
        </p:txBody>
      </p:sp>
      <p:sp>
        <p:nvSpPr>
          <p:cNvPr id="98" name="Google Shape;98;p20"/>
          <p:cNvSpPr/>
          <p:nvPr/>
        </p:nvSpPr>
        <p:spPr>
          <a:xfrm>
            <a:off x="652882" y="3032150"/>
            <a:ext cx="3678631" cy="591617"/>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FFFFFF"/>
              </a:buClr>
              <a:buSzPts val="939"/>
              <a:buFont typeface="Calibri"/>
              <a:buNone/>
            </a:pPr>
            <a:r>
              <a:rPr b="0" i="0" lang="en" sz="940" u="none" cap="none" strike="noStrike">
                <a:solidFill>
                  <a:srgbClr val="FFFFFF"/>
                </a:solidFill>
                <a:latin typeface="Calibri"/>
                <a:ea typeface="Calibri"/>
                <a:cs typeface="Calibri"/>
                <a:sym typeface="Calibri"/>
              </a:rPr>
              <a:t>To act as a template and provide guidelines for generating a “Project Spotlight” post on LinkedIn for the HAAG organization.</a:t>
            </a:r>
            <a:endParaRPr b="0" i="0" sz="940" u="none" cap="none" strike="noStrike">
              <a:solidFill>
                <a:schemeClr val="dk1"/>
              </a:solidFill>
              <a:latin typeface="Calibri"/>
              <a:ea typeface="Calibri"/>
              <a:cs typeface="Calibri"/>
              <a:sym typeface="Calibri"/>
            </a:endParaRPr>
          </a:p>
        </p:txBody>
      </p:sp>
      <p:sp>
        <p:nvSpPr>
          <p:cNvPr id="99" name="Google Shape;99;p20"/>
          <p:cNvSpPr/>
          <p:nvPr/>
        </p:nvSpPr>
        <p:spPr>
          <a:xfrm>
            <a:off x="4606747" y="2647188"/>
            <a:ext cx="4091026" cy="1100023"/>
          </a:xfrm>
          <a:prstGeom prst="roundRect">
            <a:avLst>
              <a:gd fmla="val 3159" name="adj"/>
            </a:avLst>
          </a:prstGeom>
          <a:solidFill>
            <a:srgbClr val="003057"/>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0"/>
          <p:cNvSpPr/>
          <p:nvPr/>
        </p:nvSpPr>
        <p:spPr>
          <a:xfrm>
            <a:off x="4812487" y="277063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1014"/>
              <a:buFont typeface="Calibri"/>
              <a:buNone/>
            </a:pPr>
            <a:r>
              <a:rPr b="1" i="0" lang="en" sz="1015" u="none" cap="none" strike="noStrike">
                <a:solidFill>
                  <a:srgbClr val="B3A369"/>
                </a:solidFill>
                <a:latin typeface="Calibri"/>
                <a:ea typeface="Calibri"/>
                <a:cs typeface="Calibri"/>
                <a:sym typeface="Calibri"/>
              </a:rPr>
              <a:t>Faces of HAAG</a:t>
            </a:r>
            <a:endParaRPr b="0" i="0" sz="1015" u="none" cap="none" strike="noStrike">
              <a:solidFill>
                <a:schemeClr val="dk1"/>
              </a:solidFill>
              <a:latin typeface="Calibri"/>
              <a:ea typeface="Calibri"/>
              <a:cs typeface="Calibri"/>
              <a:sym typeface="Calibri"/>
            </a:endParaRPr>
          </a:p>
        </p:txBody>
      </p:sp>
      <p:sp>
        <p:nvSpPr>
          <p:cNvPr id="101" name="Google Shape;101;p20"/>
          <p:cNvSpPr/>
          <p:nvPr/>
        </p:nvSpPr>
        <p:spPr>
          <a:xfrm>
            <a:off x="4812487" y="3032150"/>
            <a:ext cx="3678631" cy="591617"/>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FFFFFF"/>
              </a:buClr>
              <a:buSzPts val="939"/>
              <a:buFont typeface="Calibri"/>
              <a:buNone/>
            </a:pPr>
            <a:r>
              <a:rPr b="0" i="0" lang="en" sz="940" u="none" cap="none" strike="noStrike">
                <a:solidFill>
                  <a:srgbClr val="FFFFFF"/>
                </a:solidFill>
                <a:latin typeface="Calibri"/>
                <a:ea typeface="Calibri"/>
                <a:cs typeface="Calibri"/>
                <a:sym typeface="Calibri"/>
              </a:rPr>
              <a:t>To act as a template and provide guidelines for generating a “Faces of Haag” post on LinkedIn for the HAAG organization.</a:t>
            </a:r>
            <a:endParaRPr b="0" i="0" sz="940" u="none" cap="none" strike="noStrike">
              <a:solidFill>
                <a:schemeClr val="dk1"/>
              </a:solidFill>
              <a:latin typeface="Calibri"/>
              <a:ea typeface="Calibri"/>
              <a:cs typeface="Calibri"/>
              <a:sym typeface="Calibri"/>
            </a:endParaRPr>
          </a:p>
        </p:txBody>
      </p:sp>
      <p:sp>
        <p:nvSpPr>
          <p:cNvPr id="102" name="Google Shape;102;p20"/>
          <p:cNvSpPr/>
          <p:nvPr/>
        </p:nvSpPr>
        <p:spPr>
          <a:xfrm>
            <a:off x="447142" y="3952951"/>
            <a:ext cx="8250631" cy="494690"/>
          </a:xfrm>
          <a:prstGeom prst="roundRect">
            <a:avLst>
              <a:gd fmla="val 7024"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a:off x="673913" y="3952951"/>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939"/>
              <a:buFont typeface="Calibri"/>
              <a:buNone/>
            </a:pPr>
            <a:r>
              <a:rPr b="0" i="1" lang="en" sz="940" u="none" cap="none" strike="noStrike">
                <a:solidFill>
                  <a:srgbClr val="003057"/>
                </a:solidFill>
                <a:latin typeface="Calibri"/>
                <a:ea typeface="Calibri"/>
                <a:cs typeface="Calibri"/>
                <a:sym typeface="Calibri"/>
              </a:rPr>
              <a:t>This pipeline even includes blank placeholders for specific steps of the pipeline so that anyone could use this template and follow it with limited oversight.</a:t>
            </a:r>
            <a:endParaRPr b="0" i="0" sz="940" u="none" cap="none" strike="noStrike">
              <a:solidFill>
                <a:schemeClr val="dk1"/>
              </a:solidFill>
              <a:latin typeface="Calibri"/>
              <a:ea typeface="Calibri"/>
              <a:cs typeface="Calibri"/>
              <a:sym typeface="Calibri"/>
            </a:endParaRPr>
          </a:p>
        </p:txBody>
      </p:sp>
      <p:sp>
        <p:nvSpPr>
          <p:cNvPr id="104" name="Google Shape;104;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DELIVERABLES</a:t>
            </a:r>
            <a:endParaRPr b="0" i="0" sz="827" u="none" cap="none" strike="noStrike">
              <a:solidFill>
                <a:schemeClr val="dk1"/>
              </a:solidFill>
              <a:latin typeface="Calibri"/>
              <a:ea typeface="Calibri"/>
              <a:cs typeface="Calibri"/>
              <a:sym typeface="Calibri"/>
            </a:endParaRPr>
          </a:p>
        </p:txBody>
      </p:sp>
      <p:sp>
        <p:nvSpPr>
          <p:cNvPr id="111" name="Google Shape;111;p21"/>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Work Completed</a:t>
            </a:r>
            <a:endParaRPr b="0" i="0" sz="2030" u="none" cap="none" strike="noStrike">
              <a:solidFill>
                <a:schemeClr val="dk1"/>
              </a:solidFill>
              <a:latin typeface="Calibri"/>
              <a:ea typeface="Calibri"/>
              <a:cs typeface="Calibri"/>
              <a:sym typeface="Calibri"/>
            </a:endParaRPr>
          </a:p>
        </p:txBody>
      </p:sp>
      <p:sp>
        <p:nvSpPr>
          <p:cNvPr id="112" name="Google Shape;112;p21"/>
          <p:cNvSpPr/>
          <p:nvPr/>
        </p:nvSpPr>
        <p:spPr>
          <a:xfrm>
            <a:off x="447142" y="1182319"/>
            <a:ext cx="4091026"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Project Spotlight</a:t>
            </a:r>
            <a:endParaRPr b="0" i="0" sz="1015" u="none" cap="none" strike="noStrike">
              <a:solidFill>
                <a:schemeClr val="dk1"/>
              </a:solidFill>
              <a:latin typeface="Calibri"/>
              <a:ea typeface="Calibri"/>
              <a:cs typeface="Calibri"/>
              <a:sym typeface="Calibri"/>
            </a:endParaRPr>
          </a:p>
        </p:txBody>
      </p:sp>
      <p:sp>
        <p:nvSpPr>
          <p:cNvPr id="113" name="Google Shape;113;p21"/>
          <p:cNvSpPr/>
          <p:nvPr/>
        </p:nvSpPr>
        <p:spPr>
          <a:xfrm>
            <a:off x="447142" y="1430122"/>
            <a:ext cx="4091026" cy="1065276"/>
          </a:xfrm>
          <a:prstGeom prst="roundRect">
            <a:avLst>
              <a:gd fmla="val 3262"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1"/>
          <p:cNvSpPr/>
          <p:nvPr/>
        </p:nvSpPr>
        <p:spPr>
          <a:xfrm>
            <a:off x="652882" y="1553566"/>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LinkedIn Post Template / Script</a:t>
            </a:r>
            <a:endParaRPr b="0" i="0" sz="1015" u="none" cap="none" strike="noStrike">
              <a:solidFill>
                <a:schemeClr val="dk1"/>
              </a:solidFill>
              <a:latin typeface="Calibri"/>
              <a:ea typeface="Calibri"/>
              <a:cs typeface="Calibri"/>
              <a:sym typeface="Calibri"/>
            </a:endParaRPr>
          </a:p>
        </p:txBody>
      </p:sp>
      <p:sp>
        <p:nvSpPr>
          <p:cNvPr id="115" name="Google Shape;115;p21"/>
          <p:cNvSpPr/>
          <p:nvPr/>
        </p:nvSpPr>
        <p:spPr>
          <a:xfrm>
            <a:off x="652882" y="1815084"/>
            <a:ext cx="3678631" cy="556870"/>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A four-phase pipeline with blank placeholders, fill-in-the-blank tracker fields, and worked examples.</a:t>
            </a:r>
            <a:endParaRPr b="0" i="0" sz="940" u="none" cap="none" strike="noStrike">
              <a:solidFill>
                <a:schemeClr val="dk1"/>
              </a:solidFill>
              <a:latin typeface="Calibri"/>
              <a:ea typeface="Calibri"/>
              <a:cs typeface="Calibri"/>
              <a:sym typeface="Calibri"/>
            </a:endParaRPr>
          </a:p>
        </p:txBody>
      </p:sp>
      <p:sp>
        <p:nvSpPr>
          <p:cNvPr id="116" name="Google Shape;116;p21"/>
          <p:cNvSpPr/>
          <p:nvPr/>
        </p:nvSpPr>
        <p:spPr>
          <a:xfrm>
            <a:off x="447142" y="2598725"/>
            <a:ext cx="4091026" cy="962863"/>
          </a:xfrm>
          <a:prstGeom prst="roundRect">
            <a:avLst>
              <a:gd fmla="val 3609"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1"/>
          <p:cNvSpPr/>
          <p:nvPr/>
        </p:nvSpPr>
        <p:spPr>
          <a:xfrm>
            <a:off x="652882" y="2723083"/>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Post Feedback and Approval Process</a:t>
            </a:r>
            <a:endParaRPr b="0" i="0" sz="1015" u="none" cap="none" strike="noStrike">
              <a:solidFill>
                <a:schemeClr val="dk1"/>
              </a:solidFill>
              <a:latin typeface="Calibri"/>
              <a:ea typeface="Calibri"/>
              <a:cs typeface="Calibri"/>
              <a:sym typeface="Calibri"/>
            </a:endParaRPr>
          </a:p>
        </p:txBody>
      </p:sp>
      <p:sp>
        <p:nvSpPr>
          <p:cNvPr id="118" name="Google Shape;118;p21"/>
          <p:cNvSpPr/>
          <p:nvPr/>
        </p:nvSpPr>
        <p:spPr>
          <a:xfrm>
            <a:off x="652882" y="2983687"/>
            <a:ext cx="3678631" cy="45354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A dedicated process to use for every single draft before anything gets posted on LinkedIn.</a:t>
            </a:r>
            <a:endParaRPr b="0" i="0" sz="940" u="none" cap="none" strike="noStrike">
              <a:solidFill>
                <a:schemeClr val="dk1"/>
              </a:solidFill>
              <a:latin typeface="Calibri"/>
              <a:ea typeface="Calibri"/>
              <a:cs typeface="Calibri"/>
              <a:sym typeface="Calibri"/>
            </a:endParaRPr>
          </a:p>
        </p:txBody>
      </p:sp>
      <p:sp>
        <p:nvSpPr>
          <p:cNvPr id="119" name="Google Shape;119;p21"/>
          <p:cNvSpPr/>
          <p:nvPr/>
        </p:nvSpPr>
        <p:spPr>
          <a:xfrm>
            <a:off x="447142" y="3664915"/>
            <a:ext cx="4091026" cy="962863"/>
          </a:xfrm>
          <a:prstGeom prst="roundRect">
            <a:avLst>
              <a:gd fmla="val 3609"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1"/>
          <p:cNvSpPr/>
          <p:nvPr/>
        </p:nvSpPr>
        <p:spPr>
          <a:xfrm>
            <a:off x="652882" y="3788359"/>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Implementation Pilot</a:t>
            </a:r>
            <a:endParaRPr b="0" i="0" sz="1015" u="none" cap="none" strike="noStrike">
              <a:solidFill>
                <a:schemeClr val="dk1"/>
              </a:solidFill>
              <a:latin typeface="Calibri"/>
              <a:ea typeface="Calibri"/>
              <a:cs typeface="Calibri"/>
              <a:sym typeface="Calibri"/>
            </a:endParaRPr>
          </a:p>
        </p:txBody>
      </p:sp>
      <p:sp>
        <p:nvSpPr>
          <p:cNvPr id="121" name="Google Shape;121;p21"/>
          <p:cNvSpPr/>
          <p:nvPr/>
        </p:nvSpPr>
        <p:spPr>
          <a:xfrm>
            <a:off x="652882" y="4049878"/>
            <a:ext cx="3678631" cy="45354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process tested on a written draft, with outcomes, limitations, and next steps recorded.</a:t>
            </a:r>
            <a:endParaRPr b="0" i="0" sz="940" u="none" cap="none" strike="noStrike">
              <a:solidFill>
                <a:schemeClr val="dk1"/>
              </a:solidFill>
              <a:latin typeface="Calibri"/>
              <a:ea typeface="Calibri"/>
              <a:cs typeface="Calibri"/>
              <a:sym typeface="Calibri"/>
            </a:endParaRPr>
          </a:p>
        </p:txBody>
      </p:sp>
      <p:sp>
        <p:nvSpPr>
          <p:cNvPr id="122" name="Google Shape;122;p21"/>
          <p:cNvSpPr/>
          <p:nvPr/>
        </p:nvSpPr>
        <p:spPr>
          <a:xfrm>
            <a:off x="4606747" y="1182319"/>
            <a:ext cx="4091026"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Faces of HAAG</a:t>
            </a:r>
            <a:endParaRPr b="0" i="0" sz="1015" u="none" cap="none" strike="noStrike">
              <a:solidFill>
                <a:schemeClr val="dk1"/>
              </a:solidFill>
              <a:latin typeface="Calibri"/>
              <a:ea typeface="Calibri"/>
              <a:cs typeface="Calibri"/>
              <a:sym typeface="Calibri"/>
            </a:endParaRPr>
          </a:p>
        </p:txBody>
      </p:sp>
      <p:sp>
        <p:nvSpPr>
          <p:cNvPr id="123" name="Google Shape;123;p21"/>
          <p:cNvSpPr/>
          <p:nvPr/>
        </p:nvSpPr>
        <p:spPr>
          <a:xfrm>
            <a:off x="4606747" y="1430122"/>
            <a:ext cx="4091026" cy="1065276"/>
          </a:xfrm>
          <a:prstGeom prst="roundRect">
            <a:avLst>
              <a:gd fmla="val 3262"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1"/>
          <p:cNvSpPr/>
          <p:nvPr/>
        </p:nvSpPr>
        <p:spPr>
          <a:xfrm>
            <a:off x="4812487" y="1553566"/>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LinkedIn Post Template / Script</a:t>
            </a:r>
            <a:endParaRPr b="0" i="0" sz="1015" u="none" cap="none" strike="noStrike">
              <a:solidFill>
                <a:schemeClr val="dk1"/>
              </a:solidFill>
              <a:latin typeface="Calibri"/>
              <a:ea typeface="Calibri"/>
              <a:cs typeface="Calibri"/>
              <a:sym typeface="Calibri"/>
            </a:endParaRPr>
          </a:p>
        </p:txBody>
      </p:sp>
      <p:sp>
        <p:nvSpPr>
          <p:cNvPr id="125" name="Google Shape;125;p21"/>
          <p:cNvSpPr/>
          <p:nvPr/>
        </p:nvSpPr>
        <p:spPr>
          <a:xfrm>
            <a:off x="4812487" y="1815084"/>
            <a:ext cx="3678631" cy="556870"/>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A four-phase pipeline with blank placeholders, fill-in-the-blank tracker fields, and a worked example.</a:t>
            </a:r>
            <a:endParaRPr b="0" i="0" sz="940" u="none" cap="none" strike="noStrike">
              <a:solidFill>
                <a:schemeClr val="dk1"/>
              </a:solidFill>
              <a:latin typeface="Calibri"/>
              <a:ea typeface="Calibri"/>
              <a:cs typeface="Calibri"/>
              <a:sym typeface="Calibri"/>
            </a:endParaRPr>
          </a:p>
        </p:txBody>
      </p:sp>
      <p:sp>
        <p:nvSpPr>
          <p:cNvPr id="126" name="Google Shape;126;p21"/>
          <p:cNvSpPr/>
          <p:nvPr/>
        </p:nvSpPr>
        <p:spPr>
          <a:xfrm>
            <a:off x="4606747" y="2598725"/>
            <a:ext cx="4091026" cy="962863"/>
          </a:xfrm>
          <a:prstGeom prst="roundRect">
            <a:avLst>
              <a:gd fmla="val 3609"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1"/>
          <p:cNvSpPr/>
          <p:nvPr/>
        </p:nvSpPr>
        <p:spPr>
          <a:xfrm>
            <a:off x="4812487" y="2723083"/>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Post Feedback and Approval Process</a:t>
            </a:r>
            <a:endParaRPr b="0" i="0" sz="1015" u="none" cap="none" strike="noStrike">
              <a:solidFill>
                <a:schemeClr val="dk1"/>
              </a:solidFill>
              <a:latin typeface="Calibri"/>
              <a:ea typeface="Calibri"/>
              <a:cs typeface="Calibri"/>
              <a:sym typeface="Calibri"/>
            </a:endParaRPr>
          </a:p>
        </p:txBody>
      </p:sp>
      <p:sp>
        <p:nvSpPr>
          <p:cNvPr id="128" name="Google Shape;128;p21"/>
          <p:cNvSpPr/>
          <p:nvPr/>
        </p:nvSpPr>
        <p:spPr>
          <a:xfrm>
            <a:off x="4812487" y="2983687"/>
            <a:ext cx="3678631" cy="45354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A dedicated process, including temporarily adding the featured person to the channel.</a:t>
            </a:r>
            <a:endParaRPr b="0" i="0" sz="940" u="none" cap="none" strike="noStrike">
              <a:solidFill>
                <a:schemeClr val="dk1"/>
              </a:solidFill>
              <a:latin typeface="Calibri"/>
              <a:ea typeface="Calibri"/>
              <a:cs typeface="Calibri"/>
              <a:sym typeface="Calibri"/>
            </a:endParaRPr>
          </a:p>
        </p:txBody>
      </p:sp>
      <p:sp>
        <p:nvSpPr>
          <p:cNvPr id="129" name="Google Shape;129;p21"/>
          <p:cNvSpPr/>
          <p:nvPr/>
        </p:nvSpPr>
        <p:spPr>
          <a:xfrm>
            <a:off x="4606747" y="3664915"/>
            <a:ext cx="4091026" cy="962863"/>
          </a:xfrm>
          <a:prstGeom prst="roundRect">
            <a:avLst>
              <a:gd fmla="val 3609" name="adj"/>
            </a:avLst>
          </a:prstGeom>
          <a:solidFill>
            <a:srgbClr val="F1EAD7"/>
          </a:solidFill>
          <a:ln cap="flat" cmpd="sng" w="12700">
            <a:solidFill>
              <a:srgbClr val="F1EA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1"/>
          <p:cNvSpPr/>
          <p:nvPr/>
        </p:nvSpPr>
        <p:spPr>
          <a:xfrm>
            <a:off x="4812487" y="3788359"/>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Implementation</a:t>
            </a:r>
            <a:endParaRPr b="0" i="0" sz="1015" u="none" cap="none" strike="noStrike">
              <a:solidFill>
                <a:schemeClr val="dk1"/>
              </a:solidFill>
              <a:latin typeface="Calibri"/>
              <a:ea typeface="Calibri"/>
              <a:cs typeface="Calibri"/>
              <a:sym typeface="Calibri"/>
            </a:endParaRPr>
          </a:p>
        </p:txBody>
      </p:sp>
      <p:sp>
        <p:nvSpPr>
          <p:cNvPr id="131" name="Google Shape;131;p21"/>
          <p:cNvSpPr/>
          <p:nvPr/>
        </p:nvSpPr>
        <p:spPr>
          <a:xfrm>
            <a:off x="4812487" y="4049878"/>
            <a:ext cx="3678631" cy="45354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Not yet piloted this semester. Planned across a fully revised procedure — see next steps.</a:t>
            </a:r>
            <a:endParaRPr b="0" i="0" sz="940" u="none" cap="none" strike="noStrike">
              <a:solidFill>
                <a:schemeClr val="dk1"/>
              </a:solidFill>
              <a:latin typeface="Calibri"/>
              <a:ea typeface="Calibri"/>
              <a:cs typeface="Calibri"/>
              <a:sym typeface="Calibri"/>
            </a:endParaRPr>
          </a:p>
        </p:txBody>
      </p:sp>
      <p:sp>
        <p:nvSpPr>
          <p:cNvPr id="132" name="Google Shape;132;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137" name="Shape 137"/>
        <p:cNvGrpSpPr/>
        <p:nvPr/>
      </p:nvGrpSpPr>
      <p:grpSpPr>
        <a:xfrm>
          <a:off x="0" y="0"/>
          <a:ext cx="0" cy="0"/>
          <a:chOff x="0" y="0"/>
          <a:chExt cx="0" cy="0"/>
        </a:xfrm>
      </p:grpSpPr>
      <p:sp>
        <p:nvSpPr>
          <p:cNvPr id="138" name="Google Shape;138;p22"/>
          <p:cNvSpPr/>
          <p:nvPr/>
        </p:nvSpPr>
        <p:spPr>
          <a:xfrm>
            <a:off x="7700162" y="-962863"/>
            <a:ext cx="2750515" cy="2750515"/>
          </a:xfrm>
          <a:prstGeom prst="ellipse">
            <a:avLst/>
          </a:prstGeom>
          <a:solidFill>
            <a:srgbClr val="0A3D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2"/>
          <p:cNvSpPr/>
          <p:nvPr/>
        </p:nvSpPr>
        <p:spPr>
          <a:xfrm>
            <a:off x="-687629" y="3643884"/>
            <a:ext cx="2062886" cy="2062886"/>
          </a:xfrm>
          <a:prstGeom prst="ellipse">
            <a:avLst/>
          </a:prstGeom>
          <a:solidFill>
            <a:srgbClr val="0A3D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2"/>
          <p:cNvSpPr/>
          <p:nvPr/>
        </p:nvSpPr>
        <p:spPr>
          <a:xfrm>
            <a:off x="619049" y="1650492"/>
            <a:ext cx="1031443" cy="68762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4211"/>
              <a:buFont typeface="Cambria"/>
              <a:buNone/>
            </a:pPr>
            <a:r>
              <a:rPr b="1" i="0" lang="en" sz="4211" u="none" cap="none" strike="noStrike">
                <a:solidFill>
                  <a:srgbClr val="B3A369"/>
                </a:solidFill>
                <a:latin typeface="Cambria"/>
                <a:ea typeface="Cambria"/>
                <a:cs typeface="Cambria"/>
                <a:sym typeface="Cambria"/>
              </a:rPr>
              <a:t>0</a:t>
            </a:r>
            <a:r>
              <a:rPr b="1" lang="en" sz="4211">
                <a:solidFill>
                  <a:srgbClr val="B3A369"/>
                </a:solidFill>
                <a:latin typeface="Cambria"/>
                <a:ea typeface="Cambria"/>
                <a:cs typeface="Cambria"/>
                <a:sym typeface="Cambria"/>
              </a:rPr>
              <a:t>1</a:t>
            </a:r>
            <a:endParaRPr b="0" i="0" sz="4211" u="none" cap="none" strike="noStrike">
              <a:solidFill>
                <a:schemeClr val="dk1"/>
              </a:solidFill>
              <a:latin typeface="Calibri"/>
              <a:ea typeface="Calibri"/>
              <a:cs typeface="Calibri"/>
              <a:sym typeface="Calibri"/>
            </a:endParaRPr>
          </a:p>
        </p:txBody>
      </p:sp>
      <p:sp>
        <p:nvSpPr>
          <p:cNvPr id="141" name="Google Shape;141;p22"/>
          <p:cNvSpPr/>
          <p:nvPr/>
        </p:nvSpPr>
        <p:spPr>
          <a:xfrm>
            <a:off x="1719072" y="1787652"/>
            <a:ext cx="6600139" cy="5157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57"/>
              <a:buFont typeface="Cambria"/>
              <a:buNone/>
            </a:pPr>
            <a:r>
              <a:rPr b="1" i="0" lang="en" sz="2557" u="none" cap="none" strike="noStrike">
                <a:solidFill>
                  <a:srgbClr val="FFFFFF"/>
                </a:solidFill>
                <a:latin typeface="Cambria"/>
                <a:ea typeface="Cambria"/>
                <a:cs typeface="Cambria"/>
                <a:sym typeface="Cambria"/>
              </a:rPr>
              <a:t>Faces of HAAG</a:t>
            </a:r>
            <a:endParaRPr b="0" i="0" sz="2557" u="none" cap="none" strike="noStrike">
              <a:solidFill>
                <a:schemeClr val="dk1"/>
              </a:solidFill>
              <a:latin typeface="Calibri"/>
              <a:ea typeface="Calibri"/>
              <a:cs typeface="Calibri"/>
              <a:sym typeface="Calibri"/>
            </a:endParaRPr>
          </a:p>
        </p:txBody>
      </p:sp>
      <p:sp>
        <p:nvSpPr>
          <p:cNvPr id="142" name="Google Shape;142;p22"/>
          <p:cNvSpPr/>
          <p:nvPr/>
        </p:nvSpPr>
        <p:spPr>
          <a:xfrm>
            <a:off x="1752905" y="2337206"/>
            <a:ext cx="6531559" cy="2752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1128"/>
              <a:buFont typeface="Calibri"/>
              <a:buNone/>
            </a:pPr>
            <a:r>
              <a:rPr b="0" i="0" lang="en" sz="1128" u="none" cap="none" strike="noStrike">
                <a:solidFill>
                  <a:srgbClr val="B3A369"/>
                </a:solidFill>
                <a:latin typeface="Calibri"/>
                <a:ea typeface="Calibri"/>
                <a:cs typeface="Calibri"/>
                <a:sym typeface="Calibri"/>
              </a:rPr>
              <a:t>Procedure, implementation status and reflection</a:t>
            </a:r>
            <a:endParaRPr b="0" i="0" sz="1128" u="none" cap="none" strike="noStrike">
              <a:solidFill>
                <a:schemeClr val="dk1"/>
              </a:solidFill>
              <a:latin typeface="Calibri"/>
              <a:ea typeface="Calibri"/>
              <a:cs typeface="Calibri"/>
              <a:sym typeface="Calibri"/>
            </a:endParaRPr>
          </a:p>
        </p:txBody>
      </p:sp>
      <p:sp>
        <p:nvSpPr>
          <p:cNvPr id="143" name="Google Shape;143;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FACES OF HAAG  ·  PROCEDURE DEVELOPMENT</a:t>
            </a:r>
            <a:endParaRPr b="0" i="0" sz="827" u="none" cap="none" strike="noStrike">
              <a:solidFill>
                <a:schemeClr val="dk1"/>
              </a:solidFill>
              <a:latin typeface="Calibri"/>
              <a:ea typeface="Calibri"/>
              <a:cs typeface="Calibri"/>
              <a:sym typeface="Calibri"/>
            </a:endParaRPr>
          </a:p>
        </p:txBody>
      </p:sp>
      <p:sp>
        <p:nvSpPr>
          <p:cNvPr id="150" name="Google Shape;150;p23"/>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Procedure — The Standard Pipeline</a:t>
            </a:r>
            <a:endParaRPr b="0" i="0" sz="2030" u="none" cap="none" strike="noStrike">
              <a:solidFill>
                <a:schemeClr val="dk1"/>
              </a:solidFill>
              <a:latin typeface="Calibri"/>
              <a:ea typeface="Calibri"/>
              <a:cs typeface="Calibri"/>
              <a:sym typeface="Calibri"/>
            </a:endParaRPr>
          </a:p>
        </p:txBody>
      </p:sp>
      <p:sp>
        <p:nvSpPr>
          <p:cNvPr id="151" name="Google Shape;151;p23"/>
          <p:cNvSpPr/>
          <p:nvPr/>
        </p:nvSpPr>
        <p:spPr>
          <a:xfrm>
            <a:off x="447142" y="1182319"/>
            <a:ext cx="8250631" cy="790956"/>
          </a:xfrm>
          <a:prstGeom prst="roundRect">
            <a:avLst>
              <a:gd fmla="val 4393"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3"/>
          <p:cNvSpPr/>
          <p:nvPr/>
        </p:nvSpPr>
        <p:spPr>
          <a:xfrm>
            <a:off x="652882" y="1306678"/>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Why this procedure exists</a:t>
            </a:r>
            <a:endParaRPr b="0" i="0" sz="1015" u="none" cap="none" strike="noStrike">
              <a:solidFill>
                <a:schemeClr val="dk1"/>
              </a:solidFill>
              <a:latin typeface="Calibri"/>
              <a:ea typeface="Calibri"/>
              <a:cs typeface="Calibri"/>
              <a:sym typeface="Calibri"/>
            </a:endParaRPr>
          </a:p>
        </p:txBody>
      </p:sp>
      <p:sp>
        <p:nvSpPr>
          <p:cNvPr id="153" name="Google Shape;153;p23"/>
          <p:cNvSpPr/>
          <p:nvPr/>
        </p:nvSpPr>
        <p:spPr>
          <a:xfrm>
            <a:off x="652882" y="1567282"/>
            <a:ext cx="7838237" cy="281635"/>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objective of the Faces of HAAG document is to act as a template and provide guidelines for generating a “Faces of Haag” post on LinkedIn for the HAAG organization.</a:t>
            </a:r>
            <a:endParaRPr b="0" i="0" sz="940" u="none" cap="none" strike="noStrike">
              <a:solidFill>
                <a:schemeClr val="dk1"/>
              </a:solidFill>
              <a:latin typeface="Calibri"/>
              <a:ea typeface="Calibri"/>
              <a:cs typeface="Calibri"/>
              <a:sym typeface="Calibri"/>
            </a:endParaRPr>
          </a:p>
        </p:txBody>
      </p:sp>
      <p:sp>
        <p:nvSpPr>
          <p:cNvPr id="154" name="Google Shape;154;p23"/>
          <p:cNvSpPr/>
          <p:nvPr/>
        </p:nvSpPr>
        <p:spPr>
          <a:xfrm>
            <a:off x="447142" y="2035454"/>
            <a:ext cx="8250631" cy="24048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14"/>
              <a:buFont typeface="Calibri"/>
              <a:buNone/>
            </a:pPr>
            <a:r>
              <a:rPr b="0" i="0" lang="en" sz="1015" u="none" cap="none" strike="noStrike">
                <a:solidFill>
                  <a:srgbClr val="6B6B6B"/>
                </a:solidFill>
                <a:latin typeface="Calibri"/>
                <a:ea typeface="Calibri"/>
                <a:cs typeface="Calibri"/>
                <a:sym typeface="Calibri"/>
              </a:rPr>
              <a:t>This </a:t>
            </a:r>
            <a:r>
              <a:rPr lang="en" sz="1015">
                <a:solidFill>
                  <a:srgbClr val="6B6B6B"/>
                </a:solidFill>
                <a:latin typeface="Calibri"/>
                <a:ea typeface="Calibri"/>
                <a:cs typeface="Calibri"/>
                <a:sym typeface="Calibri"/>
              </a:rPr>
              <a:t>procedure</a:t>
            </a:r>
            <a:r>
              <a:rPr b="0" i="0" lang="en" sz="1015" u="none" cap="none" strike="noStrike">
                <a:solidFill>
                  <a:srgbClr val="6B6B6B"/>
                </a:solidFill>
                <a:latin typeface="Calibri"/>
                <a:ea typeface="Calibri"/>
                <a:cs typeface="Calibri"/>
                <a:sym typeface="Calibri"/>
              </a:rPr>
              <a:t> exhibits a pipeline with four phases. These four phases are comprised of sourcing, content, collection, translation, and promotion.</a:t>
            </a:r>
            <a:endParaRPr b="0" i="0" sz="1015" u="none" cap="none" strike="noStrike">
              <a:solidFill>
                <a:schemeClr val="dk1"/>
              </a:solidFill>
              <a:latin typeface="Calibri"/>
              <a:ea typeface="Calibri"/>
              <a:cs typeface="Calibri"/>
              <a:sym typeface="Calibri"/>
            </a:endParaRPr>
          </a:p>
        </p:txBody>
      </p:sp>
      <p:sp>
        <p:nvSpPr>
          <p:cNvPr id="155" name="Google Shape;155;p23"/>
          <p:cNvSpPr/>
          <p:nvPr/>
        </p:nvSpPr>
        <p:spPr>
          <a:xfrm>
            <a:off x="447142" y="2323490"/>
            <a:ext cx="8250631" cy="2008022"/>
          </a:xfrm>
          <a:prstGeom prst="roundRect">
            <a:avLst>
              <a:gd fmla="val 1730"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a:off x="652882" y="2475281"/>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3"/>
          <p:cNvSpPr/>
          <p:nvPr/>
        </p:nvSpPr>
        <p:spPr>
          <a:xfrm>
            <a:off x="652882" y="2475281"/>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1</a:t>
            </a:r>
            <a:endParaRPr b="0" i="0" sz="1128" u="none" cap="none" strike="noStrike">
              <a:solidFill>
                <a:schemeClr val="dk1"/>
              </a:solidFill>
              <a:latin typeface="Calibri"/>
              <a:ea typeface="Calibri"/>
              <a:cs typeface="Calibri"/>
              <a:sym typeface="Calibri"/>
            </a:endParaRPr>
          </a:p>
        </p:txBody>
      </p:sp>
      <p:sp>
        <p:nvSpPr>
          <p:cNvPr id="158" name="Google Shape;158;p23"/>
          <p:cNvSpPr/>
          <p:nvPr/>
        </p:nvSpPr>
        <p:spPr>
          <a:xfrm>
            <a:off x="1154887" y="2461565"/>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Sourcing</a:t>
            </a:r>
            <a:endParaRPr b="0" i="0" sz="1090" u="none" cap="none" strike="noStrike">
              <a:solidFill>
                <a:schemeClr val="dk1"/>
              </a:solidFill>
              <a:latin typeface="Calibri"/>
              <a:ea typeface="Calibri"/>
              <a:cs typeface="Calibri"/>
              <a:sym typeface="Calibri"/>
            </a:endParaRPr>
          </a:p>
        </p:txBody>
      </p:sp>
      <p:sp>
        <p:nvSpPr>
          <p:cNvPr id="159" name="Google Shape;159;p23"/>
          <p:cNvSpPr/>
          <p:nvPr/>
        </p:nvSpPr>
        <p:spPr>
          <a:xfrm>
            <a:off x="1154887" y="2681021"/>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Selection of a person within the HAAG organization.</a:t>
            </a:r>
            <a:endParaRPr b="0" i="0" sz="978" u="none" cap="none" strike="noStrike">
              <a:solidFill>
                <a:schemeClr val="dk1"/>
              </a:solidFill>
              <a:latin typeface="Calibri"/>
              <a:ea typeface="Calibri"/>
              <a:cs typeface="Calibri"/>
              <a:sym typeface="Calibri"/>
            </a:endParaRPr>
          </a:p>
        </p:txBody>
      </p:sp>
      <p:sp>
        <p:nvSpPr>
          <p:cNvPr id="160" name="Google Shape;160;p23"/>
          <p:cNvSpPr/>
          <p:nvPr/>
        </p:nvSpPr>
        <p:spPr>
          <a:xfrm>
            <a:off x="652882" y="2928823"/>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a:off x="652882" y="2928823"/>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2</a:t>
            </a:r>
            <a:endParaRPr b="0" i="0" sz="1128" u="none" cap="none" strike="noStrike">
              <a:solidFill>
                <a:schemeClr val="dk1"/>
              </a:solidFill>
              <a:latin typeface="Calibri"/>
              <a:ea typeface="Calibri"/>
              <a:cs typeface="Calibri"/>
              <a:sym typeface="Calibri"/>
            </a:endParaRPr>
          </a:p>
        </p:txBody>
      </p:sp>
      <p:sp>
        <p:nvSpPr>
          <p:cNvPr id="162" name="Google Shape;162;p23"/>
          <p:cNvSpPr/>
          <p:nvPr/>
        </p:nvSpPr>
        <p:spPr>
          <a:xfrm>
            <a:off x="1154887" y="2915107"/>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Content Collection</a:t>
            </a:r>
            <a:endParaRPr b="0" i="0" sz="1090" u="none" cap="none" strike="noStrike">
              <a:solidFill>
                <a:schemeClr val="dk1"/>
              </a:solidFill>
              <a:latin typeface="Calibri"/>
              <a:ea typeface="Calibri"/>
              <a:cs typeface="Calibri"/>
              <a:sym typeface="Calibri"/>
            </a:endParaRPr>
          </a:p>
        </p:txBody>
      </p:sp>
      <p:sp>
        <p:nvSpPr>
          <p:cNvPr id="163" name="Google Shape;163;p23"/>
          <p:cNvSpPr/>
          <p:nvPr/>
        </p:nvSpPr>
        <p:spPr>
          <a:xfrm>
            <a:off x="1154887" y="3135478"/>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Perform outreach and do a short Q&amp;A session.</a:t>
            </a:r>
            <a:endParaRPr b="0" i="0" sz="978" u="none" cap="none" strike="noStrike">
              <a:solidFill>
                <a:schemeClr val="dk1"/>
              </a:solidFill>
              <a:latin typeface="Calibri"/>
              <a:ea typeface="Calibri"/>
              <a:cs typeface="Calibri"/>
              <a:sym typeface="Calibri"/>
            </a:endParaRPr>
          </a:p>
        </p:txBody>
      </p:sp>
      <p:sp>
        <p:nvSpPr>
          <p:cNvPr id="164" name="Google Shape;164;p23"/>
          <p:cNvSpPr/>
          <p:nvPr/>
        </p:nvSpPr>
        <p:spPr>
          <a:xfrm>
            <a:off x="652882" y="3382366"/>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a:off x="652882" y="3382366"/>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3</a:t>
            </a:r>
            <a:endParaRPr b="0" i="0" sz="1128" u="none" cap="none" strike="noStrike">
              <a:solidFill>
                <a:schemeClr val="dk1"/>
              </a:solidFill>
              <a:latin typeface="Calibri"/>
              <a:ea typeface="Calibri"/>
              <a:cs typeface="Calibri"/>
              <a:sym typeface="Calibri"/>
            </a:endParaRPr>
          </a:p>
        </p:txBody>
      </p:sp>
      <p:sp>
        <p:nvSpPr>
          <p:cNvPr id="166" name="Google Shape;166;p23"/>
          <p:cNvSpPr/>
          <p:nvPr/>
        </p:nvSpPr>
        <p:spPr>
          <a:xfrm>
            <a:off x="1154887" y="3368650"/>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Translation</a:t>
            </a:r>
            <a:endParaRPr b="0" i="0" sz="1090" u="none" cap="none" strike="noStrike">
              <a:solidFill>
                <a:schemeClr val="dk1"/>
              </a:solidFill>
              <a:latin typeface="Calibri"/>
              <a:ea typeface="Calibri"/>
              <a:cs typeface="Calibri"/>
              <a:sym typeface="Calibri"/>
            </a:endParaRPr>
          </a:p>
        </p:txBody>
      </p:sp>
      <p:sp>
        <p:nvSpPr>
          <p:cNvPr id="167" name="Google Shape;167;p23"/>
          <p:cNvSpPr/>
          <p:nvPr/>
        </p:nvSpPr>
        <p:spPr>
          <a:xfrm>
            <a:off x="1154887" y="3589020"/>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Translate the answers from the Q&amp;A session into a LinkedIn post.</a:t>
            </a:r>
            <a:endParaRPr b="0" i="0" sz="978" u="none" cap="none" strike="noStrike">
              <a:solidFill>
                <a:schemeClr val="dk1"/>
              </a:solidFill>
              <a:latin typeface="Calibri"/>
              <a:ea typeface="Calibri"/>
              <a:cs typeface="Calibri"/>
              <a:sym typeface="Calibri"/>
            </a:endParaRPr>
          </a:p>
        </p:txBody>
      </p:sp>
      <p:sp>
        <p:nvSpPr>
          <p:cNvPr id="168" name="Google Shape;168;p23"/>
          <p:cNvSpPr/>
          <p:nvPr/>
        </p:nvSpPr>
        <p:spPr>
          <a:xfrm>
            <a:off x="652882" y="3836822"/>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3"/>
          <p:cNvSpPr/>
          <p:nvPr/>
        </p:nvSpPr>
        <p:spPr>
          <a:xfrm>
            <a:off x="652882" y="3836822"/>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4</a:t>
            </a:r>
            <a:endParaRPr b="0" i="0" sz="1128" u="none" cap="none" strike="noStrike">
              <a:solidFill>
                <a:schemeClr val="dk1"/>
              </a:solidFill>
              <a:latin typeface="Calibri"/>
              <a:ea typeface="Calibri"/>
              <a:cs typeface="Calibri"/>
              <a:sym typeface="Calibri"/>
            </a:endParaRPr>
          </a:p>
        </p:txBody>
      </p:sp>
      <p:sp>
        <p:nvSpPr>
          <p:cNvPr id="170" name="Google Shape;170;p23"/>
          <p:cNvSpPr/>
          <p:nvPr/>
        </p:nvSpPr>
        <p:spPr>
          <a:xfrm>
            <a:off x="1154887" y="3823106"/>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Promotion</a:t>
            </a:r>
            <a:endParaRPr b="0" i="0" sz="1090" u="none" cap="none" strike="noStrike">
              <a:solidFill>
                <a:schemeClr val="dk1"/>
              </a:solidFill>
              <a:latin typeface="Calibri"/>
              <a:ea typeface="Calibri"/>
              <a:cs typeface="Calibri"/>
              <a:sym typeface="Calibri"/>
            </a:endParaRPr>
          </a:p>
        </p:txBody>
      </p:sp>
      <p:sp>
        <p:nvSpPr>
          <p:cNvPr id="171" name="Google Shape;171;p23"/>
          <p:cNvSpPr/>
          <p:nvPr/>
        </p:nvSpPr>
        <p:spPr>
          <a:xfrm>
            <a:off x="1154887" y="4042562"/>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Publish the post, tag it, and do a follow-up.</a:t>
            </a:r>
            <a:endParaRPr b="0" i="0" sz="978" u="none" cap="none" strike="noStrike">
              <a:solidFill>
                <a:schemeClr val="dk1"/>
              </a:solidFill>
              <a:latin typeface="Calibri"/>
              <a:ea typeface="Calibri"/>
              <a:cs typeface="Calibri"/>
              <a:sym typeface="Calibri"/>
            </a:endParaRPr>
          </a:p>
        </p:txBody>
      </p:sp>
      <p:sp>
        <p:nvSpPr>
          <p:cNvPr id="172" name="Google Shape;172;p23"/>
          <p:cNvSpPr/>
          <p:nvPr/>
        </p:nvSpPr>
        <p:spPr>
          <a:xfrm>
            <a:off x="447142" y="4366260"/>
            <a:ext cx="8250631" cy="494690"/>
          </a:xfrm>
          <a:prstGeom prst="roundRect">
            <a:avLst>
              <a:gd fmla="val 7024"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3"/>
          <p:cNvSpPr/>
          <p:nvPr/>
        </p:nvSpPr>
        <p:spPr>
          <a:xfrm>
            <a:off x="673913" y="4366260"/>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939"/>
              <a:buFont typeface="Calibri"/>
              <a:buNone/>
            </a:pPr>
            <a:r>
              <a:rPr b="0" i="1" lang="en" sz="940" u="none" cap="none" strike="noStrike">
                <a:solidFill>
                  <a:srgbClr val="003057"/>
                </a:solidFill>
                <a:latin typeface="Calibri"/>
                <a:ea typeface="Calibri"/>
                <a:cs typeface="Calibri"/>
                <a:sym typeface="Calibri"/>
              </a:rPr>
              <a:t>Before the LinkedIn post gets published, there must be someone other than the writer of the post who will check the tags and accuracy of the post.</a:t>
            </a:r>
            <a:endParaRPr b="0" i="0" sz="940" u="none" cap="none" strike="noStrike">
              <a:solidFill>
                <a:schemeClr val="dk1"/>
              </a:solidFill>
              <a:latin typeface="Calibri"/>
              <a:ea typeface="Calibri"/>
              <a:cs typeface="Calibri"/>
              <a:sym typeface="Calibri"/>
            </a:endParaRPr>
          </a:p>
        </p:txBody>
      </p:sp>
      <p:sp>
        <p:nvSpPr>
          <p:cNvPr id="174" name="Google Shape;17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FACES OF HAAG  ·  PROCEDURE DEVELOPMENT</a:t>
            </a:r>
            <a:endParaRPr b="0" i="0" sz="827" u="none" cap="none" strike="noStrike">
              <a:solidFill>
                <a:schemeClr val="dk1"/>
              </a:solidFill>
              <a:latin typeface="Calibri"/>
              <a:ea typeface="Calibri"/>
              <a:cs typeface="Calibri"/>
              <a:sym typeface="Calibri"/>
            </a:endParaRPr>
          </a:p>
        </p:txBody>
      </p:sp>
      <p:sp>
        <p:nvSpPr>
          <p:cNvPr id="181" name="Google Shape;181;p24"/>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Phase 1 — Sourcing </a:t>
            </a:r>
            <a:r>
              <a:rPr b="1" lang="en" sz="2030">
                <a:solidFill>
                  <a:srgbClr val="003057"/>
                </a:solidFill>
                <a:latin typeface="Cambria"/>
                <a:ea typeface="Cambria"/>
                <a:cs typeface="Cambria"/>
                <a:sym typeface="Cambria"/>
              </a:rPr>
              <a:t> </a:t>
            </a:r>
            <a:r>
              <a:rPr b="1" i="0" lang="en" sz="2030" u="none" cap="none" strike="noStrike">
                <a:solidFill>
                  <a:srgbClr val="003057"/>
                </a:solidFill>
                <a:latin typeface="Cambria"/>
                <a:ea typeface="Cambria"/>
                <a:cs typeface="Cambria"/>
                <a:sym typeface="Cambria"/>
              </a:rPr>
              <a:t> </a:t>
            </a:r>
            <a:endParaRPr b="0" i="0" sz="2030" u="none" cap="none" strike="noStrike">
              <a:solidFill>
                <a:schemeClr val="dk1"/>
              </a:solidFill>
              <a:latin typeface="Calibri"/>
              <a:ea typeface="Calibri"/>
              <a:cs typeface="Calibri"/>
              <a:sym typeface="Calibri"/>
            </a:endParaRPr>
          </a:p>
        </p:txBody>
      </p:sp>
      <p:sp>
        <p:nvSpPr>
          <p:cNvPr id="182" name="Google Shape;182;p24"/>
          <p:cNvSpPr/>
          <p:nvPr/>
        </p:nvSpPr>
        <p:spPr>
          <a:xfrm>
            <a:off x="447142" y="1203350"/>
            <a:ext cx="8250631" cy="1615745"/>
          </a:xfrm>
          <a:prstGeom prst="roundRect">
            <a:avLst>
              <a:gd fmla="val 2151"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4"/>
          <p:cNvSpPr/>
          <p:nvPr/>
        </p:nvSpPr>
        <p:spPr>
          <a:xfrm>
            <a:off x="652882" y="1326794"/>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How to source a person</a:t>
            </a:r>
            <a:endParaRPr b="0" i="0" sz="1015" u="none" cap="none" strike="noStrike">
              <a:solidFill>
                <a:schemeClr val="dk1"/>
              </a:solidFill>
              <a:latin typeface="Calibri"/>
              <a:ea typeface="Calibri"/>
              <a:cs typeface="Calibri"/>
              <a:sym typeface="Calibri"/>
            </a:endParaRPr>
          </a:p>
        </p:txBody>
      </p:sp>
      <p:sp>
        <p:nvSpPr>
          <p:cNvPr id="184" name="Google Shape;184;p24"/>
          <p:cNvSpPr/>
          <p:nvPr/>
        </p:nvSpPr>
        <p:spPr>
          <a:xfrm>
            <a:off x="652882" y="1588313"/>
            <a:ext cx="7838237" cy="1107338"/>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Choose a researcher, advisor, or faculty member. The candidate can also be a new team member speaking on why they joined</a:t>
            </a:r>
            <a:r>
              <a:rPr lang="en" sz="940">
                <a:solidFill>
                  <a:srgbClr val="3A3A3A"/>
                </a:solidFill>
                <a:latin typeface="Calibri"/>
                <a:ea typeface="Calibri"/>
                <a:cs typeface="Calibri"/>
                <a:sym typeface="Calibri"/>
              </a:rPr>
              <a:t> </a:t>
            </a:r>
            <a:r>
              <a:rPr b="0" i="0" lang="en" sz="940" u="none" cap="none" strike="noStrike">
                <a:solidFill>
                  <a:srgbClr val="3A3A3A"/>
                </a:solidFill>
                <a:latin typeface="Calibri"/>
                <a:ea typeface="Calibri"/>
                <a:cs typeface="Calibri"/>
                <a:sym typeface="Calibri"/>
              </a:rPr>
              <a:t>HAAG. Candidates can also be pulled from HAAG leadership/project-lead recommendations, the HAAG project registration sheet, and the HAAG Summer Enrollments spreadsheet.</a:t>
            </a:r>
            <a:endParaRPr b="0" i="0" sz="94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940"/>
              <a:buFont typeface="Calibri"/>
              <a:buNone/>
            </a:pPr>
            <a:r>
              <a:t/>
            </a:r>
            <a:endParaRPr b="0" i="0" sz="940" u="none" cap="none" strike="noStrike">
              <a:solidFill>
                <a:schemeClr val="dk1"/>
              </a:solidFill>
              <a:latin typeface="Calibri"/>
              <a:ea typeface="Calibri"/>
              <a:cs typeface="Calibri"/>
              <a:sym typeface="Calibri"/>
            </a:endParaRPr>
          </a:p>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Finally, also preserve an ongoing list of future projects and candidates to have a sustainable content pipeline, along with keeping track of who and which project has already been spotlighted or opted in or out.</a:t>
            </a:r>
            <a:endParaRPr b="0" i="0" sz="940" u="none" cap="none" strike="noStrike">
              <a:solidFill>
                <a:schemeClr val="dk1"/>
              </a:solidFill>
              <a:latin typeface="Calibri"/>
              <a:ea typeface="Calibri"/>
              <a:cs typeface="Calibri"/>
              <a:sym typeface="Calibri"/>
            </a:endParaRPr>
          </a:p>
        </p:txBody>
      </p:sp>
      <p:sp>
        <p:nvSpPr>
          <p:cNvPr id="185" name="Google Shape;185;p24"/>
          <p:cNvSpPr/>
          <p:nvPr/>
        </p:nvSpPr>
        <p:spPr>
          <a:xfrm>
            <a:off x="447142" y="2991002"/>
            <a:ext cx="8250631" cy="1512418"/>
          </a:xfrm>
          <a:prstGeom prst="roundRect">
            <a:avLst>
              <a:gd fmla="val 2297"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4"/>
          <p:cNvSpPr/>
          <p:nvPr/>
        </p:nvSpPr>
        <p:spPr>
          <a:xfrm>
            <a:off x="652882" y="3114446"/>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Fill In the blanks — Candidate / Project Selected</a:t>
            </a:r>
            <a:endParaRPr b="0" i="0" sz="1015" u="none" cap="none" strike="noStrike">
              <a:solidFill>
                <a:schemeClr val="dk1"/>
              </a:solidFill>
              <a:latin typeface="Calibri"/>
              <a:ea typeface="Calibri"/>
              <a:cs typeface="Calibri"/>
              <a:sym typeface="Calibri"/>
            </a:endParaRPr>
          </a:p>
        </p:txBody>
      </p:sp>
      <p:sp>
        <p:nvSpPr>
          <p:cNvPr id="187" name="Google Shape;187;p24"/>
          <p:cNvSpPr/>
          <p:nvPr/>
        </p:nvSpPr>
        <p:spPr>
          <a:xfrm>
            <a:off x="652882" y="3375965"/>
            <a:ext cx="7838237" cy="1004011"/>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Name of Person:  ______________________          Point of Contact:  ______________________</a:t>
            </a:r>
            <a:endParaRPr b="0" i="0" sz="94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940"/>
              <a:buFont typeface="Calibri"/>
              <a:buNone/>
            </a:pPr>
            <a:r>
              <a:t/>
            </a:r>
            <a:endParaRPr b="0" i="0" sz="940" u="none" cap="none" strike="noStrike">
              <a:solidFill>
                <a:schemeClr val="dk1"/>
              </a:solidFill>
              <a:latin typeface="Calibri"/>
              <a:ea typeface="Calibri"/>
              <a:cs typeface="Calibri"/>
              <a:sym typeface="Calibri"/>
            </a:endParaRPr>
          </a:p>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Sourced From:   ☐ Faculty Recommendations    ☐ HAAG Project sheet list    ☐ Other: ______</a:t>
            </a:r>
            <a:endParaRPr b="0" i="0" sz="94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940"/>
              <a:buFont typeface="Calibri"/>
              <a:buNone/>
            </a:pPr>
            <a:r>
              <a:t/>
            </a:r>
            <a:endParaRPr b="0" i="0" sz="940" u="none" cap="none" strike="noStrike">
              <a:solidFill>
                <a:schemeClr val="dk1"/>
              </a:solidFill>
              <a:latin typeface="Calibri"/>
              <a:ea typeface="Calibri"/>
              <a:cs typeface="Calibri"/>
              <a:sym typeface="Calibri"/>
            </a:endParaRPr>
          </a:p>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Agreed to Participate:   ☐ Yes    ☐ No    ☐ Undecided</a:t>
            </a:r>
            <a:endParaRPr b="0" i="0" sz="940" u="none" cap="none" strike="noStrike">
              <a:solidFill>
                <a:schemeClr val="dk1"/>
              </a:solidFill>
              <a:latin typeface="Calibri"/>
              <a:ea typeface="Calibri"/>
              <a:cs typeface="Calibri"/>
              <a:sym typeface="Calibri"/>
            </a:endParaRPr>
          </a:p>
        </p:txBody>
      </p:sp>
      <p:sp>
        <p:nvSpPr>
          <p:cNvPr id="188" name="Google Shape;188;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FACES OF HAAG  ·  PROCEDURE DEVELOPMENT</a:t>
            </a:r>
            <a:endParaRPr b="0" i="0" sz="827" u="none" cap="none" strike="noStrike">
              <a:solidFill>
                <a:schemeClr val="dk1"/>
              </a:solidFill>
              <a:latin typeface="Calibri"/>
              <a:ea typeface="Calibri"/>
              <a:cs typeface="Calibri"/>
              <a:sym typeface="Calibri"/>
            </a:endParaRPr>
          </a:p>
        </p:txBody>
      </p:sp>
      <p:sp>
        <p:nvSpPr>
          <p:cNvPr id="195" name="Google Shape;195;p25"/>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Phases 2, 3 and 4 — Collect, Write, Promote</a:t>
            </a:r>
            <a:endParaRPr b="0" i="0" sz="2030" u="none" cap="none" strike="noStrike">
              <a:solidFill>
                <a:schemeClr val="dk1"/>
              </a:solidFill>
              <a:latin typeface="Calibri"/>
              <a:ea typeface="Calibri"/>
              <a:cs typeface="Calibri"/>
              <a:sym typeface="Calibri"/>
            </a:endParaRPr>
          </a:p>
        </p:txBody>
      </p:sp>
      <p:sp>
        <p:nvSpPr>
          <p:cNvPr id="196" name="Google Shape;196;p25"/>
          <p:cNvSpPr/>
          <p:nvPr/>
        </p:nvSpPr>
        <p:spPr>
          <a:xfrm>
            <a:off x="447142" y="1203350"/>
            <a:ext cx="2681021" cy="2819095"/>
          </a:xfrm>
          <a:prstGeom prst="roundRect">
            <a:avLst>
              <a:gd fmla="val 1296"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5"/>
          <p:cNvSpPr/>
          <p:nvPr/>
        </p:nvSpPr>
        <p:spPr>
          <a:xfrm>
            <a:off x="652882" y="1326794"/>
            <a:ext cx="2268626"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Phase 2 — Content Collection</a:t>
            </a:r>
            <a:endParaRPr b="0" i="0" sz="1015" u="none" cap="none" strike="noStrike">
              <a:solidFill>
                <a:schemeClr val="dk1"/>
              </a:solidFill>
              <a:latin typeface="Calibri"/>
              <a:ea typeface="Calibri"/>
              <a:cs typeface="Calibri"/>
              <a:sym typeface="Calibri"/>
            </a:endParaRPr>
          </a:p>
        </p:txBody>
      </p:sp>
      <p:sp>
        <p:nvSpPr>
          <p:cNvPr id="198" name="Google Shape;198;p25"/>
          <p:cNvSpPr/>
          <p:nvPr/>
        </p:nvSpPr>
        <p:spPr>
          <a:xfrm>
            <a:off x="652882" y="1588313"/>
            <a:ext cx="2268626" cy="2309774"/>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basics — Who are you, in 1–2 sentences?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why — What drew you to this research?</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Who’s involved — Who do you work with at HAAG?</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milestone — What’s something you’re proud of recently?</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What’s next — What’s next for you?</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Visual — A photo of you.</a:t>
            </a:r>
            <a:endParaRPr b="0" i="0" sz="902" u="none" cap="none" strike="noStrike">
              <a:solidFill>
                <a:schemeClr val="dk1"/>
              </a:solidFill>
              <a:latin typeface="Calibri"/>
              <a:ea typeface="Calibri"/>
              <a:cs typeface="Calibri"/>
              <a:sym typeface="Calibri"/>
            </a:endParaRPr>
          </a:p>
        </p:txBody>
      </p:sp>
      <p:sp>
        <p:nvSpPr>
          <p:cNvPr id="199" name="Google Shape;199;p25"/>
          <p:cNvSpPr/>
          <p:nvPr/>
        </p:nvSpPr>
        <p:spPr>
          <a:xfrm>
            <a:off x="3231490" y="1203350"/>
            <a:ext cx="2681021" cy="2819095"/>
          </a:xfrm>
          <a:prstGeom prst="roundRect">
            <a:avLst>
              <a:gd fmla="val 1296"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5"/>
          <p:cNvSpPr/>
          <p:nvPr/>
        </p:nvSpPr>
        <p:spPr>
          <a:xfrm>
            <a:off x="3438144" y="1326794"/>
            <a:ext cx="2268626"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Phase 3 — Translation</a:t>
            </a:r>
            <a:endParaRPr b="0" i="0" sz="1015" u="none" cap="none" strike="noStrike">
              <a:solidFill>
                <a:schemeClr val="dk1"/>
              </a:solidFill>
              <a:latin typeface="Calibri"/>
              <a:ea typeface="Calibri"/>
              <a:cs typeface="Calibri"/>
              <a:sym typeface="Calibri"/>
            </a:endParaRPr>
          </a:p>
        </p:txBody>
      </p:sp>
      <p:sp>
        <p:nvSpPr>
          <p:cNvPr id="201" name="Google Shape;201;p25"/>
          <p:cNvSpPr/>
          <p:nvPr/>
        </p:nvSpPr>
        <p:spPr>
          <a:xfrm>
            <a:off x="3438144" y="1588313"/>
            <a:ext cx="2268626" cy="2309774"/>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Hook — One line about you, in your own words.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Body — Your background and what draws you to the work.</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Credit line — Tag yourself, this one’s about you.</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Close — A personal note, what’s next for you.</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Visual — A photo of you.</a:t>
            </a:r>
            <a:endParaRPr b="0" i="0" sz="902" u="none" cap="none" strike="noStrike">
              <a:solidFill>
                <a:schemeClr val="dk1"/>
              </a:solidFill>
              <a:latin typeface="Calibri"/>
              <a:ea typeface="Calibri"/>
              <a:cs typeface="Calibri"/>
              <a:sym typeface="Calibri"/>
            </a:endParaRPr>
          </a:p>
        </p:txBody>
      </p:sp>
      <p:sp>
        <p:nvSpPr>
          <p:cNvPr id="202" name="Google Shape;202;p25"/>
          <p:cNvSpPr/>
          <p:nvPr/>
        </p:nvSpPr>
        <p:spPr>
          <a:xfrm>
            <a:off x="6015838" y="1203350"/>
            <a:ext cx="2681021" cy="2819095"/>
          </a:xfrm>
          <a:prstGeom prst="roundRect">
            <a:avLst>
              <a:gd fmla="val 1296"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5"/>
          <p:cNvSpPr/>
          <p:nvPr/>
        </p:nvSpPr>
        <p:spPr>
          <a:xfrm>
            <a:off x="6222492" y="1326794"/>
            <a:ext cx="2268626"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Phase 4 — Promotion</a:t>
            </a:r>
            <a:endParaRPr b="0" i="0" sz="1015" u="none" cap="none" strike="noStrike">
              <a:solidFill>
                <a:schemeClr val="dk1"/>
              </a:solidFill>
              <a:latin typeface="Calibri"/>
              <a:ea typeface="Calibri"/>
              <a:cs typeface="Calibri"/>
              <a:sym typeface="Calibri"/>
            </a:endParaRPr>
          </a:p>
        </p:txBody>
      </p:sp>
      <p:sp>
        <p:nvSpPr>
          <p:cNvPr id="204" name="Google Shape;204;p25"/>
          <p:cNvSpPr/>
          <p:nvPr/>
        </p:nvSpPr>
        <p:spPr>
          <a:xfrm>
            <a:off x="6222492" y="1588313"/>
            <a:ext cx="2268626" cy="2309774"/>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Publishing is the mid</a:t>
            </a:r>
            <a:r>
              <a:rPr lang="en" sz="902">
                <a:solidFill>
                  <a:srgbClr val="3A3A3A"/>
                </a:solidFill>
                <a:latin typeface="Calibri"/>
                <a:ea typeface="Calibri"/>
                <a:cs typeface="Calibri"/>
                <a:sym typeface="Calibri"/>
              </a:rPr>
              <a:t>way point</a:t>
            </a:r>
            <a:r>
              <a:rPr b="0" i="0" lang="en" sz="902" u="none" cap="none" strike="noStrike">
                <a:solidFill>
                  <a:srgbClr val="3A3A3A"/>
                </a:solidFill>
                <a:latin typeface="Calibri"/>
                <a:ea typeface="Calibri"/>
                <a:cs typeface="Calibri"/>
                <a:sym typeface="Calibri"/>
              </a:rPr>
              <a:t>, not the finish line.</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Tagging — Tag the person.</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Resharing — They share it themselves, in their own voice.</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Engagement — Invite HAAG Slack to engage; someone from HAAG responds to comments.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Reuse — Eligible as a baseline for a future blog post.</a:t>
            </a:r>
            <a:endParaRPr b="0" i="0" sz="902" u="none" cap="none" strike="noStrike">
              <a:solidFill>
                <a:schemeClr val="dk1"/>
              </a:solidFill>
              <a:latin typeface="Calibri"/>
              <a:ea typeface="Calibri"/>
              <a:cs typeface="Calibri"/>
              <a:sym typeface="Calibri"/>
            </a:endParaRPr>
          </a:p>
        </p:txBody>
      </p:sp>
      <p:sp>
        <p:nvSpPr>
          <p:cNvPr id="205" name="Google Shape;205;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6"/>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FACES OF HAAG  ·  PROCEDURE DEVELOPMENT</a:t>
            </a:r>
            <a:endParaRPr b="0" i="0" sz="827" u="none" cap="none" strike="noStrike">
              <a:solidFill>
                <a:schemeClr val="dk1"/>
              </a:solidFill>
              <a:latin typeface="Calibri"/>
              <a:ea typeface="Calibri"/>
              <a:cs typeface="Calibri"/>
              <a:sym typeface="Calibri"/>
            </a:endParaRPr>
          </a:p>
        </p:txBody>
      </p:sp>
      <p:sp>
        <p:nvSpPr>
          <p:cNvPr id="212" name="Google Shape;212;p26"/>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Post Feedback and Approval Process</a:t>
            </a:r>
            <a:endParaRPr b="0" i="0" sz="2030" u="none" cap="none" strike="noStrike">
              <a:solidFill>
                <a:schemeClr val="dk1"/>
              </a:solidFill>
              <a:latin typeface="Calibri"/>
              <a:ea typeface="Calibri"/>
              <a:cs typeface="Calibri"/>
              <a:sym typeface="Calibri"/>
            </a:endParaRPr>
          </a:p>
        </p:txBody>
      </p:sp>
      <p:sp>
        <p:nvSpPr>
          <p:cNvPr id="213" name="Google Shape;213;p26"/>
          <p:cNvSpPr/>
          <p:nvPr/>
        </p:nvSpPr>
        <p:spPr>
          <a:xfrm>
            <a:off x="447142" y="1154887"/>
            <a:ext cx="8250631" cy="24048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14"/>
              <a:buFont typeface="Calibri"/>
              <a:buNone/>
            </a:pPr>
            <a:r>
              <a:rPr b="0" i="0" lang="en" sz="1015" u="none" cap="none" strike="noStrike">
                <a:solidFill>
                  <a:srgbClr val="6B6B6B"/>
                </a:solidFill>
                <a:latin typeface="Calibri"/>
                <a:ea typeface="Calibri"/>
                <a:cs typeface="Calibri"/>
                <a:sym typeface="Calibri"/>
              </a:rPr>
              <a:t>Please use this post feedback and approval process for every single draft before anything gets posted on LinkedIn.</a:t>
            </a:r>
            <a:endParaRPr b="0" i="0" sz="1015" u="none" cap="none" strike="noStrike">
              <a:solidFill>
                <a:schemeClr val="dk1"/>
              </a:solidFill>
              <a:latin typeface="Calibri"/>
              <a:ea typeface="Calibri"/>
              <a:cs typeface="Calibri"/>
              <a:sym typeface="Calibri"/>
            </a:endParaRPr>
          </a:p>
        </p:txBody>
      </p:sp>
      <p:sp>
        <p:nvSpPr>
          <p:cNvPr id="214" name="Google Shape;214;p26"/>
          <p:cNvSpPr/>
          <p:nvPr/>
        </p:nvSpPr>
        <p:spPr>
          <a:xfrm>
            <a:off x="447142" y="1422806"/>
            <a:ext cx="8250631" cy="2764231"/>
          </a:xfrm>
          <a:prstGeom prst="roundRect">
            <a:avLst>
              <a:gd fmla="val 1257"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6"/>
          <p:cNvSpPr/>
          <p:nvPr/>
        </p:nvSpPr>
        <p:spPr>
          <a:xfrm>
            <a:off x="652882" y="1598371"/>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Step 0</a:t>
            </a:r>
            <a:endParaRPr b="0" i="0" sz="940" u="none" cap="none" strike="noStrike">
              <a:solidFill>
                <a:schemeClr val="dk1"/>
              </a:solidFill>
              <a:latin typeface="Calibri"/>
              <a:ea typeface="Calibri"/>
              <a:cs typeface="Calibri"/>
              <a:sym typeface="Calibri"/>
            </a:endParaRPr>
          </a:p>
        </p:txBody>
      </p:sp>
      <p:sp>
        <p:nvSpPr>
          <p:cNvPr id="216" name="Google Shape;216;p26"/>
          <p:cNvSpPr/>
          <p:nvPr/>
        </p:nvSpPr>
        <p:spPr>
          <a:xfrm>
            <a:off x="1409090" y="1547165"/>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person getting featured in the Faces of HAAG will be temporarily added to the post-feedback slack channel to provide feedback on the draft revisions.</a:t>
            </a:r>
            <a:endParaRPr b="0" i="0" sz="940" u="none" cap="none" strike="noStrike">
              <a:solidFill>
                <a:schemeClr val="dk1"/>
              </a:solidFill>
              <a:latin typeface="Calibri"/>
              <a:ea typeface="Calibri"/>
              <a:cs typeface="Calibri"/>
              <a:sym typeface="Calibri"/>
            </a:endParaRPr>
          </a:p>
        </p:txBody>
      </p:sp>
      <p:sp>
        <p:nvSpPr>
          <p:cNvPr id="217" name="Google Shape;217;p26"/>
          <p:cNvSpPr/>
          <p:nvPr/>
        </p:nvSpPr>
        <p:spPr>
          <a:xfrm>
            <a:off x="652882" y="2024482"/>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a:t>
            </a:r>
            <a:r>
              <a:rPr b="1" lang="en" sz="940">
                <a:solidFill>
                  <a:srgbClr val="B3A369"/>
                </a:solidFill>
                <a:latin typeface="Calibri"/>
                <a:ea typeface="Calibri"/>
                <a:cs typeface="Calibri"/>
                <a:sym typeface="Calibri"/>
              </a:rPr>
              <a:t>ep</a:t>
            </a:r>
            <a:r>
              <a:rPr b="1" i="0" lang="en" sz="940" u="none" cap="none" strike="noStrike">
                <a:solidFill>
                  <a:srgbClr val="B3A369"/>
                </a:solidFill>
                <a:latin typeface="Calibri"/>
                <a:ea typeface="Calibri"/>
                <a:cs typeface="Calibri"/>
                <a:sym typeface="Calibri"/>
              </a:rPr>
              <a:t> 1</a:t>
            </a:r>
            <a:endParaRPr b="0" i="0" sz="940" u="none" cap="none" strike="noStrike">
              <a:solidFill>
                <a:schemeClr val="dk1"/>
              </a:solidFill>
              <a:latin typeface="Calibri"/>
              <a:ea typeface="Calibri"/>
              <a:cs typeface="Calibri"/>
              <a:sym typeface="Calibri"/>
            </a:endParaRPr>
          </a:p>
        </p:txBody>
      </p:sp>
      <p:sp>
        <p:nvSpPr>
          <p:cNvPr id="218" name="Google Shape;218;p26"/>
          <p:cNvSpPr/>
          <p:nvPr/>
        </p:nvSpPr>
        <p:spPr>
          <a:xfrm>
            <a:off x="1409090" y="1973275"/>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Upload the draft inside the #post-feedback channel in Slack. Please use the dedicated folder for the uploads of the drafts.</a:t>
            </a:r>
            <a:endParaRPr b="0" i="0" sz="940" u="none" cap="none" strike="noStrike">
              <a:solidFill>
                <a:schemeClr val="dk1"/>
              </a:solidFill>
              <a:latin typeface="Calibri"/>
              <a:ea typeface="Calibri"/>
              <a:cs typeface="Calibri"/>
              <a:sym typeface="Calibri"/>
            </a:endParaRPr>
          </a:p>
        </p:txBody>
      </p:sp>
      <p:sp>
        <p:nvSpPr>
          <p:cNvPr id="219" name="Google Shape;219;p26"/>
          <p:cNvSpPr/>
          <p:nvPr/>
        </p:nvSpPr>
        <p:spPr>
          <a:xfrm>
            <a:off x="652882" y="2451506"/>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a:t>
            </a:r>
            <a:r>
              <a:rPr b="1" lang="en" sz="940">
                <a:solidFill>
                  <a:srgbClr val="B3A369"/>
                </a:solidFill>
                <a:latin typeface="Calibri"/>
                <a:ea typeface="Calibri"/>
                <a:cs typeface="Calibri"/>
                <a:sym typeface="Calibri"/>
              </a:rPr>
              <a:t>ep</a:t>
            </a:r>
            <a:r>
              <a:rPr b="1" i="0" lang="en" sz="940" u="none" cap="none" strike="noStrike">
                <a:solidFill>
                  <a:srgbClr val="B3A369"/>
                </a:solidFill>
                <a:latin typeface="Calibri"/>
                <a:ea typeface="Calibri"/>
                <a:cs typeface="Calibri"/>
                <a:sym typeface="Calibri"/>
              </a:rPr>
              <a:t> 2</a:t>
            </a:r>
            <a:endParaRPr b="0" i="0" sz="940" u="none" cap="none" strike="noStrike">
              <a:solidFill>
                <a:schemeClr val="dk1"/>
              </a:solidFill>
              <a:latin typeface="Calibri"/>
              <a:ea typeface="Calibri"/>
              <a:cs typeface="Calibri"/>
              <a:sym typeface="Calibri"/>
            </a:endParaRPr>
          </a:p>
        </p:txBody>
      </p:sp>
      <p:sp>
        <p:nvSpPr>
          <p:cNvPr id="220" name="Google Shape;220;p26"/>
          <p:cNvSpPr/>
          <p:nvPr/>
        </p:nvSpPr>
        <p:spPr>
          <a:xfrm>
            <a:off x="1409090" y="2399386"/>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Then make an announcement in the #post-feedback channel when the draft is ready, along with providing instructions for how to make comments within the draft.</a:t>
            </a:r>
            <a:endParaRPr b="0" i="0" sz="940" u="none" cap="none" strike="noStrike">
              <a:solidFill>
                <a:schemeClr val="dk1"/>
              </a:solidFill>
              <a:latin typeface="Calibri"/>
              <a:ea typeface="Calibri"/>
              <a:cs typeface="Calibri"/>
              <a:sym typeface="Calibri"/>
            </a:endParaRPr>
          </a:p>
        </p:txBody>
      </p:sp>
      <p:sp>
        <p:nvSpPr>
          <p:cNvPr id="221" name="Google Shape;221;p26"/>
          <p:cNvSpPr/>
          <p:nvPr/>
        </p:nvSpPr>
        <p:spPr>
          <a:xfrm>
            <a:off x="652882" y="2877617"/>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a:t>
            </a:r>
            <a:r>
              <a:rPr b="1" lang="en" sz="940">
                <a:solidFill>
                  <a:srgbClr val="B3A369"/>
                </a:solidFill>
                <a:latin typeface="Calibri"/>
                <a:ea typeface="Calibri"/>
                <a:cs typeface="Calibri"/>
                <a:sym typeface="Calibri"/>
              </a:rPr>
              <a:t>ep</a:t>
            </a:r>
            <a:r>
              <a:rPr b="1" i="0" lang="en" sz="940" u="none" cap="none" strike="noStrike">
                <a:solidFill>
                  <a:srgbClr val="B3A369"/>
                </a:solidFill>
                <a:latin typeface="Calibri"/>
                <a:ea typeface="Calibri"/>
                <a:cs typeface="Calibri"/>
                <a:sym typeface="Calibri"/>
              </a:rPr>
              <a:t> 3</a:t>
            </a:r>
            <a:endParaRPr b="0" i="0" sz="940" u="none" cap="none" strike="noStrike">
              <a:solidFill>
                <a:schemeClr val="dk1"/>
              </a:solidFill>
              <a:latin typeface="Calibri"/>
              <a:ea typeface="Calibri"/>
              <a:cs typeface="Calibri"/>
              <a:sym typeface="Calibri"/>
            </a:endParaRPr>
          </a:p>
        </p:txBody>
      </p:sp>
      <p:sp>
        <p:nvSpPr>
          <p:cNvPr id="222" name="Google Shape;222;p26"/>
          <p:cNvSpPr/>
          <p:nvPr/>
        </p:nvSpPr>
        <p:spPr>
          <a:xfrm>
            <a:off x="1409090" y="2825496"/>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Make sure to allow a 48-hour period for annotations, revisions, and feedback about the draft.</a:t>
            </a:r>
            <a:endParaRPr b="0" i="0" sz="940" u="none" cap="none" strike="noStrike">
              <a:solidFill>
                <a:schemeClr val="dk1"/>
              </a:solidFill>
              <a:latin typeface="Calibri"/>
              <a:ea typeface="Calibri"/>
              <a:cs typeface="Calibri"/>
              <a:sym typeface="Calibri"/>
            </a:endParaRPr>
          </a:p>
        </p:txBody>
      </p:sp>
      <p:sp>
        <p:nvSpPr>
          <p:cNvPr id="223" name="Google Shape;223;p26"/>
          <p:cNvSpPr/>
          <p:nvPr/>
        </p:nvSpPr>
        <p:spPr>
          <a:xfrm>
            <a:off x="652882" y="3303727"/>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a:t>
            </a:r>
            <a:r>
              <a:rPr b="1" lang="en" sz="940">
                <a:solidFill>
                  <a:srgbClr val="B3A369"/>
                </a:solidFill>
                <a:latin typeface="Calibri"/>
                <a:ea typeface="Calibri"/>
                <a:cs typeface="Calibri"/>
                <a:sym typeface="Calibri"/>
              </a:rPr>
              <a:t>ep</a:t>
            </a:r>
            <a:r>
              <a:rPr b="1" i="0" lang="en" sz="940" u="none" cap="none" strike="noStrike">
                <a:solidFill>
                  <a:srgbClr val="B3A369"/>
                </a:solidFill>
                <a:latin typeface="Calibri"/>
                <a:ea typeface="Calibri"/>
                <a:cs typeface="Calibri"/>
                <a:sym typeface="Calibri"/>
              </a:rPr>
              <a:t> 4</a:t>
            </a:r>
            <a:endParaRPr b="0" i="0" sz="940" u="none" cap="none" strike="noStrike">
              <a:solidFill>
                <a:schemeClr val="dk1"/>
              </a:solidFill>
              <a:latin typeface="Calibri"/>
              <a:ea typeface="Calibri"/>
              <a:cs typeface="Calibri"/>
              <a:sym typeface="Calibri"/>
            </a:endParaRPr>
          </a:p>
        </p:txBody>
      </p:sp>
      <p:sp>
        <p:nvSpPr>
          <p:cNvPr id="224" name="Google Shape;224;p26"/>
          <p:cNvSpPr/>
          <p:nvPr/>
        </p:nvSpPr>
        <p:spPr>
          <a:xfrm>
            <a:off x="1409090" y="3251606"/>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Review and gather all the feedback by having a thread attached to the draft. This is for keeping the feedback organized and to reduce the number of DMs.</a:t>
            </a:r>
            <a:endParaRPr b="0" i="0" sz="940" u="none" cap="none" strike="noStrike">
              <a:solidFill>
                <a:schemeClr val="dk1"/>
              </a:solidFill>
              <a:latin typeface="Calibri"/>
              <a:ea typeface="Calibri"/>
              <a:cs typeface="Calibri"/>
              <a:sym typeface="Calibri"/>
            </a:endParaRPr>
          </a:p>
        </p:txBody>
      </p:sp>
      <p:sp>
        <p:nvSpPr>
          <p:cNvPr id="225" name="Google Shape;225;p26"/>
          <p:cNvSpPr/>
          <p:nvPr/>
        </p:nvSpPr>
        <p:spPr>
          <a:xfrm>
            <a:off x="652882" y="3729838"/>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a:t>
            </a:r>
            <a:r>
              <a:rPr b="1" lang="en" sz="940">
                <a:solidFill>
                  <a:srgbClr val="B3A369"/>
                </a:solidFill>
                <a:latin typeface="Calibri"/>
                <a:ea typeface="Calibri"/>
                <a:cs typeface="Calibri"/>
                <a:sym typeface="Calibri"/>
              </a:rPr>
              <a:t>ep</a:t>
            </a:r>
            <a:r>
              <a:rPr b="1" i="0" lang="en" sz="940" u="none" cap="none" strike="noStrike">
                <a:solidFill>
                  <a:srgbClr val="B3A369"/>
                </a:solidFill>
                <a:latin typeface="Calibri"/>
                <a:ea typeface="Calibri"/>
                <a:cs typeface="Calibri"/>
                <a:sym typeface="Calibri"/>
              </a:rPr>
              <a:t> 5</a:t>
            </a:r>
            <a:endParaRPr b="0" i="0" sz="940" u="none" cap="none" strike="noStrike">
              <a:solidFill>
                <a:schemeClr val="dk1"/>
              </a:solidFill>
              <a:latin typeface="Calibri"/>
              <a:ea typeface="Calibri"/>
              <a:cs typeface="Calibri"/>
              <a:sym typeface="Calibri"/>
            </a:endParaRPr>
          </a:p>
        </p:txBody>
      </p:sp>
      <p:sp>
        <p:nvSpPr>
          <p:cNvPr id="226" name="Google Shape;226;p26"/>
          <p:cNvSpPr/>
          <p:nvPr/>
        </p:nvSpPr>
        <p:spPr>
          <a:xfrm>
            <a:off x="1409090" y="3678631"/>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Finally, the writer of the draft will review and analyze all the feedback received by editing and updating the draft.</a:t>
            </a:r>
            <a:endParaRPr b="0" i="0" sz="940" u="none" cap="none" strike="noStrike">
              <a:solidFill>
                <a:schemeClr val="dk1"/>
              </a:solidFill>
              <a:latin typeface="Calibri"/>
              <a:ea typeface="Calibri"/>
              <a:cs typeface="Calibri"/>
              <a:sym typeface="Calibri"/>
            </a:endParaRPr>
          </a:p>
        </p:txBody>
      </p:sp>
      <p:sp>
        <p:nvSpPr>
          <p:cNvPr id="227" name="Google Shape;227;p26"/>
          <p:cNvSpPr/>
          <p:nvPr/>
        </p:nvSpPr>
        <p:spPr>
          <a:xfrm>
            <a:off x="447142" y="4194353"/>
            <a:ext cx="8250631" cy="494690"/>
          </a:xfrm>
          <a:prstGeom prst="roundRect">
            <a:avLst>
              <a:gd fmla="val 7024" name="adj"/>
            </a:avLst>
          </a:prstGeom>
          <a:solidFill>
            <a:srgbClr val="003057"/>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6"/>
          <p:cNvSpPr/>
          <p:nvPr/>
        </p:nvSpPr>
        <p:spPr>
          <a:xfrm>
            <a:off x="673913" y="4194353"/>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9"/>
              <a:buFont typeface="Calibri"/>
              <a:buNone/>
            </a:pPr>
            <a:r>
              <a:rPr b="0" i="0" lang="en" sz="940" u="none" cap="none" strike="noStrike">
                <a:solidFill>
                  <a:srgbClr val="FFFFFF"/>
                </a:solidFill>
                <a:latin typeface="Calibri"/>
                <a:ea typeface="Calibri"/>
                <a:cs typeface="Calibri"/>
                <a:sym typeface="Calibri"/>
              </a:rPr>
              <a:t>Once the 48-hour period is complete, the draft must be approved by Bree, faculty, or a team leader before the draft is posted on LinkedIn.</a:t>
            </a:r>
            <a:endParaRPr b="0" i="0" sz="940" u="none" cap="none" strike="noStrike">
              <a:solidFill>
                <a:schemeClr val="dk1"/>
              </a:solidFill>
              <a:latin typeface="Calibri"/>
              <a:ea typeface="Calibri"/>
              <a:cs typeface="Calibri"/>
              <a:sym typeface="Calibri"/>
            </a:endParaRPr>
          </a:p>
        </p:txBody>
      </p:sp>
      <p:sp>
        <p:nvSpPr>
          <p:cNvPr id="229" name="Google Shape;229;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Faces of HAAG Tracker</a:t>
            </a:r>
            <a:endParaRPr/>
          </a:p>
        </p:txBody>
      </p:sp>
      <p:sp>
        <p:nvSpPr>
          <p:cNvPr id="235" name="Google Shape;23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a:t>Tracker</a:t>
            </a:r>
            <a:endParaRPr/>
          </a:p>
        </p:txBody>
      </p:sp>
      <p:pic>
        <p:nvPicPr>
          <p:cNvPr id="236" name="Google Shape;236;p27" title="Screenshot 2026-08-06 at 11.17.12 AM.png"/>
          <p:cNvPicPr preferRelativeResize="0"/>
          <p:nvPr/>
        </p:nvPicPr>
        <p:blipFill>
          <a:blip r:embed="rId3">
            <a:alphaModFix/>
          </a:blip>
          <a:stretch>
            <a:fillRect/>
          </a:stretch>
        </p:blipFill>
        <p:spPr>
          <a:xfrm>
            <a:off x="0" y="1901000"/>
            <a:ext cx="9306952" cy="2085875"/>
          </a:xfrm>
          <a:prstGeom prst="rect">
            <a:avLst/>
          </a:prstGeom>
          <a:noFill/>
          <a:ln>
            <a:noFill/>
          </a:ln>
        </p:spPr>
      </p:pic>
      <p:sp>
        <p:nvSpPr>
          <p:cNvPr id="237" name="Google Shape;23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FACES OF HAAG  ·  IMPLEMENTATION &amp; REFLECTION</a:t>
            </a:r>
            <a:endParaRPr b="0" i="0" sz="827" u="none" cap="none" strike="noStrike">
              <a:solidFill>
                <a:schemeClr val="dk1"/>
              </a:solidFill>
              <a:latin typeface="Calibri"/>
              <a:ea typeface="Calibri"/>
              <a:cs typeface="Calibri"/>
              <a:sym typeface="Calibri"/>
            </a:endParaRPr>
          </a:p>
        </p:txBody>
      </p:sp>
      <p:sp>
        <p:nvSpPr>
          <p:cNvPr id="244" name="Google Shape;244;p28"/>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Implementation Status and Next Steps</a:t>
            </a:r>
            <a:endParaRPr b="0" i="0" sz="2030" u="none" cap="none" strike="noStrike">
              <a:solidFill>
                <a:schemeClr val="dk1"/>
              </a:solidFill>
              <a:latin typeface="Calibri"/>
              <a:ea typeface="Calibri"/>
              <a:cs typeface="Calibri"/>
              <a:sym typeface="Calibri"/>
            </a:endParaRPr>
          </a:p>
        </p:txBody>
      </p:sp>
      <p:sp>
        <p:nvSpPr>
          <p:cNvPr id="245" name="Google Shape;245;p28"/>
          <p:cNvSpPr/>
          <p:nvPr/>
        </p:nvSpPr>
        <p:spPr>
          <a:xfrm>
            <a:off x="447142" y="1182319"/>
            <a:ext cx="8250631" cy="893369"/>
          </a:xfrm>
          <a:prstGeom prst="roundRect">
            <a:avLst>
              <a:gd fmla="val 3889" name="adj"/>
            </a:avLst>
          </a:prstGeom>
          <a:solidFill>
            <a:srgbClr val="F1EAD7"/>
          </a:solidFill>
          <a:ln cap="flat" cmpd="sng" w="12700">
            <a:solidFill>
              <a:srgbClr val="F1EA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8"/>
          <p:cNvSpPr/>
          <p:nvPr/>
        </p:nvSpPr>
        <p:spPr>
          <a:xfrm>
            <a:off x="652882" y="1306678"/>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Implementation status — not </a:t>
            </a:r>
            <a:r>
              <a:rPr b="1" lang="en" sz="1015">
                <a:solidFill>
                  <a:srgbClr val="003057"/>
                </a:solidFill>
                <a:latin typeface="Calibri"/>
                <a:ea typeface="Calibri"/>
                <a:cs typeface="Calibri"/>
                <a:sym typeface="Calibri"/>
              </a:rPr>
              <a:t>executed</a:t>
            </a:r>
            <a:r>
              <a:rPr b="1" lang="en" sz="1015">
                <a:solidFill>
                  <a:srgbClr val="003057"/>
                </a:solidFill>
                <a:latin typeface="Calibri"/>
                <a:ea typeface="Calibri"/>
                <a:cs typeface="Calibri"/>
                <a:sym typeface="Calibri"/>
              </a:rPr>
              <a:t> yet </a:t>
            </a:r>
            <a:endParaRPr b="0" i="0" sz="1015" u="none" cap="none" strike="noStrike">
              <a:solidFill>
                <a:schemeClr val="dk1"/>
              </a:solidFill>
              <a:latin typeface="Calibri"/>
              <a:ea typeface="Calibri"/>
              <a:cs typeface="Calibri"/>
              <a:sym typeface="Calibri"/>
            </a:endParaRPr>
          </a:p>
        </p:txBody>
      </p:sp>
      <p:sp>
        <p:nvSpPr>
          <p:cNvPr id="247" name="Google Shape;247;p28"/>
          <p:cNvSpPr/>
          <p:nvPr/>
        </p:nvSpPr>
        <p:spPr>
          <a:xfrm>
            <a:off x="652882" y="1567282"/>
            <a:ext cx="7838237" cy="38496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semester’s implementation was executed inside the content stream of the project spotlight for HAAG. The Faces of HAAG template and its post-feedback process were built, but no draft was written or run through the process this semester.</a:t>
            </a:r>
            <a:endParaRPr b="0" i="0" sz="940" u="none" cap="none" strike="noStrike">
              <a:solidFill>
                <a:schemeClr val="dk1"/>
              </a:solidFill>
              <a:latin typeface="Calibri"/>
              <a:ea typeface="Calibri"/>
              <a:cs typeface="Calibri"/>
              <a:sym typeface="Calibri"/>
            </a:endParaRPr>
          </a:p>
        </p:txBody>
      </p:sp>
      <p:sp>
        <p:nvSpPr>
          <p:cNvPr id="248" name="Google Shape;248;p28"/>
          <p:cNvSpPr/>
          <p:nvPr/>
        </p:nvSpPr>
        <p:spPr>
          <a:xfrm>
            <a:off x="447142" y="2200046"/>
            <a:ext cx="8250631" cy="721462"/>
          </a:xfrm>
          <a:prstGeom prst="roundRect">
            <a:avLst>
              <a:gd fmla="val 4816"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8"/>
          <p:cNvSpPr/>
          <p:nvPr/>
        </p:nvSpPr>
        <p:spPr>
          <a:xfrm>
            <a:off x="653345" y="2303378"/>
            <a:ext cx="7838100" cy="19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What this means for effectiveness</a:t>
            </a:r>
            <a:endParaRPr b="0" i="0" sz="1015" u="none" cap="none" strike="noStrike">
              <a:solidFill>
                <a:schemeClr val="dk1"/>
              </a:solidFill>
              <a:latin typeface="Calibri"/>
              <a:ea typeface="Calibri"/>
              <a:cs typeface="Calibri"/>
              <a:sym typeface="Calibri"/>
            </a:endParaRPr>
          </a:p>
        </p:txBody>
      </p:sp>
      <p:sp>
        <p:nvSpPr>
          <p:cNvPr id="250" name="Google Shape;250;p28"/>
          <p:cNvSpPr/>
          <p:nvPr/>
        </p:nvSpPr>
        <p:spPr>
          <a:xfrm>
            <a:off x="652882" y="2585009"/>
            <a:ext cx="7838237" cy="213055"/>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Because the procedure has not been tested from start to finish, determining the overall effectiveness of this procedure is unauthenticated.</a:t>
            </a:r>
            <a:endParaRPr b="0" i="0" sz="940" u="none" cap="none" strike="noStrike">
              <a:solidFill>
                <a:schemeClr val="dk1"/>
              </a:solidFill>
              <a:latin typeface="Calibri"/>
              <a:ea typeface="Calibri"/>
              <a:cs typeface="Calibri"/>
              <a:sym typeface="Calibri"/>
            </a:endParaRPr>
          </a:p>
        </p:txBody>
      </p:sp>
      <p:sp>
        <p:nvSpPr>
          <p:cNvPr id="251" name="Google Shape;251;p28"/>
          <p:cNvSpPr/>
          <p:nvPr/>
        </p:nvSpPr>
        <p:spPr>
          <a:xfrm>
            <a:off x="447142" y="3038551"/>
            <a:ext cx="8250631"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Next steps for future HAAG members</a:t>
            </a:r>
            <a:endParaRPr b="0" i="0" sz="1015" u="none" cap="none" strike="noStrike">
              <a:solidFill>
                <a:schemeClr val="dk1"/>
              </a:solidFill>
              <a:latin typeface="Calibri"/>
              <a:ea typeface="Calibri"/>
              <a:cs typeface="Calibri"/>
              <a:sym typeface="Calibri"/>
            </a:endParaRPr>
          </a:p>
        </p:txBody>
      </p:sp>
      <p:sp>
        <p:nvSpPr>
          <p:cNvPr id="252" name="Google Shape;252;p28"/>
          <p:cNvSpPr/>
          <p:nvPr/>
        </p:nvSpPr>
        <p:spPr>
          <a:xfrm>
            <a:off x="447142" y="3300070"/>
            <a:ext cx="8250631" cy="1457554"/>
          </a:xfrm>
          <a:prstGeom prst="roundRect">
            <a:avLst>
              <a:gd fmla="val 2384"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8"/>
          <p:cNvSpPr/>
          <p:nvPr/>
        </p:nvSpPr>
        <p:spPr>
          <a:xfrm>
            <a:off x="652882" y="3451860"/>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8"/>
          <p:cNvSpPr/>
          <p:nvPr/>
        </p:nvSpPr>
        <p:spPr>
          <a:xfrm>
            <a:off x="652882" y="3451860"/>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1</a:t>
            </a:r>
            <a:endParaRPr b="0" i="0" sz="1128" u="none" cap="none" strike="noStrike">
              <a:solidFill>
                <a:schemeClr val="dk1"/>
              </a:solidFill>
              <a:latin typeface="Calibri"/>
              <a:ea typeface="Calibri"/>
              <a:cs typeface="Calibri"/>
              <a:sym typeface="Calibri"/>
            </a:endParaRPr>
          </a:p>
        </p:txBody>
      </p:sp>
      <p:sp>
        <p:nvSpPr>
          <p:cNvPr id="255" name="Google Shape;255;p28"/>
          <p:cNvSpPr/>
          <p:nvPr/>
        </p:nvSpPr>
        <p:spPr>
          <a:xfrm>
            <a:off x="1154887" y="3438144"/>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Run the first Faces of HAAG draft</a:t>
            </a:r>
            <a:endParaRPr b="0" i="0" sz="1090" u="none" cap="none" strike="noStrike">
              <a:solidFill>
                <a:schemeClr val="dk1"/>
              </a:solidFill>
              <a:latin typeface="Calibri"/>
              <a:ea typeface="Calibri"/>
              <a:cs typeface="Calibri"/>
              <a:sym typeface="Calibri"/>
            </a:endParaRPr>
          </a:p>
        </p:txBody>
      </p:sp>
      <p:sp>
        <p:nvSpPr>
          <p:cNvPr id="256" name="Google Shape;256;p28"/>
          <p:cNvSpPr/>
          <p:nvPr/>
        </p:nvSpPr>
        <p:spPr>
          <a:xfrm>
            <a:off x="1154887" y="3657600"/>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Plans to implement the next drafts of the faces of HAAG stream contents across a fully revised procedure, and test whether the drafts get feedback within 48 hours.</a:t>
            </a:r>
            <a:endParaRPr b="0" i="0" sz="978" u="none" cap="none" strike="noStrike">
              <a:solidFill>
                <a:schemeClr val="dk1"/>
              </a:solidFill>
              <a:latin typeface="Calibri"/>
              <a:ea typeface="Calibri"/>
              <a:cs typeface="Calibri"/>
              <a:sym typeface="Calibri"/>
            </a:endParaRPr>
          </a:p>
        </p:txBody>
      </p:sp>
      <p:sp>
        <p:nvSpPr>
          <p:cNvPr id="257" name="Google Shape;257;p28"/>
          <p:cNvSpPr/>
          <p:nvPr/>
        </p:nvSpPr>
        <p:spPr>
          <a:xfrm>
            <a:off x="652882" y="4083710"/>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8"/>
          <p:cNvSpPr/>
          <p:nvPr/>
        </p:nvSpPr>
        <p:spPr>
          <a:xfrm>
            <a:off x="652882" y="4083710"/>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2</a:t>
            </a:r>
            <a:endParaRPr b="0" i="0" sz="1128" u="none" cap="none" strike="noStrike">
              <a:solidFill>
                <a:schemeClr val="dk1"/>
              </a:solidFill>
              <a:latin typeface="Calibri"/>
              <a:ea typeface="Calibri"/>
              <a:cs typeface="Calibri"/>
              <a:sym typeface="Calibri"/>
            </a:endParaRPr>
          </a:p>
        </p:txBody>
      </p:sp>
      <p:sp>
        <p:nvSpPr>
          <p:cNvPr id="259" name="Google Shape;259;p28"/>
          <p:cNvSpPr/>
          <p:nvPr/>
        </p:nvSpPr>
        <p:spPr>
          <a:xfrm>
            <a:off x="1154887" y="4069994"/>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Build the candidate list</a:t>
            </a:r>
            <a:endParaRPr b="0" i="0" sz="1090" u="none" cap="none" strike="noStrike">
              <a:solidFill>
                <a:schemeClr val="dk1"/>
              </a:solidFill>
              <a:latin typeface="Calibri"/>
              <a:ea typeface="Calibri"/>
              <a:cs typeface="Calibri"/>
              <a:sym typeface="Calibri"/>
            </a:endParaRPr>
          </a:p>
        </p:txBody>
      </p:sp>
      <p:sp>
        <p:nvSpPr>
          <p:cNvPr id="260" name="Google Shape;260;p28"/>
          <p:cNvSpPr/>
          <p:nvPr/>
        </p:nvSpPr>
        <p:spPr>
          <a:xfrm>
            <a:off x="1154887" y="4290365"/>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Preserve an ongoing list of future candidates to have a sustainable content pipeline, along with keeping track of who has already been spotlighted or opted in or out.</a:t>
            </a:r>
            <a:endParaRPr b="0" i="0" sz="978" u="none" cap="none" strike="noStrike">
              <a:solidFill>
                <a:schemeClr val="dk1"/>
              </a:solidFill>
              <a:latin typeface="Calibri"/>
              <a:ea typeface="Calibri"/>
              <a:cs typeface="Calibri"/>
              <a:sym typeface="Calibri"/>
            </a:endParaRPr>
          </a:p>
        </p:txBody>
      </p:sp>
      <p:sp>
        <p:nvSpPr>
          <p:cNvPr id="261" name="Google Shape;261;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266" name="Shape 266"/>
        <p:cNvGrpSpPr/>
        <p:nvPr/>
      </p:nvGrpSpPr>
      <p:grpSpPr>
        <a:xfrm>
          <a:off x="0" y="0"/>
          <a:ext cx="0" cy="0"/>
          <a:chOff x="0" y="0"/>
          <a:chExt cx="0" cy="0"/>
        </a:xfrm>
      </p:grpSpPr>
      <p:sp>
        <p:nvSpPr>
          <p:cNvPr id="267" name="Google Shape;267;p29"/>
          <p:cNvSpPr/>
          <p:nvPr/>
        </p:nvSpPr>
        <p:spPr>
          <a:xfrm>
            <a:off x="7700162" y="-962863"/>
            <a:ext cx="2750515" cy="2750515"/>
          </a:xfrm>
          <a:prstGeom prst="ellipse">
            <a:avLst/>
          </a:prstGeom>
          <a:solidFill>
            <a:srgbClr val="0A3D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9"/>
          <p:cNvSpPr/>
          <p:nvPr/>
        </p:nvSpPr>
        <p:spPr>
          <a:xfrm>
            <a:off x="-687629" y="3643884"/>
            <a:ext cx="2062886" cy="2062886"/>
          </a:xfrm>
          <a:prstGeom prst="ellipse">
            <a:avLst/>
          </a:prstGeom>
          <a:solidFill>
            <a:srgbClr val="0A3D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9"/>
          <p:cNvSpPr/>
          <p:nvPr/>
        </p:nvSpPr>
        <p:spPr>
          <a:xfrm>
            <a:off x="619049" y="1650492"/>
            <a:ext cx="1031443" cy="68762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4211"/>
              <a:buFont typeface="Cambria"/>
              <a:buNone/>
            </a:pPr>
            <a:r>
              <a:rPr b="1" i="0" lang="en" sz="4211" u="none" cap="none" strike="noStrike">
                <a:solidFill>
                  <a:srgbClr val="B3A369"/>
                </a:solidFill>
                <a:latin typeface="Cambria"/>
                <a:ea typeface="Cambria"/>
                <a:cs typeface="Cambria"/>
                <a:sym typeface="Cambria"/>
              </a:rPr>
              <a:t>0</a:t>
            </a:r>
            <a:r>
              <a:rPr b="1" lang="en" sz="4211">
                <a:solidFill>
                  <a:srgbClr val="B3A369"/>
                </a:solidFill>
                <a:latin typeface="Cambria"/>
                <a:ea typeface="Cambria"/>
                <a:cs typeface="Cambria"/>
                <a:sym typeface="Cambria"/>
              </a:rPr>
              <a:t>2</a:t>
            </a:r>
            <a:endParaRPr b="0" i="0" sz="4211" u="none" cap="none" strike="noStrike">
              <a:solidFill>
                <a:schemeClr val="dk1"/>
              </a:solidFill>
              <a:latin typeface="Calibri"/>
              <a:ea typeface="Calibri"/>
              <a:cs typeface="Calibri"/>
              <a:sym typeface="Calibri"/>
            </a:endParaRPr>
          </a:p>
        </p:txBody>
      </p:sp>
      <p:sp>
        <p:nvSpPr>
          <p:cNvPr id="270" name="Google Shape;270;p29"/>
          <p:cNvSpPr/>
          <p:nvPr/>
        </p:nvSpPr>
        <p:spPr>
          <a:xfrm>
            <a:off x="1719072" y="1787652"/>
            <a:ext cx="6600139" cy="51572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57"/>
              <a:buFont typeface="Cambria"/>
              <a:buNone/>
            </a:pPr>
            <a:r>
              <a:rPr b="1" i="0" lang="en" sz="2557" u="none" cap="none" strike="noStrike">
                <a:solidFill>
                  <a:srgbClr val="FFFFFF"/>
                </a:solidFill>
                <a:latin typeface="Cambria"/>
                <a:ea typeface="Cambria"/>
                <a:cs typeface="Cambria"/>
                <a:sym typeface="Cambria"/>
              </a:rPr>
              <a:t>Project Spotlight</a:t>
            </a:r>
            <a:endParaRPr b="0" i="0" sz="2557" u="none" cap="none" strike="noStrike">
              <a:solidFill>
                <a:schemeClr val="dk1"/>
              </a:solidFill>
              <a:latin typeface="Calibri"/>
              <a:ea typeface="Calibri"/>
              <a:cs typeface="Calibri"/>
              <a:sym typeface="Calibri"/>
            </a:endParaRPr>
          </a:p>
        </p:txBody>
      </p:sp>
      <p:sp>
        <p:nvSpPr>
          <p:cNvPr id="271" name="Google Shape;271;p29"/>
          <p:cNvSpPr/>
          <p:nvPr/>
        </p:nvSpPr>
        <p:spPr>
          <a:xfrm>
            <a:off x="1752905" y="2337206"/>
            <a:ext cx="6531559" cy="27523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1128"/>
              <a:buFont typeface="Calibri"/>
              <a:buNone/>
            </a:pPr>
            <a:r>
              <a:rPr b="0" i="0" lang="en" sz="1128" u="none" cap="none" strike="noStrike">
                <a:solidFill>
                  <a:srgbClr val="B3A369"/>
                </a:solidFill>
                <a:latin typeface="Calibri"/>
                <a:ea typeface="Calibri"/>
                <a:cs typeface="Calibri"/>
                <a:sym typeface="Calibri"/>
              </a:rPr>
              <a:t>Procedure, implementation, outcomes and reflection</a:t>
            </a:r>
            <a:endParaRPr b="0" i="0" sz="1128" u="none" cap="none" strike="noStrike">
              <a:solidFill>
                <a:schemeClr val="dk1"/>
              </a:solidFill>
              <a:latin typeface="Calibri"/>
              <a:ea typeface="Calibri"/>
              <a:cs typeface="Calibri"/>
              <a:sym typeface="Calibri"/>
            </a:endParaRPr>
          </a:p>
        </p:txBody>
      </p:sp>
      <p:sp>
        <p:nvSpPr>
          <p:cNvPr id="272" name="Google Shape;272;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PROCEDURE DEVELOPMENT</a:t>
            </a:r>
            <a:endParaRPr b="0" i="0" sz="827" u="none" cap="none" strike="noStrike">
              <a:solidFill>
                <a:schemeClr val="dk1"/>
              </a:solidFill>
              <a:latin typeface="Calibri"/>
              <a:ea typeface="Calibri"/>
              <a:cs typeface="Calibri"/>
              <a:sym typeface="Calibri"/>
            </a:endParaRPr>
          </a:p>
        </p:txBody>
      </p:sp>
      <p:sp>
        <p:nvSpPr>
          <p:cNvPr id="279" name="Google Shape;279;p30"/>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Procedure — The Standard Pipeline</a:t>
            </a:r>
            <a:endParaRPr b="0" i="0" sz="2030" u="none" cap="none" strike="noStrike">
              <a:solidFill>
                <a:schemeClr val="dk1"/>
              </a:solidFill>
              <a:latin typeface="Calibri"/>
              <a:ea typeface="Calibri"/>
              <a:cs typeface="Calibri"/>
              <a:sym typeface="Calibri"/>
            </a:endParaRPr>
          </a:p>
        </p:txBody>
      </p:sp>
      <p:sp>
        <p:nvSpPr>
          <p:cNvPr id="280" name="Google Shape;280;p30"/>
          <p:cNvSpPr/>
          <p:nvPr/>
        </p:nvSpPr>
        <p:spPr>
          <a:xfrm>
            <a:off x="447142" y="1182319"/>
            <a:ext cx="8250631" cy="790956"/>
          </a:xfrm>
          <a:prstGeom prst="roundRect">
            <a:avLst>
              <a:gd fmla="val 4393"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0"/>
          <p:cNvSpPr/>
          <p:nvPr/>
        </p:nvSpPr>
        <p:spPr>
          <a:xfrm>
            <a:off x="652882" y="1306678"/>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Why this procedure exists</a:t>
            </a:r>
            <a:endParaRPr b="0" i="0" sz="1015" u="none" cap="none" strike="noStrike">
              <a:solidFill>
                <a:schemeClr val="dk1"/>
              </a:solidFill>
              <a:latin typeface="Calibri"/>
              <a:ea typeface="Calibri"/>
              <a:cs typeface="Calibri"/>
              <a:sym typeface="Calibri"/>
            </a:endParaRPr>
          </a:p>
        </p:txBody>
      </p:sp>
      <p:sp>
        <p:nvSpPr>
          <p:cNvPr id="282" name="Google Shape;282;p30"/>
          <p:cNvSpPr/>
          <p:nvPr/>
        </p:nvSpPr>
        <p:spPr>
          <a:xfrm>
            <a:off x="652882" y="1567282"/>
            <a:ext cx="7838237" cy="281635"/>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objective of the Project Spotlight document is to act as a template and provide guidelines for generating a “Project Spotlight” post on LinkedIn for the HAAG organization.</a:t>
            </a:r>
            <a:endParaRPr b="0" i="0" sz="940" u="none" cap="none" strike="noStrike">
              <a:solidFill>
                <a:schemeClr val="dk1"/>
              </a:solidFill>
              <a:latin typeface="Calibri"/>
              <a:ea typeface="Calibri"/>
              <a:cs typeface="Calibri"/>
              <a:sym typeface="Calibri"/>
            </a:endParaRPr>
          </a:p>
        </p:txBody>
      </p:sp>
      <p:sp>
        <p:nvSpPr>
          <p:cNvPr id="283" name="Google Shape;283;p30"/>
          <p:cNvSpPr/>
          <p:nvPr/>
        </p:nvSpPr>
        <p:spPr>
          <a:xfrm>
            <a:off x="447142" y="2035454"/>
            <a:ext cx="8250631" cy="24048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14"/>
              <a:buFont typeface="Calibri"/>
              <a:buNone/>
            </a:pPr>
            <a:r>
              <a:rPr b="0" i="0" lang="en" sz="1015" u="none" cap="none" strike="noStrike">
                <a:solidFill>
                  <a:srgbClr val="6B6B6B"/>
                </a:solidFill>
                <a:latin typeface="Calibri"/>
                <a:ea typeface="Calibri"/>
                <a:cs typeface="Calibri"/>
                <a:sym typeface="Calibri"/>
              </a:rPr>
              <a:t>Our pipeline has four phases for the project spotlight: Sourcing, Content Collection, Translation, and Promotion.</a:t>
            </a:r>
            <a:endParaRPr b="0" i="0" sz="1015" u="none" cap="none" strike="noStrike">
              <a:solidFill>
                <a:schemeClr val="dk1"/>
              </a:solidFill>
              <a:latin typeface="Calibri"/>
              <a:ea typeface="Calibri"/>
              <a:cs typeface="Calibri"/>
              <a:sym typeface="Calibri"/>
            </a:endParaRPr>
          </a:p>
        </p:txBody>
      </p:sp>
      <p:sp>
        <p:nvSpPr>
          <p:cNvPr id="284" name="Google Shape;284;p30"/>
          <p:cNvSpPr/>
          <p:nvPr/>
        </p:nvSpPr>
        <p:spPr>
          <a:xfrm>
            <a:off x="447142" y="2323490"/>
            <a:ext cx="8250631" cy="2008022"/>
          </a:xfrm>
          <a:prstGeom prst="roundRect">
            <a:avLst>
              <a:gd fmla="val 1730"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0"/>
          <p:cNvSpPr/>
          <p:nvPr/>
        </p:nvSpPr>
        <p:spPr>
          <a:xfrm>
            <a:off x="652882" y="2475281"/>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0"/>
          <p:cNvSpPr/>
          <p:nvPr/>
        </p:nvSpPr>
        <p:spPr>
          <a:xfrm>
            <a:off x="652882" y="2475281"/>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1</a:t>
            </a:r>
            <a:endParaRPr b="0" i="0" sz="1128" u="none" cap="none" strike="noStrike">
              <a:solidFill>
                <a:schemeClr val="dk1"/>
              </a:solidFill>
              <a:latin typeface="Calibri"/>
              <a:ea typeface="Calibri"/>
              <a:cs typeface="Calibri"/>
              <a:sym typeface="Calibri"/>
            </a:endParaRPr>
          </a:p>
        </p:txBody>
      </p:sp>
      <p:sp>
        <p:nvSpPr>
          <p:cNvPr id="287" name="Google Shape;287;p30"/>
          <p:cNvSpPr/>
          <p:nvPr/>
        </p:nvSpPr>
        <p:spPr>
          <a:xfrm>
            <a:off x="1154887" y="2461565"/>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Sourcing</a:t>
            </a:r>
            <a:endParaRPr b="0" i="0" sz="1090" u="none" cap="none" strike="noStrike">
              <a:solidFill>
                <a:schemeClr val="dk1"/>
              </a:solidFill>
              <a:latin typeface="Calibri"/>
              <a:ea typeface="Calibri"/>
              <a:cs typeface="Calibri"/>
              <a:sym typeface="Calibri"/>
            </a:endParaRPr>
          </a:p>
        </p:txBody>
      </p:sp>
      <p:sp>
        <p:nvSpPr>
          <p:cNvPr id="288" name="Google Shape;288;p30"/>
          <p:cNvSpPr/>
          <p:nvPr/>
        </p:nvSpPr>
        <p:spPr>
          <a:xfrm>
            <a:off x="1154887" y="2681021"/>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Selection of a project or person within the HAAG organization.</a:t>
            </a:r>
            <a:endParaRPr b="0" i="0" sz="978" u="none" cap="none" strike="noStrike">
              <a:solidFill>
                <a:schemeClr val="dk1"/>
              </a:solidFill>
              <a:latin typeface="Calibri"/>
              <a:ea typeface="Calibri"/>
              <a:cs typeface="Calibri"/>
              <a:sym typeface="Calibri"/>
            </a:endParaRPr>
          </a:p>
        </p:txBody>
      </p:sp>
      <p:sp>
        <p:nvSpPr>
          <p:cNvPr id="289" name="Google Shape;289;p30"/>
          <p:cNvSpPr/>
          <p:nvPr/>
        </p:nvSpPr>
        <p:spPr>
          <a:xfrm>
            <a:off x="652882" y="2928823"/>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0"/>
          <p:cNvSpPr/>
          <p:nvPr/>
        </p:nvSpPr>
        <p:spPr>
          <a:xfrm>
            <a:off x="652882" y="2928823"/>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2</a:t>
            </a:r>
            <a:endParaRPr b="0" i="0" sz="1128" u="none" cap="none" strike="noStrike">
              <a:solidFill>
                <a:schemeClr val="dk1"/>
              </a:solidFill>
              <a:latin typeface="Calibri"/>
              <a:ea typeface="Calibri"/>
              <a:cs typeface="Calibri"/>
              <a:sym typeface="Calibri"/>
            </a:endParaRPr>
          </a:p>
        </p:txBody>
      </p:sp>
      <p:sp>
        <p:nvSpPr>
          <p:cNvPr id="291" name="Google Shape;291;p30"/>
          <p:cNvSpPr/>
          <p:nvPr/>
        </p:nvSpPr>
        <p:spPr>
          <a:xfrm>
            <a:off x="1154887" y="2915107"/>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Content Collection</a:t>
            </a:r>
            <a:endParaRPr b="0" i="0" sz="1090" u="none" cap="none" strike="noStrike">
              <a:solidFill>
                <a:schemeClr val="dk1"/>
              </a:solidFill>
              <a:latin typeface="Calibri"/>
              <a:ea typeface="Calibri"/>
              <a:cs typeface="Calibri"/>
              <a:sym typeface="Calibri"/>
            </a:endParaRPr>
          </a:p>
        </p:txBody>
      </p:sp>
      <p:sp>
        <p:nvSpPr>
          <p:cNvPr id="292" name="Google Shape;292;p30"/>
          <p:cNvSpPr/>
          <p:nvPr/>
        </p:nvSpPr>
        <p:spPr>
          <a:xfrm>
            <a:off x="1154887" y="3135478"/>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Perform outreach and do a short Q&amp;A session.</a:t>
            </a:r>
            <a:endParaRPr b="0" i="0" sz="978" u="none" cap="none" strike="noStrike">
              <a:solidFill>
                <a:schemeClr val="dk1"/>
              </a:solidFill>
              <a:latin typeface="Calibri"/>
              <a:ea typeface="Calibri"/>
              <a:cs typeface="Calibri"/>
              <a:sym typeface="Calibri"/>
            </a:endParaRPr>
          </a:p>
        </p:txBody>
      </p:sp>
      <p:sp>
        <p:nvSpPr>
          <p:cNvPr id="293" name="Google Shape;293;p30"/>
          <p:cNvSpPr/>
          <p:nvPr/>
        </p:nvSpPr>
        <p:spPr>
          <a:xfrm>
            <a:off x="652882" y="3382366"/>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0"/>
          <p:cNvSpPr/>
          <p:nvPr/>
        </p:nvSpPr>
        <p:spPr>
          <a:xfrm>
            <a:off x="652882" y="3382366"/>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3</a:t>
            </a:r>
            <a:endParaRPr b="0" i="0" sz="1128" u="none" cap="none" strike="noStrike">
              <a:solidFill>
                <a:schemeClr val="dk1"/>
              </a:solidFill>
              <a:latin typeface="Calibri"/>
              <a:ea typeface="Calibri"/>
              <a:cs typeface="Calibri"/>
              <a:sym typeface="Calibri"/>
            </a:endParaRPr>
          </a:p>
        </p:txBody>
      </p:sp>
      <p:sp>
        <p:nvSpPr>
          <p:cNvPr id="295" name="Google Shape;295;p30"/>
          <p:cNvSpPr/>
          <p:nvPr/>
        </p:nvSpPr>
        <p:spPr>
          <a:xfrm>
            <a:off x="1154887" y="3368650"/>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Translation</a:t>
            </a:r>
            <a:endParaRPr b="0" i="0" sz="1090" u="none" cap="none" strike="noStrike">
              <a:solidFill>
                <a:schemeClr val="dk1"/>
              </a:solidFill>
              <a:latin typeface="Calibri"/>
              <a:ea typeface="Calibri"/>
              <a:cs typeface="Calibri"/>
              <a:sym typeface="Calibri"/>
            </a:endParaRPr>
          </a:p>
        </p:txBody>
      </p:sp>
      <p:sp>
        <p:nvSpPr>
          <p:cNvPr id="296" name="Google Shape;296;p30"/>
          <p:cNvSpPr/>
          <p:nvPr/>
        </p:nvSpPr>
        <p:spPr>
          <a:xfrm>
            <a:off x="1154887" y="3589020"/>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Translate the answers from the Q&amp;A session into a LinkedIn post.</a:t>
            </a:r>
            <a:endParaRPr b="0" i="0" sz="978" u="none" cap="none" strike="noStrike">
              <a:solidFill>
                <a:schemeClr val="dk1"/>
              </a:solidFill>
              <a:latin typeface="Calibri"/>
              <a:ea typeface="Calibri"/>
              <a:cs typeface="Calibri"/>
              <a:sym typeface="Calibri"/>
            </a:endParaRPr>
          </a:p>
        </p:txBody>
      </p:sp>
      <p:sp>
        <p:nvSpPr>
          <p:cNvPr id="297" name="Google Shape;297;p30"/>
          <p:cNvSpPr/>
          <p:nvPr/>
        </p:nvSpPr>
        <p:spPr>
          <a:xfrm>
            <a:off x="652882" y="3836822"/>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0"/>
          <p:cNvSpPr/>
          <p:nvPr/>
        </p:nvSpPr>
        <p:spPr>
          <a:xfrm>
            <a:off x="652882" y="3836822"/>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4</a:t>
            </a:r>
            <a:endParaRPr b="0" i="0" sz="1128" u="none" cap="none" strike="noStrike">
              <a:solidFill>
                <a:schemeClr val="dk1"/>
              </a:solidFill>
              <a:latin typeface="Calibri"/>
              <a:ea typeface="Calibri"/>
              <a:cs typeface="Calibri"/>
              <a:sym typeface="Calibri"/>
            </a:endParaRPr>
          </a:p>
        </p:txBody>
      </p:sp>
      <p:sp>
        <p:nvSpPr>
          <p:cNvPr id="299" name="Google Shape;299;p30"/>
          <p:cNvSpPr/>
          <p:nvPr/>
        </p:nvSpPr>
        <p:spPr>
          <a:xfrm>
            <a:off x="1154887" y="3823106"/>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Promotion</a:t>
            </a:r>
            <a:endParaRPr b="0" i="0" sz="1090" u="none" cap="none" strike="noStrike">
              <a:solidFill>
                <a:schemeClr val="dk1"/>
              </a:solidFill>
              <a:latin typeface="Calibri"/>
              <a:ea typeface="Calibri"/>
              <a:cs typeface="Calibri"/>
              <a:sym typeface="Calibri"/>
            </a:endParaRPr>
          </a:p>
        </p:txBody>
      </p:sp>
      <p:sp>
        <p:nvSpPr>
          <p:cNvPr id="300" name="Google Shape;300;p30"/>
          <p:cNvSpPr/>
          <p:nvPr/>
        </p:nvSpPr>
        <p:spPr>
          <a:xfrm>
            <a:off x="1154887" y="4042562"/>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Publish the post, tag it, and do a follow-up.</a:t>
            </a:r>
            <a:endParaRPr b="0" i="0" sz="978" u="none" cap="none" strike="noStrike">
              <a:solidFill>
                <a:schemeClr val="dk1"/>
              </a:solidFill>
              <a:latin typeface="Calibri"/>
              <a:ea typeface="Calibri"/>
              <a:cs typeface="Calibri"/>
              <a:sym typeface="Calibri"/>
            </a:endParaRPr>
          </a:p>
        </p:txBody>
      </p:sp>
      <p:sp>
        <p:nvSpPr>
          <p:cNvPr id="301" name="Google Shape;301;p30"/>
          <p:cNvSpPr/>
          <p:nvPr/>
        </p:nvSpPr>
        <p:spPr>
          <a:xfrm>
            <a:off x="447142" y="4366260"/>
            <a:ext cx="8250631" cy="494690"/>
          </a:xfrm>
          <a:prstGeom prst="roundRect">
            <a:avLst>
              <a:gd fmla="val 7024"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
          <p:cNvSpPr/>
          <p:nvPr/>
        </p:nvSpPr>
        <p:spPr>
          <a:xfrm>
            <a:off x="673913" y="4366260"/>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939"/>
              <a:buFont typeface="Calibri"/>
              <a:buNone/>
            </a:pPr>
            <a:r>
              <a:rPr b="0" i="1" lang="en" sz="940" u="none" cap="none" strike="noStrike">
                <a:solidFill>
                  <a:srgbClr val="003057"/>
                </a:solidFill>
                <a:latin typeface="Calibri"/>
                <a:ea typeface="Calibri"/>
                <a:cs typeface="Calibri"/>
                <a:sym typeface="Calibri"/>
              </a:rPr>
              <a:t>Before the LinkedIn post gets published, there must be someone other than the writer of the post who will check the tags and accuracy of the post.</a:t>
            </a:r>
            <a:endParaRPr b="0" i="0" sz="940" u="none" cap="none" strike="noStrike">
              <a:solidFill>
                <a:schemeClr val="dk1"/>
              </a:solidFill>
              <a:latin typeface="Calibri"/>
              <a:ea typeface="Calibri"/>
              <a:cs typeface="Calibri"/>
              <a:sym typeface="Calibri"/>
            </a:endParaRPr>
          </a:p>
        </p:txBody>
      </p:sp>
      <p:sp>
        <p:nvSpPr>
          <p:cNvPr id="303" name="Google Shape;303;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1"/>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PROCEDURE DEVELOPMENT</a:t>
            </a:r>
            <a:endParaRPr b="0" i="0" sz="827" u="none" cap="none" strike="noStrike">
              <a:solidFill>
                <a:schemeClr val="dk1"/>
              </a:solidFill>
              <a:latin typeface="Calibri"/>
              <a:ea typeface="Calibri"/>
              <a:cs typeface="Calibri"/>
              <a:sym typeface="Calibri"/>
            </a:endParaRPr>
          </a:p>
        </p:txBody>
      </p:sp>
      <p:sp>
        <p:nvSpPr>
          <p:cNvPr id="310" name="Google Shape;310;p31"/>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Phase 1 — Sourcing </a:t>
            </a:r>
            <a:endParaRPr b="0" i="0" sz="2030" u="none" cap="none" strike="noStrike">
              <a:solidFill>
                <a:schemeClr val="dk1"/>
              </a:solidFill>
              <a:latin typeface="Calibri"/>
              <a:ea typeface="Calibri"/>
              <a:cs typeface="Calibri"/>
              <a:sym typeface="Calibri"/>
            </a:endParaRPr>
          </a:p>
        </p:txBody>
      </p:sp>
      <p:sp>
        <p:nvSpPr>
          <p:cNvPr id="311" name="Google Shape;311;p31"/>
          <p:cNvSpPr/>
          <p:nvPr/>
        </p:nvSpPr>
        <p:spPr>
          <a:xfrm>
            <a:off x="447142" y="1203350"/>
            <a:ext cx="8250631" cy="1615745"/>
          </a:xfrm>
          <a:prstGeom prst="roundRect">
            <a:avLst>
              <a:gd fmla="val 2151"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1"/>
          <p:cNvSpPr/>
          <p:nvPr/>
        </p:nvSpPr>
        <p:spPr>
          <a:xfrm>
            <a:off x="652882" y="1326794"/>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How to source a project</a:t>
            </a:r>
            <a:endParaRPr b="0" i="0" sz="1015" u="none" cap="none" strike="noStrike">
              <a:solidFill>
                <a:schemeClr val="dk1"/>
              </a:solidFill>
              <a:latin typeface="Calibri"/>
              <a:ea typeface="Calibri"/>
              <a:cs typeface="Calibri"/>
              <a:sym typeface="Calibri"/>
            </a:endParaRPr>
          </a:p>
        </p:txBody>
      </p:sp>
      <p:sp>
        <p:nvSpPr>
          <p:cNvPr id="313" name="Google Shape;313;p31"/>
          <p:cNvSpPr/>
          <p:nvPr/>
        </p:nvSpPr>
        <p:spPr>
          <a:xfrm>
            <a:off x="652882" y="1588313"/>
            <a:ext cx="7838237" cy="1107338"/>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Curate a project within the HAAG organization that has recently achieved a milestone or has accumulated momentum. Aim to target experienced faculty, researchers, and advisers, etc. who are part of that specific project. This is so that they can give answers and provide details about the project.</a:t>
            </a:r>
            <a:endParaRPr b="0" i="0" sz="94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940"/>
              <a:buFont typeface="Calibri"/>
              <a:buNone/>
            </a:pPr>
            <a:r>
              <a:t/>
            </a:r>
            <a:endParaRPr b="0" i="0" sz="940" u="none" cap="none" strike="noStrike">
              <a:solidFill>
                <a:schemeClr val="dk1"/>
              </a:solidFill>
              <a:latin typeface="Calibri"/>
              <a:ea typeface="Calibri"/>
              <a:cs typeface="Calibri"/>
              <a:sym typeface="Calibri"/>
            </a:endParaRPr>
          </a:p>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Finally, also preserve an ongoing list of future projects and candidates to have a sustainable content pipeline, along with keeping track of who and which project has already been spotlighted or opted in or out.</a:t>
            </a:r>
            <a:endParaRPr b="0" i="0" sz="940" u="none" cap="none" strike="noStrike">
              <a:solidFill>
                <a:schemeClr val="dk1"/>
              </a:solidFill>
              <a:latin typeface="Calibri"/>
              <a:ea typeface="Calibri"/>
              <a:cs typeface="Calibri"/>
              <a:sym typeface="Calibri"/>
            </a:endParaRPr>
          </a:p>
        </p:txBody>
      </p:sp>
      <p:sp>
        <p:nvSpPr>
          <p:cNvPr id="314" name="Google Shape;314;p31"/>
          <p:cNvSpPr/>
          <p:nvPr/>
        </p:nvSpPr>
        <p:spPr>
          <a:xfrm>
            <a:off x="447142" y="2991002"/>
            <a:ext cx="8250631" cy="1512418"/>
          </a:xfrm>
          <a:prstGeom prst="roundRect">
            <a:avLst>
              <a:gd fmla="val 2297"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1"/>
          <p:cNvSpPr/>
          <p:nvPr/>
        </p:nvSpPr>
        <p:spPr>
          <a:xfrm>
            <a:off x="652882" y="3114446"/>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Fill In the blanks — Candidate / Project Selected</a:t>
            </a:r>
            <a:endParaRPr b="0" i="0" sz="1015" u="none" cap="none" strike="noStrike">
              <a:solidFill>
                <a:schemeClr val="dk1"/>
              </a:solidFill>
              <a:latin typeface="Calibri"/>
              <a:ea typeface="Calibri"/>
              <a:cs typeface="Calibri"/>
              <a:sym typeface="Calibri"/>
            </a:endParaRPr>
          </a:p>
        </p:txBody>
      </p:sp>
      <p:sp>
        <p:nvSpPr>
          <p:cNvPr id="316" name="Google Shape;316;p31"/>
          <p:cNvSpPr/>
          <p:nvPr/>
        </p:nvSpPr>
        <p:spPr>
          <a:xfrm>
            <a:off x="652882" y="3375965"/>
            <a:ext cx="7838237" cy="1004011"/>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Title of Project:  ______________________          Primary Contact:  ______________________</a:t>
            </a:r>
            <a:endParaRPr b="0" i="0" sz="94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940"/>
              <a:buFont typeface="Calibri"/>
              <a:buNone/>
            </a:pPr>
            <a:r>
              <a:t/>
            </a:r>
            <a:endParaRPr b="0" i="0" sz="940" u="none" cap="none" strike="noStrike">
              <a:solidFill>
                <a:schemeClr val="dk1"/>
              </a:solidFill>
              <a:latin typeface="Calibri"/>
              <a:ea typeface="Calibri"/>
              <a:cs typeface="Calibri"/>
              <a:sym typeface="Calibri"/>
            </a:endParaRPr>
          </a:p>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Sourced From:   ☐ Faculty Recommendations    ☐ HAAG Project sheet list    ☐ Other: ______</a:t>
            </a:r>
            <a:endParaRPr b="0" i="0" sz="94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940"/>
              <a:buFont typeface="Calibri"/>
              <a:buNone/>
            </a:pPr>
            <a:r>
              <a:t/>
            </a:r>
            <a:endParaRPr b="0" i="0" sz="940" u="none" cap="none" strike="noStrike">
              <a:solidFill>
                <a:schemeClr val="dk1"/>
              </a:solidFill>
              <a:latin typeface="Calibri"/>
              <a:ea typeface="Calibri"/>
              <a:cs typeface="Calibri"/>
              <a:sym typeface="Calibri"/>
            </a:endParaRPr>
          </a:p>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Agreed to Participate:   ☐ Yes    ☐ No    ☐ Undecided</a:t>
            </a:r>
            <a:endParaRPr b="0" i="0" sz="940" u="none" cap="none" strike="noStrike">
              <a:solidFill>
                <a:schemeClr val="dk1"/>
              </a:solidFill>
              <a:latin typeface="Calibri"/>
              <a:ea typeface="Calibri"/>
              <a:cs typeface="Calibri"/>
              <a:sym typeface="Calibri"/>
            </a:endParaRPr>
          </a:p>
        </p:txBody>
      </p:sp>
      <p:sp>
        <p:nvSpPr>
          <p:cNvPr id="317" name="Google Shape;317;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2"/>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PROCEDURE DEVELOPMENT</a:t>
            </a:r>
            <a:endParaRPr b="0" i="0" sz="827" u="none" cap="none" strike="noStrike">
              <a:solidFill>
                <a:schemeClr val="dk1"/>
              </a:solidFill>
              <a:latin typeface="Calibri"/>
              <a:ea typeface="Calibri"/>
              <a:cs typeface="Calibri"/>
              <a:sym typeface="Calibri"/>
            </a:endParaRPr>
          </a:p>
        </p:txBody>
      </p:sp>
      <p:sp>
        <p:nvSpPr>
          <p:cNvPr id="324" name="Google Shape;324;p32"/>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Phases 2, 3 and 4 — Collect, Write, Promote</a:t>
            </a:r>
            <a:endParaRPr b="0" i="0" sz="2030" u="none" cap="none" strike="noStrike">
              <a:solidFill>
                <a:schemeClr val="dk1"/>
              </a:solidFill>
              <a:latin typeface="Calibri"/>
              <a:ea typeface="Calibri"/>
              <a:cs typeface="Calibri"/>
              <a:sym typeface="Calibri"/>
            </a:endParaRPr>
          </a:p>
        </p:txBody>
      </p:sp>
      <p:sp>
        <p:nvSpPr>
          <p:cNvPr id="325" name="Google Shape;325;p32"/>
          <p:cNvSpPr/>
          <p:nvPr/>
        </p:nvSpPr>
        <p:spPr>
          <a:xfrm>
            <a:off x="447142" y="1203350"/>
            <a:ext cx="2681021" cy="2819095"/>
          </a:xfrm>
          <a:prstGeom prst="roundRect">
            <a:avLst>
              <a:gd fmla="val 1296"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2"/>
          <p:cNvSpPr/>
          <p:nvPr/>
        </p:nvSpPr>
        <p:spPr>
          <a:xfrm>
            <a:off x="652882" y="1326794"/>
            <a:ext cx="2268626"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Phase 2 — Content Collection</a:t>
            </a:r>
            <a:endParaRPr b="0" i="0" sz="1015" u="none" cap="none" strike="noStrike">
              <a:solidFill>
                <a:schemeClr val="dk1"/>
              </a:solidFill>
              <a:latin typeface="Calibri"/>
              <a:ea typeface="Calibri"/>
              <a:cs typeface="Calibri"/>
              <a:sym typeface="Calibri"/>
            </a:endParaRPr>
          </a:p>
        </p:txBody>
      </p:sp>
      <p:sp>
        <p:nvSpPr>
          <p:cNvPr id="327" name="Google Shape;327;p32"/>
          <p:cNvSpPr/>
          <p:nvPr/>
        </p:nvSpPr>
        <p:spPr>
          <a:xfrm>
            <a:off x="652882" y="1588313"/>
            <a:ext cx="2268626" cy="2309774"/>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basics — What is the project, in 1–2 sentences?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why — What problem is it solving?</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Who is involved — Who is involved?</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milestone — What is the latest milestone?</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What is next — What is next for the project?</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Visual — A photo, figure, or image.</a:t>
            </a:r>
            <a:endParaRPr b="0" i="0" sz="902" u="none" cap="none" strike="noStrike">
              <a:solidFill>
                <a:schemeClr val="dk1"/>
              </a:solidFill>
              <a:latin typeface="Calibri"/>
              <a:ea typeface="Calibri"/>
              <a:cs typeface="Calibri"/>
              <a:sym typeface="Calibri"/>
            </a:endParaRPr>
          </a:p>
        </p:txBody>
      </p:sp>
      <p:sp>
        <p:nvSpPr>
          <p:cNvPr id="328" name="Google Shape;328;p32"/>
          <p:cNvSpPr/>
          <p:nvPr/>
        </p:nvSpPr>
        <p:spPr>
          <a:xfrm>
            <a:off x="3231490" y="1203350"/>
            <a:ext cx="2681021" cy="2819095"/>
          </a:xfrm>
          <a:prstGeom prst="roundRect">
            <a:avLst>
              <a:gd fmla="val 1296"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2"/>
          <p:cNvSpPr/>
          <p:nvPr/>
        </p:nvSpPr>
        <p:spPr>
          <a:xfrm>
            <a:off x="3438144" y="1326794"/>
            <a:ext cx="2268626"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Phase 3 — Translation</a:t>
            </a:r>
            <a:endParaRPr b="0" i="0" sz="1015" u="none" cap="none" strike="noStrike">
              <a:solidFill>
                <a:schemeClr val="dk1"/>
              </a:solidFill>
              <a:latin typeface="Calibri"/>
              <a:ea typeface="Calibri"/>
              <a:cs typeface="Calibri"/>
              <a:sym typeface="Calibri"/>
            </a:endParaRPr>
          </a:p>
        </p:txBody>
      </p:sp>
      <p:sp>
        <p:nvSpPr>
          <p:cNvPr id="330" name="Google Shape;330;p32"/>
          <p:cNvSpPr/>
          <p:nvPr/>
        </p:nvSpPr>
        <p:spPr>
          <a:xfrm>
            <a:off x="3438144" y="1588313"/>
            <a:ext cx="2268626" cy="2309774"/>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Hook — One plain-language line, what the project is.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Body — What it does, why it matters, the milestone.</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Credit line — Tag everyone involved, members and collaborators.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Close — A forward-looking line, inviting follow-up.</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Visual — One photo, figure, or diagram.</a:t>
            </a:r>
            <a:endParaRPr b="0" i="0" sz="902" u="none" cap="none" strike="noStrike">
              <a:solidFill>
                <a:schemeClr val="dk1"/>
              </a:solidFill>
              <a:latin typeface="Calibri"/>
              <a:ea typeface="Calibri"/>
              <a:cs typeface="Calibri"/>
              <a:sym typeface="Calibri"/>
            </a:endParaRPr>
          </a:p>
        </p:txBody>
      </p:sp>
      <p:sp>
        <p:nvSpPr>
          <p:cNvPr id="331" name="Google Shape;331;p32"/>
          <p:cNvSpPr/>
          <p:nvPr/>
        </p:nvSpPr>
        <p:spPr>
          <a:xfrm>
            <a:off x="6015838" y="1203350"/>
            <a:ext cx="2681021" cy="2819095"/>
          </a:xfrm>
          <a:prstGeom prst="roundRect">
            <a:avLst>
              <a:gd fmla="val 1296"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
          <p:cNvSpPr/>
          <p:nvPr/>
        </p:nvSpPr>
        <p:spPr>
          <a:xfrm>
            <a:off x="6222492" y="1326794"/>
            <a:ext cx="2268626"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Phase 4 — Promotion</a:t>
            </a:r>
            <a:endParaRPr b="0" i="0" sz="1015" u="none" cap="none" strike="noStrike">
              <a:solidFill>
                <a:schemeClr val="dk1"/>
              </a:solidFill>
              <a:latin typeface="Calibri"/>
              <a:ea typeface="Calibri"/>
              <a:cs typeface="Calibri"/>
              <a:sym typeface="Calibri"/>
            </a:endParaRPr>
          </a:p>
        </p:txBody>
      </p:sp>
      <p:sp>
        <p:nvSpPr>
          <p:cNvPr id="333" name="Google Shape;333;p32"/>
          <p:cNvSpPr/>
          <p:nvPr/>
        </p:nvSpPr>
        <p:spPr>
          <a:xfrm>
            <a:off x="6222492" y="1588313"/>
            <a:ext cx="2268626" cy="2309774"/>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Tagging — Tag all who’s involved (researchers, faculty, institutions).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Resharing — Post it and ask everyone involved to reshare within the first couple of days.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Engagement — Urge team members to expand on the post; members from HAAG responds to comments.</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chemeClr val="dk1"/>
              </a:buClr>
              <a:buSzPts val="902"/>
              <a:buFont typeface="Calibri"/>
              <a:buNone/>
            </a:pPr>
            <a:r>
              <a:t/>
            </a:r>
            <a:endParaRPr b="0" i="0" sz="902" u="none" cap="none" strike="noStrike">
              <a:solidFill>
                <a:schemeClr val="dk1"/>
              </a:solidFill>
              <a:latin typeface="Calibri"/>
              <a:ea typeface="Calibri"/>
              <a:cs typeface="Calibri"/>
              <a:sym typeface="Calibri"/>
            </a:endParaRPr>
          </a:p>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Reuse — Eligible as a baseline for a future blog posts.</a:t>
            </a:r>
            <a:endParaRPr b="0" i="0" sz="902" u="none" cap="none" strike="noStrike">
              <a:solidFill>
                <a:schemeClr val="dk1"/>
              </a:solidFill>
              <a:latin typeface="Calibri"/>
              <a:ea typeface="Calibri"/>
              <a:cs typeface="Calibri"/>
              <a:sym typeface="Calibri"/>
            </a:endParaRPr>
          </a:p>
        </p:txBody>
      </p:sp>
      <p:sp>
        <p:nvSpPr>
          <p:cNvPr id="334" name="Google Shape;334;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3"/>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PROCEDURE DEVELOPMENT</a:t>
            </a:r>
            <a:endParaRPr b="0" i="0" sz="827" u="none" cap="none" strike="noStrike">
              <a:solidFill>
                <a:schemeClr val="dk1"/>
              </a:solidFill>
              <a:latin typeface="Calibri"/>
              <a:ea typeface="Calibri"/>
              <a:cs typeface="Calibri"/>
              <a:sym typeface="Calibri"/>
            </a:endParaRPr>
          </a:p>
        </p:txBody>
      </p:sp>
      <p:sp>
        <p:nvSpPr>
          <p:cNvPr id="341" name="Google Shape;341;p33"/>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Post Feedback and Approval Process</a:t>
            </a:r>
            <a:endParaRPr b="0" i="0" sz="2030" u="none" cap="none" strike="noStrike">
              <a:solidFill>
                <a:schemeClr val="dk1"/>
              </a:solidFill>
              <a:latin typeface="Calibri"/>
              <a:ea typeface="Calibri"/>
              <a:cs typeface="Calibri"/>
              <a:sym typeface="Calibri"/>
            </a:endParaRPr>
          </a:p>
        </p:txBody>
      </p:sp>
      <p:sp>
        <p:nvSpPr>
          <p:cNvPr id="342" name="Google Shape;342;p33"/>
          <p:cNvSpPr/>
          <p:nvPr/>
        </p:nvSpPr>
        <p:spPr>
          <a:xfrm>
            <a:off x="447142" y="1154887"/>
            <a:ext cx="8250631" cy="24048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14"/>
              <a:buFont typeface="Calibri"/>
              <a:buNone/>
            </a:pPr>
            <a:r>
              <a:rPr b="0" i="0" lang="en" sz="1015" u="none" cap="none" strike="noStrike">
                <a:solidFill>
                  <a:srgbClr val="6B6B6B"/>
                </a:solidFill>
                <a:latin typeface="Calibri"/>
                <a:ea typeface="Calibri"/>
                <a:cs typeface="Calibri"/>
                <a:sym typeface="Calibri"/>
              </a:rPr>
              <a:t>Please use this post feedback and approval process for every single draft before anything gets posted on LinkedIn.</a:t>
            </a:r>
            <a:endParaRPr b="0" i="0" sz="1015" u="none" cap="none" strike="noStrike">
              <a:solidFill>
                <a:schemeClr val="dk1"/>
              </a:solidFill>
              <a:latin typeface="Calibri"/>
              <a:ea typeface="Calibri"/>
              <a:cs typeface="Calibri"/>
              <a:sym typeface="Calibri"/>
            </a:endParaRPr>
          </a:p>
        </p:txBody>
      </p:sp>
      <p:sp>
        <p:nvSpPr>
          <p:cNvPr id="343" name="Google Shape;343;p33"/>
          <p:cNvSpPr/>
          <p:nvPr/>
        </p:nvSpPr>
        <p:spPr>
          <a:xfrm>
            <a:off x="447142" y="1422806"/>
            <a:ext cx="8250631" cy="2764231"/>
          </a:xfrm>
          <a:prstGeom prst="roundRect">
            <a:avLst>
              <a:gd fmla="val 1257"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3"/>
          <p:cNvSpPr/>
          <p:nvPr/>
        </p:nvSpPr>
        <p:spPr>
          <a:xfrm>
            <a:off x="652882" y="1598371"/>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Step 0</a:t>
            </a:r>
            <a:endParaRPr b="0" i="0" sz="940" u="none" cap="none" strike="noStrike">
              <a:solidFill>
                <a:schemeClr val="dk1"/>
              </a:solidFill>
              <a:latin typeface="Calibri"/>
              <a:ea typeface="Calibri"/>
              <a:cs typeface="Calibri"/>
              <a:sym typeface="Calibri"/>
            </a:endParaRPr>
          </a:p>
        </p:txBody>
      </p:sp>
      <p:sp>
        <p:nvSpPr>
          <p:cNvPr id="345" name="Google Shape;345;p33"/>
          <p:cNvSpPr/>
          <p:nvPr/>
        </p:nvSpPr>
        <p:spPr>
          <a:xfrm>
            <a:off x="1409090" y="1547165"/>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author of the draft will be invited into that specific research group’s slack channel to start the edits of the post draft.</a:t>
            </a:r>
            <a:endParaRPr b="0" i="0" sz="940" u="none" cap="none" strike="noStrike">
              <a:solidFill>
                <a:schemeClr val="dk1"/>
              </a:solidFill>
              <a:latin typeface="Calibri"/>
              <a:ea typeface="Calibri"/>
              <a:cs typeface="Calibri"/>
              <a:sym typeface="Calibri"/>
            </a:endParaRPr>
          </a:p>
        </p:txBody>
      </p:sp>
      <p:sp>
        <p:nvSpPr>
          <p:cNvPr id="346" name="Google Shape;346;p33"/>
          <p:cNvSpPr/>
          <p:nvPr/>
        </p:nvSpPr>
        <p:spPr>
          <a:xfrm>
            <a:off x="652882" y="2024482"/>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Step 1</a:t>
            </a:r>
            <a:endParaRPr b="0" i="0" sz="940" u="none" cap="none" strike="noStrike">
              <a:solidFill>
                <a:schemeClr val="dk1"/>
              </a:solidFill>
              <a:latin typeface="Calibri"/>
              <a:ea typeface="Calibri"/>
              <a:cs typeface="Calibri"/>
              <a:sym typeface="Calibri"/>
            </a:endParaRPr>
          </a:p>
        </p:txBody>
      </p:sp>
      <p:sp>
        <p:nvSpPr>
          <p:cNvPr id="347" name="Google Shape;347;p33"/>
          <p:cNvSpPr/>
          <p:nvPr/>
        </p:nvSpPr>
        <p:spPr>
          <a:xfrm>
            <a:off x="1409090" y="1973275"/>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Upload the draft inside the #post-feedback channel in Slack. Please use the dedicated folder for the uploads of the drafts.</a:t>
            </a:r>
            <a:endParaRPr b="0" i="0" sz="940" u="none" cap="none" strike="noStrike">
              <a:solidFill>
                <a:schemeClr val="dk1"/>
              </a:solidFill>
              <a:latin typeface="Calibri"/>
              <a:ea typeface="Calibri"/>
              <a:cs typeface="Calibri"/>
              <a:sym typeface="Calibri"/>
            </a:endParaRPr>
          </a:p>
        </p:txBody>
      </p:sp>
      <p:sp>
        <p:nvSpPr>
          <p:cNvPr id="348" name="Google Shape;348;p33"/>
          <p:cNvSpPr/>
          <p:nvPr/>
        </p:nvSpPr>
        <p:spPr>
          <a:xfrm>
            <a:off x="652882" y="2451506"/>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Step 2</a:t>
            </a:r>
            <a:endParaRPr b="0" i="0" sz="940" u="none" cap="none" strike="noStrike">
              <a:solidFill>
                <a:schemeClr val="dk1"/>
              </a:solidFill>
              <a:latin typeface="Calibri"/>
              <a:ea typeface="Calibri"/>
              <a:cs typeface="Calibri"/>
              <a:sym typeface="Calibri"/>
            </a:endParaRPr>
          </a:p>
        </p:txBody>
      </p:sp>
      <p:sp>
        <p:nvSpPr>
          <p:cNvPr id="349" name="Google Shape;349;p33"/>
          <p:cNvSpPr/>
          <p:nvPr/>
        </p:nvSpPr>
        <p:spPr>
          <a:xfrm>
            <a:off x="1409090" y="2399386"/>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Then make an announcement in the #post-feedback channel when the draft is ready, along with providing instructions for how to make comments within the draft.</a:t>
            </a:r>
            <a:endParaRPr b="0" i="0" sz="940" u="none" cap="none" strike="noStrike">
              <a:solidFill>
                <a:schemeClr val="dk1"/>
              </a:solidFill>
              <a:latin typeface="Calibri"/>
              <a:ea typeface="Calibri"/>
              <a:cs typeface="Calibri"/>
              <a:sym typeface="Calibri"/>
            </a:endParaRPr>
          </a:p>
        </p:txBody>
      </p:sp>
      <p:sp>
        <p:nvSpPr>
          <p:cNvPr id="350" name="Google Shape;350;p33"/>
          <p:cNvSpPr/>
          <p:nvPr/>
        </p:nvSpPr>
        <p:spPr>
          <a:xfrm>
            <a:off x="652882" y="2877617"/>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Step 3</a:t>
            </a:r>
            <a:endParaRPr b="0" i="0" sz="940" u="none" cap="none" strike="noStrike">
              <a:solidFill>
                <a:schemeClr val="dk1"/>
              </a:solidFill>
              <a:latin typeface="Calibri"/>
              <a:ea typeface="Calibri"/>
              <a:cs typeface="Calibri"/>
              <a:sym typeface="Calibri"/>
            </a:endParaRPr>
          </a:p>
        </p:txBody>
      </p:sp>
      <p:sp>
        <p:nvSpPr>
          <p:cNvPr id="351" name="Google Shape;351;p33"/>
          <p:cNvSpPr/>
          <p:nvPr/>
        </p:nvSpPr>
        <p:spPr>
          <a:xfrm>
            <a:off x="1409090" y="2825496"/>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Make sure to allow a 48-hour period for annotations, revisions, and feedback about the draft.</a:t>
            </a:r>
            <a:endParaRPr b="0" i="0" sz="940" u="none" cap="none" strike="noStrike">
              <a:solidFill>
                <a:schemeClr val="dk1"/>
              </a:solidFill>
              <a:latin typeface="Calibri"/>
              <a:ea typeface="Calibri"/>
              <a:cs typeface="Calibri"/>
              <a:sym typeface="Calibri"/>
            </a:endParaRPr>
          </a:p>
        </p:txBody>
      </p:sp>
      <p:sp>
        <p:nvSpPr>
          <p:cNvPr id="352" name="Google Shape;352;p33"/>
          <p:cNvSpPr/>
          <p:nvPr/>
        </p:nvSpPr>
        <p:spPr>
          <a:xfrm>
            <a:off x="652882" y="3303727"/>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Step 4</a:t>
            </a:r>
            <a:endParaRPr b="0" i="0" sz="940" u="none" cap="none" strike="noStrike">
              <a:solidFill>
                <a:schemeClr val="dk1"/>
              </a:solidFill>
              <a:latin typeface="Calibri"/>
              <a:ea typeface="Calibri"/>
              <a:cs typeface="Calibri"/>
              <a:sym typeface="Calibri"/>
            </a:endParaRPr>
          </a:p>
        </p:txBody>
      </p:sp>
      <p:sp>
        <p:nvSpPr>
          <p:cNvPr id="353" name="Google Shape;353;p33"/>
          <p:cNvSpPr/>
          <p:nvPr/>
        </p:nvSpPr>
        <p:spPr>
          <a:xfrm>
            <a:off x="1409090" y="3251606"/>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Review and gather all the feedback by having a thread attached to the draft. This is for keeping the feedback organized and to reduce the number of DMs.</a:t>
            </a:r>
            <a:endParaRPr b="0" i="0" sz="940" u="none" cap="none" strike="noStrike">
              <a:solidFill>
                <a:schemeClr val="dk1"/>
              </a:solidFill>
              <a:latin typeface="Calibri"/>
              <a:ea typeface="Calibri"/>
              <a:cs typeface="Calibri"/>
              <a:sym typeface="Calibri"/>
            </a:endParaRPr>
          </a:p>
        </p:txBody>
      </p:sp>
      <p:sp>
        <p:nvSpPr>
          <p:cNvPr id="354" name="Google Shape;354;p33"/>
          <p:cNvSpPr/>
          <p:nvPr/>
        </p:nvSpPr>
        <p:spPr>
          <a:xfrm>
            <a:off x="652882" y="3729838"/>
            <a:ext cx="721462" cy="2066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3A369"/>
              </a:buClr>
              <a:buSzPts val="939"/>
              <a:buFont typeface="Calibri"/>
              <a:buNone/>
            </a:pPr>
            <a:r>
              <a:rPr b="1" i="0" lang="en" sz="940" u="none" cap="none" strike="noStrike">
                <a:solidFill>
                  <a:srgbClr val="B3A369"/>
                </a:solidFill>
                <a:latin typeface="Calibri"/>
                <a:ea typeface="Calibri"/>
                <a:cs typeface="Calibri"/>
                <a:sym typeface="Calibri"/>
              </a:rPr>
              <a:t>Step 5</a:t>
            </a:r>
            <a:endParaRPr b="0" i="0" sz="940" u="none" cap="none" strike="noStrike">
              <a:solidFill>
                <a:schemeClr val="dk1"/>
              </a:solidFill>
              <a:latin typeface="Calibri"/>
              <a:ea typeface="Calibri"/>
              <a:cs typeface="Calibri"/>
              <a:sym typeface="Calibri"/>
            </a:endParaRPr>
          </a:p>
        </p:txBody>
      </p:sp>
      <p:sp>
        <p:nvSpPr>
          <p:cNvPr id="355" name="Google Shape;355;p33"/>
          <p:cNvSpPr/>
          <p:nvPr/>
        </p:nvSpPr>
        <p:spPr>
          <a:xfrm>
            <a:off x="1409090" y="3678631"/>
            <a:ext cx="7115861" cy="378562"/>
          </a:xfrm>
          <a:prstGeom prst="rect">
            <a:avLst/>
          </a:prstGeom>
          <a:noFill/>
          <a:ln>
            <a:noFill/>
          </a:ln>
        </p:spPr>
        <p:txBody>
          <a:bodyPr anchorCtr="0" anchor="ctr" bIns="0" lIns="0" spcFirstLastPara="1" rIns="0" wrap="square" tIns="0">
            <a:noAutofit/>
          </a:bodyPr>
          <a:lstStyle/>
          <a:p>
            <a:pPr indent="0" lvl="0" marL="0" marR="0" rtl="0" algn="l">
              <a:lnSpc>
                <a:spcPct val="132161"/>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Finally, the writer of the draft will review and analyze all the feedback received by editing and updating the draft.</a:t>
            </a:r>
            <a:endParaRPr b="0" i="0" sz="940" u="none" cap="none" strike="noStrike">
              <a:solidFill>
                <a:schemeClr val="dk1"/>
              </a:solidFill>
              <a:latin typeface="Calibri"/>
              <a:ea typeface="Calibri"/>
              <a:cs typeface="Calibri"/>
              <a:sym typeface="Calibri"/>
            </a:endParaRPr>
          </a:p>
        </p:txBody>
      </p:sp>
      <p:sp>
        <p:nvSpPr>
          <p:cNvPr id="356" name="Google Shape;356;p33"/>
          <p:cNvSpPr/>
          <p:nvPr/>
        </p:nvSpPr>
        <p:spPr>
          <a:xfrm>
            <a:off x="447142" y="4194353"/>
            <a:ext cx="8250631" cy="494690"/>
          </a:xfrm>
          <a:prstGeom prst="roundRect">
            <a:avLst>
              <a:gd fmla="val 7024" name="adj"/>
            </a:avLst>
          </a:prstGeom>
          <a:solidFill>
            <a:srgbClr val="003057"/>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3"/>
          <p:cNvSpPr/>
          <p:nvPr/>
        </p:nvSpPr>
        <p:spPr>
          <a:xfrm>
            <a:off x="673913" y="4194353"/>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9"/>
              <a:buFont typeface="Calibri"/>
              <a:buNone/>
            </a:pPr>
            <a:r>
              <a:rPr b="0" i="0" lang="en" sz="940" u="none" cap="none" strike="noStrike">
                <a:solidFill>
                  <a:srgbClr val="FFFFFF"/>
                </a:solidFill>
                <a:latin typeface="Calibri"/>
                <a:ea typeface="Calibri"/>
                <a:cs typeface="Calibri"/>
                <a:sym typeface="Calibri"/>
              </a:rPr>
              <a:t>Once the 48-hour period is complete, the draft must be approved by Bree, faculty, or a team leader before the draft is posted on LinkedIn.</a:t>
            </a:r>
            <a:endParaRPr b="0" i="0" sz="940" u="none" cap="none" strike="noStrike">
              <a:solidFill>
                <a:schemeClr val="dk1"/>
              </a:solidFill>
              <a:latin typeface="Calibri"/>
              <a:ea typeface="Calibri"/>
              <a:cs typeface="Calibri"/>
              <a:sym typeface="Calibri"/>
            </a:endParaRPr>
          </a:p>
        </p:txBody>
      </p:sp>
      <p:sp>
        <p:nvSpPr>
          <p:cNvPr id="358" name="Google Shape;358;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4"/>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IMPLEMENTATION</a:t>
            </a:r>
            <a:endParaRPr b="0" i="0" sz="827" u="none" cap="none" strike="noStrike">
              <a:solidFill>
                <a:schemeClr val="dk1"/>
              </a:solidFill>
              <a:latin typeface="Calibri"/>
              <a:ea typeface="Calibri"/>
              <a:cs typeface="Calibri"/>
              <a:sym typeface="Calibri"/>
            </a:endParaRPr>
          </a:p>
        </p:txBody>
      </p:sp>
      <p:sp>
        <p:nvSpPr>
          <p:cNvPr id="365" name="Google Shape;365;p34"/>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Implementation — Post-Feedback Process Pilot</a:t>
            </a:r>
            <a:endParaRPr b="0" i="0" sz="2030" u="none" cap="none" strike="noStrike">
              <a:solidFill>
                <a:schemeClr val="dk1"/>
              </a:solidFill>
              <a:latin typeface="Calibri"/>
              <a:ea typeface="Calibri"/>
              <a:cs typeface="Calibri"/>
              <a:sym typeface="Calibri"/>
            </a:endParaRPr>
          </a:p>
        </p:txBody>
      </p:sp>
      <p:sp>
        <p:nvSpPr>
          <p:cNvPr id="366" name="Google Shape;366;p34"/>
          <p:cNvSpPr/>
          <p:nvPr/>
        </p:nvSpPr>
        <p:spPr>
          <a:xfrm>
            <a:off x="447142" y="1168603"/>
            <a:ext cx="8250631" cy="494690"/>
          </a:xfrm>
          <a:prstGeom prst="roundRect">
            <a:avLst>
              <a:gd fmla="val 7024" name="adj"/>
            </a:avLst>
          </a:prstGeom>
          <a:solidFill>
            <a:srgbClr val="F1EAD7"/>
          </a:solidFill>
          <a:ln cap="flat" cmpd="sng" w="12700">
            <a:solidFill>
              <a:srgbClr val="F1EA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4"/>
          <p:cNvSpPr/>
          <p:nvPr/>
        </p:nvSpPr>
        <p:spPr>
          <a:xfrm>
            <a:off x="673913" y="1168603"/>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939"/>
              <a:buFont typeface="Calibri"/>
              <a:buNone/>
            </a:pPr>
            <a:r>
              <a:rPr b="0" i="1" lang="en" sz="940" u="none" cap="none" strike="noStrike">
                <a:solidFill>
                  <a:srgbClr val="003057"/>
                </a:solidFill>
                <a:latin typeface="Calibri"/>
                <a:ea typeface="Calibri"/>
                <a:cs typeface="Calibri"/>
                <a:sym typeface="Calibri"/>
              </a:rPr>
              <a:t>This pilot was the only implementation attempt carried out this semester across either content stream.</a:t>
            </a:r>
            <a:endParaRPr b="0" i="0" sz="940" u="none" cap="none" strike="noStrike">
              <a:solidFill>
                <a:schemeClr val="dk1"/>
              </a:solidFill>
              <a:latin typeface="Calibri"/>
              <a:ea typeface="Calibri"/>
              <a:cs typeface="Calibri"/>
              <a:sym typeface="Calibri"/>
            </a:endParaRPr>
          </a:p>
        </p:txBody>
      </p:sp>
      <p:sp>
        <p:nvSpPr>
          <p:cNvPr id="368" name="Google Shape;368;p34"/>
          <p:cNvSpPr/>
          <p:nvPr/>
        </p:nvSpPr>
        <p:spPr>
          <a:xfrm>
            <a:off x="447142" y="1801368"/>
            <a:ext cx="8250631" cy="1375258"/>
          </a:xfrm>
          <a:prstGeom prst="roundRect">
            <a:avLst>
              <a:gd fmla="val 2527"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4"/>
          <p:cNvSpPr/>
          <p:nvPr/>
        </p:nvSpPr>
        <p:spPr>
          <a:xfrm>
            <a:off x="652882" y="1924812"/>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Procedure implemented — the concept</a:t>
            </a:r>
            <a:endParaRPr b="0" i="0" sz="1015" u="none" cap="none" strike="noStrike">
              <a:solidFill>
                <a:schemeClr val="dk1"/>
              </a:solidFill>
              <a:latin typeface="Calibri"/>
              <a:ea typeface="Calibri"/>
              <a:cs typeface="Calibri"/>
              <a:sym typeface="Calibri"/>
            </a:endParaRPr>
          </a:p>
        </p:txBody>
      </p:sp>
      <p:sp>
        <p:nvSpPr>
          <p:cNvPr id="370" name="Google Shape;370;p34"/>
          <p:cNvSpPr/>
          <p:nvPr/>
        </p:nvSpPr>
        <p:spPr>
          <a:xfrm>
            <a:off x="652882" y="2186330"/>
            <a:ext cx="7838237" cy="865937"/>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channel #postfeedback is in the HAAG Slack channel. To receive feedback about a project spotlight draft or faces of HAAG draft, leave a draft of the document in the #post-feedback channel. Every draft will be in a single folder that contains the draft itself along with any feedback that is relevant to it.</a:t>
            </a:r>
            <a:endParaRPr b="0" i="0" sz="940" u="none" cap="none" strike="noStrike">
              <a:solidFill>
                <a:schemeClr val="dk1"/>
              </a:solidFill>
              <a:latin typeface="Calibri"/>
              <a:ea typeface="Calibri"/>
              <a:cs typeface="Calibri"/>
              <a:sym typeface="Calibri"/>
            </a:endParaRPr>
          </a:p>
        </p:txBody>
      </p:sp>
      <p:sp>
        <p:nvSpPr>
          <p:cNvPr id="371" name="Google Shape;371;p34"/>
          <p:cNvSpPr/>
          <p:nvPr/>
        </p:nvSpPr>
        <p:spPr>
          <a:xfrm>
            <a:off x="447142" y="3300070"/>
            <a:ext cx="4091026" cy="1203350"/>
          </a:xfrm>
          <a:prstGeom prst="roundRect">
            <a:avLst>
              <a:gd fmla="val 2888"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4"/>
          <p:cNvSpPr/>
          <p:nvPr/>
        </p:nvSpPr>
        <p:spPr>
          <a:xfrm>
            <a:off x="652882" y="3423514"/>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announcement</a:t>
            </a:r>
            <a:endParaRPr b="0" i="0" sz="1015" u="none" cap="none" strike="noStrike">
              <a:solidFill>
                <a:schemeClr val="dk1"/>
              </a:solidFill>
              <a:latin typeface="Calibri"/>
              <a:ea typeface="Calibri"/>
              <a:cs typeface="Calibri"/>
              <a:sym typeface="Calibri"/>
            </a:endParaRPr>
          </a:p>
        </p:txBody>
      </p:sp>
      <p:sp>
        <p:nvSpPr>
          <p:cNvPr id="373" name="Google Shape;373;p34"/>
          <p:cNvSpPr/>
          <p:nvPr/>
        </p:nvSpPr>
        <p:spPr>
          <a:xfrm>
            <a:off x="652882" y="3685032"/>
            <a:ext cx="3678631" cy="694030"/>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There will be an announcement format that will be implemented to act as a notification for the new draft to be reviewed and analyzed.</a:t>
            </a:r>
            <a:endParaRPr b="0" i="0" sz="940" u="none" cap="none" strike="noStrike">
              <a:solidFill>
                <a:schemeClr val="dk1"/>
              </a:solidFill>
              <a:latin typeface="Calibri"/>
              <a:ea typeface="Calibri"/>
              <a:cs typeface="Calibri"/>
              <a:sym typeface="Calibri"/>
            </a:endParaRPr>
          </a:p>
        </p:txBody>
      </p:sp>
      <p:sp>
        <p:nvSpPr>
          <p:cNvPr id="374" name="Google Shape;374;p34"/>
          <p:cNvSpPr/>
          <p:nvPr/>
        </p:nvSpPr>
        <p:spPr>
          <a:xfrm>
            <a:off x="4606747" y="3300070"/>
            <a:ext cx="4091026" cy="1203350"/>
          </a:xfrm>
          <a:prstGeom prst="roundRect">
            <a:avLst>
              <a:gd fmla="val 2888"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4"/>
          <p:cNvSpPr/>
          <p:nvPr/>
        </p:nvSpPr>
        <p:spPr>
          <a:xfrm>
            <a:off x="4812487" y="3423514"/>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48-hour protocol</a:t>
            </a:r>
            <a:endParaRPr b="0" i="0" sz="1015" u="none" cap="none" strike="noStrike">
              <a:solidFill>
                <a:schemeClr val="dk1"/>
              </a:solidFill>
              <a:latin typeface="Calibri"/>
              <a:ea typeface="Calibri"/>
              <a:cs typeface="Calibri"/>
              <a:sym typeface="Calibri"/>
            </a:endParaRPr>
          </a:p>
        </p:txBody>
      </p:sp>
      <p:sp>
        <p:nvSpPr>
          <p:cNvPr id="376" name="Google Shape;376;p34"/>
          <p:cNvSpPr/>
          <p:nvPr/>
        </p:nvSpPr>
        <p:spPr>
          <a:xfrm>
            <a:off x="4812487" y="3685032"/>
            <a:ext cx="3678631" cy="694030"/>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There will be a protocol of having 48 hours to receive feedback about the draft. This protocol will help maintain and retain the cycle of review and feedback proceeding.</a:t>
            </a:r>
            <a:endParaRPr b="0" i="0" sz="940" u="none" cap="none" strike="noStrike">
              <a:solidFill>
                <a:schemeClr val="dk1"/>
              </a:solidFill>
              <a:latin typeface="Calibri"/>
              <a:ea typeface="Calibri"/>
              <a:cs typeface="Calibri"/>
              <a:sym typeface="Calibri"/>
            </a:endParaRPr>
          </a:p>
        </p:txBody>
      </p:sp>
      <p:sp>
        <p:nvSpPr>
          <p:cNvPr id="377" name="Google Shape;377;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5"/>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IMPLEMENTATION</a:t>
            </a:r>
            <a:endParaRPr b="0" i="0" sz="827" u="none" cap="none" strike="noStrike">
              <a:solidFill>
                <a:schemeClr val="dk1"/>
              </a:solidFill>
              <a:latin typeface="Calibri"/>
              <a:ea typeface="Calibri"/>
              <a:cs typeface="Calibri"/>
              <a:sym typeface="Calibri"/>
            </a:endParaRPr>
          </a:p>
        </p:txBody>
      </p:sp>
      <p:sp>
        <p:nvSpPr>
          <p:cNvPr id="384" name="Google Shape;384;p35"/>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Context and Participants</a:t>
            </a:r>
            <a:endParaRPr b="0" i="0" sz="2030" u="none" cap="none" strike="noStrike">
              <a:solidFill>
                <a:schemeClr val="dk1"/>
              </a:solidFill>
              <a:latin typeface="Calibri"/>
              <a:ea typeface="Calibri"/>
              <a:cs typeface="Calibri"/>
              <a:sym typeface="Calibri"/>
            </a:endParaRPr>
          </a:p>
        </p:txBody>
      </p:sp>
      <p:sp>
        <p:nvSpPr>
          <p:cNvPr id="385" name="Google Shape;385;p35"/>
          <p:cNvSpPr/>
          <p:nvPr/>
        </p:nvSpPr>
        <p:spPr>
          <a:xfrm>
            <a:off x="447142" y="1182319"/>
            <a:ext cx="8250631" cy="1031443"/>
          </a:xfrm>
          <a:prstGeom prst="roundRect">
            <a:avLst>
              <a:gd fmla="val 3369"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5"/>
          <p:cNvSpPr/>
          <p:nvPr/>
        </p:nvSpPr>
        <p:spPr>
          <a:xfrm>
            <a:off x="652882" y="1306678"/>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Where it was executed</a:t>
            </a:r>
            <a:endParaRPr b="0" i="0" sz="1015" u="none" cap="none" strike="noStrike">
              <a:solidFill>
                <a:schemeClr val="dk1"/>
              </a:solidFill>
              <a:latin typeface="Calibri"/>
              <a:ea typeface="Calibri"/>
              <a:cs typeface="Calibri"/>
              <a:sym typeface="Calibri"/>
            </a:endParaRPr>
          </a:p>
        </p:txBody>
      </p:sp>
      <p:sp>
        <p:nvSpPr>
          <p:cNvPr id="387" name="Google Shape;387;p35"/>
          <p:cNvSpPr/>
          <p:nvPr/>
        </p:nvSpPr>
        <p:spPr>
          <a:xfrm>
            <a:off x="652882" y="1567282"/>
            <a:ext cx="7838237" cy="52212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Executed inside the content stream of the project spotlight for HAAG. This is also part of a broader content pipeline for LinkedIn. For the implementation, we tested out the procedure by writing out a draft of a project spotlight called “Predicting Railroad Crossing Delays with Machine Learning”.</a:t>
            </a:r>
            <a:endParaRPr b="0" i="0" sz="940" u="none" cap="none" strike="noStrike">
              <a:solidFill>
                <a:schemeClr val="dk1"/>
              </a:solidFill>
              <a:latin typeface="Calibri"/>
              <a:ea typeface="Calibri"/>
              <a:cs typeface="Calibri"/>
              <a:sym typeface="Calibri"/>
            </a:endParaRPr>
          </a:p>
        </p:txBody>
      </p:sp>
      <p:sp>
        <p:nvSpPr>
          <p:cNvPr id="388" name="Google Shape;388;p35"/>
          <p:cNvSpPr/>
          <p:nvPr/>
        </p:nvSpPr>
        <p:spPr>
          <a:xfrm>
            <a:off x="447142" y="2337206"/>
            <a:ext cx="8250631" cy="687629"/>
          </a:xfrm>
          <a:prstGeom prst="roundRect">
            <a:avLst>
              <a:gd fmla="val 5053"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5"/>
          <p:cNvSpPr/>
          <p:nvPr/>
        </p:nvSpPr>
        <p:spPr>
          <a:xfrm>
            <a:off x="652882" y="2461565"/>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project we spotlighted</a:t>
            </a:r>
            <a:endParaRPr b="0" i="0" sz="1015" u="none" cap="none" strike="noStrike">
              <a:solidFill>
                <a:schemeClr val="dk1"/>
              </a:solidFill>
              <a:latin typeface="Calibri"/>
              <a:ea typeface="Calibri"/>
              <a:cs typeface="Calibri"/>
              <a:sym typeface="Calibri"/>
            </a:endParaRPr>
          </a:p>
        </p:txBody>
      </p:sp>
      <p:sp>
        <p:nvSpPr>
          <p:cNvPr id="390" name="Google Shape;390;p35"/>
          <p:cNvSpPr/>
          <p:nvPr/>
        </p:nvSpPr>
        <p:spPr>
          <a:xfrm>
            <a:off x="652882" y="2723083"/>
            <a:ext cx="7838237" cy="178308"/>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researchers who are part of this project were Leonardo Savasta, Xu Che, and Isaac A. Felix.</a:t>
            </a:r>
            <a:endParaRPr b="0" i="0" sz="940" u="none" cap="none" strike="noStrike">
              <a:solidFill>
                <a:schemeClr val="dk1"/>
              </a:solidFill>
              <a:latin typeface="Calibri"/>
              <a:ea typeface="Calibri"/>
              <a:cs typeface="Calibri"/>
              <a:sym typeface="Calibri"/>
            </a:endParaRPr>
          </a:p>
        </p:txBody>
      </p:sp>
      <p:sp>
        <p:nvSpPr>
          <p:cNvPr id="391" name="Google Shape;391;p35"/>
          <p:cNvSpPr/>
          <p:nvPr/>
        </p:nvSpPr>
        <p:spPr>
          <a:xfrm>
            <a:off x="447142" y="3162910"/>
            <a:ext cx="8250631" cy="2203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participants of the implementation for this test procedure were Sheena and Neelima.</a:t>
            </a:r>
            <a:endParaRPr b="0" i="0" sz="1015" u="none" cap="none" strike="noStrike">
              <a:solidFill>
                <a:schemeClr val="dk1"/>
              </a:solidFill>
              <a:latin typeface="Calibri"/>
              <a:ea typeface="Calibri"/>
              <a:cs typeface="Calibri"/>
              <a:sym typeface="Calibri"/>
            </a:endParaRPr>
          </a:p>
        </p:txBody>
      </p:sp>
      <p:sp>
        <p:nvSpPr>
          <p:cNvPr id="392" name="Google Shape;392;p35"/>
          <p:cNvSpPr/>
          <p:nvPr/>
        </p:nvSpPr>
        <p:spPr>
          <a:xfrm>
            <a:off x="447142" y="3423514"/>
            <a:ext cx="4091026" cy="1100023"/>
          </a:xfrm>
          <a:prstGeom prst="roundRect">
            <a:avLst>
              <a:gd fmla="val 3159"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5"/>
          <p:cNvSpPr/>
          <p:nvPr/>
        </p:nvSpPr>
        <p:spPr>
          <a:xfrm>
            <a:off x="652882" y="354787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Sheena</a:t>
            </a:r>
            <a:endParaRPr b="0" i="0" sz="1015" u="none" cap="none" strike="noStrike">
              <a:solidFill>
                <a:schemeClr val="dk1"/>
              </a:solidFill>
              <a:latin typeface="Calibri"/>
              <a:ea typeface="Calibri"/>
              <a:cs typeface="Calibri"/>
              <a:sym typeface="Calibri"/>
            </a:endParaRPr>
          </a:p>
        </p:txBody>
      </p:sp>
      <p:sp>
        <p:nvSpPr>
          <p:cNvPr id="394" name="Google Shape;394;p35"/>
          <p:cNvSpPr/>
          <p:nvPr/>
        </p:nvSpPr>
        <p:spPr>
          <a:xfrm>
            <a:off x="652882" y="3809390"/>
            <a:ext cx="3678631" cy="591617"/>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Sheena wrote out, edited, and revised the draft of the post.</a:t>
            </a:r>
            <a:endParaRPr b="0" i="0" sz="940" u="none" cap="none" strike="noStrike">
              <a:solidFill>
                <a:schemeClr val="dk1"/>
              </a:solidFill>
              <a:latin typeface="Calibri"/>
              <a:ea typeface="Calibri"/>
              <a:cs typeface="Calibri"/>
              <a:sym typeface="Calibri"/>
            </a:endParaRPr>
          </a:p>
        </p:txBody>
      </p:sp>
      <p:sp>
        <p:nvSpPr>
          <p:cNvPr id="395" name="Google Shape;395;p35"/>
          <p:cNvSpPr/>
          <p:nvPr/>
        </p:nvSpPr>
        <p:spPr>
          <a:xfrm>
            <a:off x="4606747" y="3423514"/>
            <a:ext cx="4091026" cy="1100023"/>
          </a:xfrm>
          <a:prstGeom prst="roundRect">
            <a:avLst>
              <a:gd fmla="val 3159"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5"/>
          <p:cNvSpPr/>
          <p:nvPr/>
        </p:nvSpPr>
        <p:spPr>
          <a:xfrm>
            <a:off x="4812487" y="354787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Neelima</a:t>
            </a:r>
            <a:endParaRPr b="0" i="0" sz="1015" u="none" cap="none" strike="noStrike">
              <a:solidFill>
                <a:schemeClr val="dk1"/>
              </a:solidFill>
              <a:latin typeface="Calibri"/>
              <a:ea typeface="Calibri"/>
              <a:cs typeface="Calibri"/>
              <a:sym typeface="Calibri"/>
            </a:endParaRPr>
          </a:p>
        </p:txBody>
      </p:sp>
      <p:sp>
        <p:nvSpPr>
          <p:cNvPr id="397" name="Google Shape;397;p35"/>
          <p:cNvSpPr/>
          <p:nvPr/>
        </p:nvSpPr>
        <p:spPr>
          <a:xfrm>
            <a:off x="4812487" y="3809390"/>
            <a:ext cx="3678631" cy="591617"/>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Neelima provided the source material and documents that needed to be edited.</a:t>
            </a:r>
            <a:endParaRPr b="0" i="0" sz="940" u="none" cap="none" strike="noStrike">
              <a:solidFill>
                <a:schemeClr val="dk1"/>
              </a:solidFill>
              <a:latin typeface="Calibri"/>
              <a:ea typeface="Calibri"/>
              <a:cs typeface="Calibri"/>
              <a:sym typeface="Calibri"/>
            </a:endParaRPr>
          </a:p>
        </p:txBody>
      </p:sp>
      <p:sp>
        <p:nvSpPr>
          <p:cNvPr id="398" name="Google Shape;398;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6"/>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IMPLEMENTATION</a:t>
            </a:r>
            <a:endParaRPr b="0" i="0" sz="827" u="none" cap="none" strike="noStrike">
              <a:solidFill>
                <a:schemeClr val="dk1"/>
              </a:solidFill>
              <a:latin typeface="Calibri"/>
              <a:ea typeface="Calibri"/>
              <a:cs typeface="Calibri"/>
              <a:sym typeface="Calibri"/>
            </a:endParaRPr>
          </a:p>
        </p:txBody>
      </p:sp>
      <p:sp>
        <p:nvSpPr>
          <p:cNvPr id="405" name="Google Shape;405;p36"/>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Implementation Approach</a:t>
            </a:r>
            <a:endParaRPr b="0" i="0" sz="2030" u="none" cap="none" strike="noStrike">
              <a:solidFill>
                <a:schemeClr val="dk1"/>
              </a:solidFill>
              <a:latin typeface="Calibri"/>
              <a:ea typeface="Calibri"/>
              <a:cs typeface="Calibri"/>
              <a:sym typeface="Calibri"/>
            </a:endParaRPr>
          </a:p>
        </p:txBody>
      </p:sp>
      <p:sp>
        <p:nvSpPr>
          <p:cNvPr id="406" name="Google Shape;406;p36"/>
          <p:cNvSpPr/>
          <p:nvPr/>
        </p:nvSpPr>
        <p:spPr>
          <a:xfrm>
            <a:off x="447142" y="1086307"/>
            <a:ext cx="8250631" cy="3080614"/>
          </a:xfrm>
          <a:prstGeom prst="roundRect">
            <a:avLst>
              <a:gd fmla="val 1128"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6"/>
          <p:cNvSpPr/>
          <p:nvPr/>
        </p:nvSpPr>
        <p:spPr>
          <a:xfrm>
            <a:off x="652882" y="1237183"/>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6"/>
          <p:cNvSpPr/>
          <p:nvPr/>
        </p:nvSpPr>
        <p:spPr>
          <a:xfrm>
            <a:off x="652882" y="1237183"/>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1</a:t>
            </a:r>
            <a:endParaRPr b="0" i="0" sz="1128" u="none" cap="none" strike="noStrike">
              <a:solidFill>
                <a:schemeClr val="dk1"/>
              </a:solidFill>
              <a:latin typeface="Calibri"/>
              <a:ea typeface="Calibri"/>
              <a:cs typeface="Calibri"/>
              <a:sym typeface="Calibri"/>
            </a:endParaRPr>
          </a:p>
        </p:txBody>
      </p:sp>
      <p:sp>
        <p:nvSpPr>
          <p:cNvPr id="409" name="Google Shape;409;p36"/>
          <p:cNvSpPr/>
          <p:nvPr/>
        </p:nvSpPr>
        <p:spPr>
          <a:xfrm>
            <a:off x="1154887" y="1223467"/>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Neelima provided the source material</a:t>
            </a:r>
            <a:endParaRPr b="0" i="0" sz="1090" u="none" cap="none" strike="noStrike">
              <a:solidFill>
                <a:schemeClr val="dk1"/>
              </a:solidFill>
              <a:latin typeface="Calibri"/>
              <a:ea typeface="Calibri"/>
              <a:cs typeface="Calibri"/>
              <a:sym typeface="Calibri"/>
            </a:endParaRPr>
          </a:p>
        </p:txBody>
      </p:sp>
      <p:sp>
        <p:nvSpPr>
          <p:cNvPr id="410" name="Google Shape;410;p36"/>
          <p:cNvSpPr/>
          <p:nvPr/>
        </p:nvSpPr>
        <p:spPr>
          <a:xfrm>
            <a:off x="1154887" y="1443838"/>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The team head, Neelima, provided the source material and Word documents along with her edits for the draft.</a:t>
            </a:r>
            <a:endParaRPr b="0" i="0" sz="978" u="none" cap="none" strike="noStrike">
              <a:solidFill>
                <a:schemeClr val="dk1"/>
              </a:solidFill>
              <a:latin typeface="Calibri"/>
              <a:ea typeface="Calibri"/>
              <a:cs typeface="Calibri"/>
              <a:sym typeface="Calibri"/>
            </a:endParaRPr>
          </a:p>
        </p:txBody>
      </p:sp>
      <p:sp>
        <p:nvSpPr>
          <p:cNvPr id="411" name="Google Shape;411;p36"/>
          <p:cNvSpPr/>
          <p:nvPr/>
        </p:nvSpPr>
        <p:spPr>
          <a:xfrm>
            <a:off x="652882" y="1959559"/>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6"/>
          <p:cNvSpPr/>
          <p:nvPr/>
        </p:nvSpPr>
        <p:spPr>
          <a:xfrm>
            <a:off x="652882" y="1959559"/>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2</a:t>
            </a:r>
            <a:endParaRPr b="0" i="0" sz="1128" u="none" cap="none" strike="noStrike">
              <a:solidFill>
                <a:schemeClr val="dk1"/>
              </a:solidFill>
              <a:latin typeface="Calibri"/>
              <a:ea typeface="Calibri"/>
              <a:cs typeface="Calibri"/>
              <a:sym typeface="Calibri"/>
            </a:endParaRPr>
          </a:p>
        </p:txBody>
      </p:sp>
      <p:sp>
        <p:nvSpPr>
          <p:cNvPr id="413" name="Google Shape;413;p36"/>
          <p:cNvSpPr/>
          <p:nvPr/>
        </p:nvSpPr>
        <p:spPr>
          <a:xfrm>
            <a:off x="1154887" y="1945843"/>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Sheena wrote and revised the draft</a:t>
            </a:r>
            <a:endParaRPr b="0" i="0" sz="1090" u="none" cap="none" strike="noStrike">
              <a:solidFill>
                <a:schemeClr val="dk1"/>
              </a:solidFill>
              <a:latin typeface="Calibri"/>
              <a:ea typeface="Calibri"/>
              <a:cs typeface="Calibri"/>
              <a:sym typeface="Calibri"/>
            </a:endParaRPr>
          </a:p>
        </p:txBody>
      </p:sp>
      <p:sp>
        <p:nvSpPr>
          <p:cNvPr id="414" name="Google Shape;414;p36"/>
          <p:cNvSpPr/>
          <p:nvPr/>
        </p:nvSpPr>
        <p:spPr>
          <a:xfrm>
            <a:off x="1154887" y="2165299"/>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Sheena wrote out the draft for the Project Spotlight post. Sheena reviewed, analyzed, and made edits to Neelima’s Word document. After that, she rewrote the post for the Project Spotlight.</a:t>
            </a:r>
            <a:endParaRPr b="0" i="0" sz="978" u="none" cap="none" strike="noStrike">
              <a:solidFill>
                <a:schemeClr val="dk1"/>
              </a:solidFill>
              <a:latin typeface="Calibri"/>
              <a:ea typeface="Calibri"/>
              <a:cs typeface="Calibri"/>
              <a:sym typeface="Calibri"/>
            </a:endParaRPr>
          </a:p>
        </p:txBody>
      </p:sp>
      <p:sp>
        <p:nvSpPr>
          <p:cNvPr id="415" name="Google Shape;415;p36"/>
          <p:cNvSpPr/>
          <p:nvPr/>
        </p:nvSpPr>
        <p:spPr>
          <a:xfrm>
            <a:off x="652882" y="2681021"/>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6"/>
          <p:cNvSpPr/>
          <p:nvPr/>
        </p:nvSpPr>
        <p:spPr>
          <a:xfrm>
            <a:off x="652882" y="2681021"/>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3</a:t>
            </a:r>
            <a:endParaRPr b="0" i="0" sz="1128" u="none" cap="none" strike="noStrike">
              <a:solidFill>
                <a:schemeClr val="dk1"/>
              </a:solidFill>
              <a:latin typeface="Calibri"/>
              <a:ea typeface="Calibri"/>
              <a:cs typeface="Calibri"/>
              <a:sym typeface="Calibri"/>
            </a:endParaRPr>
          </a:p>
        </p:txBody>
      </p:sp>
      <p:sp>
        <p:nvSpPr>
          <p:cNvPr id="417" name="Google Shape;417;p36"/>
          <p:cNvSpPr/>
          <p:nvPr/>
        </p:nvSpPr>
        <p:spPr>
          <a:xfrm>
            <a:off x="1154887" y="2667305"/>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The draft was posted for feedback</a:t>
            </a:r>
            <a:endParaRPr b="0" i="0" sz="1090" u="none" cap="none" strike="noStrike">
              <a:solidFill>
                <a:schemeClr val="dk1"/>
              </a:solidFill>
              <a:latin typeface="Calibri"/>
              <a:ea typeface="Calibri"/>
              <a:cs typeface="Calibri"/>
              <a:sym typeface="Calibri"/>
            </a:endParaRPr>
          </a:p>
        </p:txBody>
      </p:sp>
      <p:sp>
        <p:nvSpPr>
          <p:cNvPr id="418" name="Google Shape;418;p36"/>
          <p:cNvSpPr/>
          <p:nvPr/>
        </p:nvSpPr>
        <p:spPr>
          <a:xfrm>
            <a:off x="1154887" y="2887675"/>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The draft is posted in the #Postfeedback Slack channel; however, no feedback was received or provided throughout this experimentation.</a:t>
            </a:r>
            <a:endParaRPr b="0" i="0" sz="978" u="none" cap="none" strike="noStrike">
              <a:solidFill>
                <a:schemeClr val="dk1"/>
              </a:solidFill>
              <a:latin typeface="Calibri"/>
              <a:ea typeface="Calibri"/>
              <a:cs typeface="Calibri"/>
              <a:sym typeface="Calibri"/>
            </a:endParaRPr>
          </a:p>
        </p:txBody>
      </p:sp>
      <p:sp>
        <p:nvSpPr>
          <p:cNvPr id="419" name="Google Shape;419;p36"/>
          <p:cNvSpPr/>
          <p:nvPr/>
        </p:nvSpPr>
        <p:spPr>
          <a:xfrm>
            <a:off x="652882" y="3403397"/>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6"/>
          <p:cNvSpPr/>
          <p:nvPr/>
        </p:nvSpPr>
        <p:spPr>
          <a:xfrm>
            <a:off x="652882" y="3403397"/>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4</a:t>
            </a:r>
            <a:endParaRPr b="0" i="0" sz="1128" u="none" cap="none" strike="noStrike">
              <a:solidFill>
                <a:schemeClr val="dk1"/>
              </a:solidFill>
              <a:latin typeface="Calibri"/>
              <a:ea typeface="Calibri"/>
              <a:cs typeface="Calibri"/>
              <a:sym typeface="Calibri"/>
            </a:endParaRPr>
          </a:p>
        </p:txBody>
      </p:sp>
      <p:sp>
        <p:nvSpPr>
          <p:cNvPr id="421" name="Google Shape;421;p36"/>
          <p:cNvSpPr/>
          <p:nvPr/>
        </p:nvSpPr>
        <p:spPr>
          <a:xfrm>
            <a:off x="1154887" y="3389681"/>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The team redesigned the process</a:t>
            </a:r>
            <a:endParaRPr b="0" i="0" sz="1090" u="none" cap="none" strike="noStrike">
              <a:solidFill>
                <a:schemeClr val="dk1"/>
              </a:solidFill>
              <a:latin typeface="Calibri"/>
              <a:ea typeface="Calibri"/>
              <a:cs typeface="Calibri"/>
              <a:sym typeface="Calibri"/>
            </a:endParaRPr>
          </a:p>
        </p:txBody>
      </p:sp>
      <p:sp>
        <p:nvSpPr>
          <p:cNvPr id="422" name="Google Shape;422;p36"/>
          <p:cNvSpPr/>
          <p:nvPr/>
        </p:nvSpPr>
        <p:spPr>
          <a:xfrm>
            <a:off x="1154887" y="3609137"/>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The entire team, composed of Sheena, Neelima, and Jacob, had detailed discussions on how to improve the process of receiving feedback on a post draft.</a:t>
            </a:r>
            <a:endParaRPr b="0" i="0" sz="978" u="none" cap="none" strike="noStrike">
              <a:solidFill>
                <a:schemeClr val="dk1"/>
              </a:solidFill>
              <a:latin typeface="Calibri"/>
              <a:ea typeface="Calibri"/>
              <a:cs typeface="Calibri"/>
              <a:sym typeface="Calibri"/>
            </a:endParaRPr>
          </a:p>
        </p:txBody>
      </p:sp>
      <p:sp>
        <p:nvSpPr>
          <p:cNvPr id="423" name="Google Shape;423;p36"/>
          <p:cNvSpPr/>
          <p:nvPr/>
        </p:nvSpPr>
        <p:spPr>
          <a:xfrm>
            <a:off x="447142" y="4194353"/>
            <a:ext cx="8250631" cy="824789"/>
          </a:xfrm>
          <a:prstGeom prst="roundRect">
            <a:avLst>
              <a:gd fmla="val 4213" name="adj"/>
            </a:avLst>
          </a:prstGeom>
          <a:solidFill>
            <a:srgbClr val="003057"/>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6"/>
          <p:cNvSpPr/>
          <p:nvPr/>
        </p:nvSpPr>
        <p:spPr>
          <a:xfrm>
            <a:off x="652882" y="4317797"/>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1014"/>
              <a:buFont typeface="Calibri"/>
              <a:buNone/>
            </a:pPr>
            <a:r>
              <a:rPr b="1" i="0" lang="en" sz="1015" u="none" cap="none" strike="noStrike">
                <a:solidFill>
                  <a:srgbClr val="B3A369"/>
                </a:solidFill>
                <a:latin typeface="Calibri"/>
                <a:ea typeface="Calibri"/>
                <a:cs typeface="Calibri"/>
                <a:sym typeface="Calibri"/>
              </a:rPr>
              <a:t>What those discussions produced</a:t>
            </a:r>
            <a:endParaRPr b="0" i="0" sz="1015" u="none" cap="none" strike="noStrike">
              <a:solidFill>
                <a:schemeClr val="dk1"/>
              </a:solidFill>
              <a:latin typeface="Calibri"/>
              <a:ea typeface="Calibri"/>
              <a:cs typeface="Calibri"/>
              <a:sym typeface="Calibri"/>
            </a:endParaRPr>
          </a:p>
        </p:txBody>
      </p:sp>
      <p:sp>
        <p:nvSpPr>
          <p:cNvPr id="425" name="Google Shape;425;p36"/>
          <p:cNvSpPr/>
          <p:nvPr/>
        </p:nvSpPr>
        <p:spPr>
          <a:xfrm>
            <a:off x="652882" y="4579315"/>
            <a:ext cx="7838237" cy="316382"/>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FFFFFF"/>
              </a:buClr>
              <a:buSzPts val="902"/>
              <a:buFont typeface="Calibri"/>
              <a:buNone/>
            </a:pPr>
            <a:r>
              <a:rPr b="0" i="0" lang="en" sz="902" u="none" cap="none" strike="noStrike">
                <a:solidFill>
                  <a:srgbClr val="FFFFFF"/>
                </a:solidFill>
                <a:latin typeface="Calibri"/>
                <a:ea typeface="Calibri"/>
                <a:cs typeface="Calibri"/>
                <a:sym typeface="Calibri"/>
              </a:rPr>
              <a:t>This led to creating the current idea of having a procedure where the draft gets posted in the #post-feedback Slack channel, with one folder created and assigned to each draft, a consistent way of announcing when drafts get posted, and a 48-hour period to allow for enough time for proper feedback response.</a:t>
            </a:r>
            <a:endParaRPr b="0" i="0" sz="902" u="none" cap="none" strike="noStrike">
              <a:solidFill>
                <a:schemeClr val="dk1"/>
              </a:solidFill>
              <a:latin typeface="Calibri"/>
              <a:ea typeface="Calibri"/>
              <a:cs typeface="Calibri"/>
              <a:sym typeface="Calibri"/>
            </a:endParaRPr>
          </a:p>
        </p:txBody>
      </p:sp>
      <p:sp>
        <p:nvSpPr>
          <p:cNvPr id="426" name="Google Shape;426;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7"/>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RESULTS</a:t>
            </a:r>
            <a:endParaRPr b="0" i="0" sz="827" u="none" cap="none" strike="noStrike">
              <a:solidFill>
                <a:schemeClr val="dk1"/>
              </a:solidFill>
              <a:latin typeface="Calibri"/>
              <a:ea typeface="Calibri"/>
              <a:cs typeface="Calibri"/>
              <a:sym typeface="Calibri"/>
            </a:endParaRPr>
          </a:p>
        </p:txBody>
      </p:sp>
      <p:sp>
        <p:nvSpPr>
          <p:cNvPr id="433" name="Google Shape;433;p37"/>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Outcomes and Evidence</a:t>
            </a:r>
            <a:endParaRPr b="0" i="0" sz="2030" u="none" cap="none" strike="noStrike">
              <a:solidFill>
                <a:schemeClr val="dk1"/>
              </a:solidFill>
              <a:latin typeface="Calibri"/>
              <a:ea typeface="Calibri"/>
              <a:cs typeface="Calibri"/>
              <a:sym typeface="Calibri"/>
            </a:endParaRPr>
          </a:p>
        </p:txBody>
      </p:sp>
      <p:sp>
        <p:nvSpPr>
          <p:cNvPr id="434" name="Google Shape;434;p37"/>
          <p:cNvSpPr/>
          <p:nvPr/>
        </p:nvSpPr>
        <p:spPr>
          <a:xfrm>
            <a:off x="447142" y="1203350"/>
            <a:ext cx="8250631" cy="790956"/>
          </a:xfrm>
          <a:prstGeom prst="roundRect">
            <a:avLst>
              <a:gd fmla="val 4393"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7"/>
          <p:cNvSpPr/>
          <p:nvPr/>
        </p:nvSpPr>
        <p:spPr>
          <a:xfrm>
            <a:off x="652882" y="1326794"/>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draft</a:t>
            </a:r>
            <a:endParaRPr b="0" i="0" sz="1015" u="none" cap="none" strike="noStrike">
              <a:solidFill>
                <a:schemeClr val="dk1"/>
              </a:solidFill>
              <a:latin typeface="Calibri"/>
              <a:ea typeface="Calibri"/>
              <a:cs typeface="Calibri"/>
              <a:sym typeface="Calibri"/>
            </a:endParaRPr>
          </a:p>
        </p:txBody>
      </p:sp>
      <p:sp>
        <p:nvSpPr>
          <p:cNvPr id="436" name="Google Shape;436;p37"/>
          <p:cNvSpPr/>
          <p:nvPr/>
        </p:nvSpPr>
        <p:spPr>
          <a:xfrm>
            <a:off x="652882" y="1588313"/>
            <a:ext cx="7838237" cy="281635"/>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A draft of the project spotlight was fully written out, and it was finalized once Sheena incorporated the edits that Neelima made.</a:t>
            </a:r>
            <a:endParaRPr b="0" i="0" sz="940" u="none" cap="none" strike="noStrike">
              <a:solidFill>
                <a:schemeClr val="dk1"/>
              </a:solidFill>
              <a:latin typeface="Calibri"/>
              <a:ea typeface="Calibri"/>
              <a:cs typeface="Calibri"/>
              <a:sym typeface="Calibri"/>
            </a:endParaRPr>
          </a:p>
        </p:txBody>
      </p:sp>
      <p:sp>
        <p:nvSpPr>
          <p:cNvPr id="437" name="Google Shape;437;p37"/>
          <p:cNvSpPr/>
          <p:nvPr/>
        </p:nvSpPr>
        <p:spPr>
          <a:xfrm>
            <a:off x="447142" y="2096719"/>
            <a:ext cx="8250631" cy="962863"/>
          </a:xfrm>
          <a:prstGeom prst="roundRect">
            <a:avLst>
              <a:gd fmla="val 3609" name="adj"/>
            </a:avLst>
          </a:prstGeom>
          <a:solidFill>
            <a:srgbClr val="F1EAD7"/>
          </a:solidFill>
          <a:ln cap="flat" cmpd="sng" w="12700">
            <a:solidFill>
              <a:srgbClr val="F1EA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
          <p:cNvSpPr/>
          <p:nvPr/>
        </p:nvSpPr>
        <p:spPr>
          <a:xfrm>
            <a:off x="652882" y="2221078"/>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feedback attempt</a:t>
            </a:r>
            <a:endParaRPr b="0" i="0" sz="1015" u="none" cap="none" strike="noStrike">
              <a:solidFill>
                <a:schemeClr val="dk1"/>
              </a:solidFill>
              <a:latin typeface="Calibri"/>
              <a:ea typeface="Calibri"/>
              <a:cs typeface="Calibri"/>
              <a:sym typeface="Calibri"/>
            </a:endParaRPr>
          </a:p>
        </p:txBody>
      </p:sp>
      <p:sp>
        <p:nvSpPr>
          <p:cNvPr id="439" name="Google Shape;439;p37"/>
          <p:cNvSpPr/>
          <p:nvPr/>
        </p:nvSpPr>
        <p:spPr>
          <a:xfrm>
            <a:off x="652882" y="2481682"/>
            <a:ext cx="7838237" cy="45354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When attempting to get feedback for the project spotlight post draft, there were no responses. By having no responses for the draft, this shows that there was a problem that needed to be resolved and addressed.</a:t>
            </a:r>
            <a:endParaRPr b="0" i="0" sz="940" u="none" cap="none" strike="noStrike">
              <a:solidFill>
                <a:schemeClr val="dk1"/>
              </a:solidFill>
              <a:latin typeface="Calibri"/>
              <a:ea typeface="Calibri"/>
              <a:cs typeface="Calibri"/>
              <a:sym typeface="Calibri"/>
            </a:endParaRPr>
          </a:p>
        </p:txBody>
      </p:sp>
      <p:sp>
        <p:nvSpPr>
          <p:cNvPr id="440" name="Google Shape;440;p37"/>
          <p:cNvSpPr/>
          <p:nvPr/>
        </p:nvSpPr>
        <p:spPr>
          <a:xfrm>
            <a:off x="447142" y="3162910"/>
            <a:ext cx="8250631" cy="1031443"/>
          </a:xfrm>
          <a:prstGeom prst="roundRect">
            <a:avLst>
              <a:gd fmla="val 3369" name="adj"/>
            </a:avLst>
          </a:prstGeom>
          <a:solidFill>
            <a:srgbClr val="003057"/>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652882" y="3286354"/>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1014"/>
              <a:buFont typeface="Calibri"/>
              <a:buNone/>
            </a:pPr>
            <a:r>
              <a:rPr b="1" i="0" lang="en" sz="1015" u="none" cap="none" strike="noStrike">
                <a:solidFill>
                  <a:srgbClr val="B3A369"/>
                </a:solidFill>
                <a:latin typeface="Calibri"/>
                <a:ea typeface="Calibri"/>
                <a:cs typeface="Calibri"/>
                <a:sym typeface="Calibri"/>
              </a:rPr>
              <a:t>What we changed as a result</a:t>
            </a:r>
            <a:endParaRPr b="0" i="0" sz="1015" u="none" cap="none" strike="noStrike">
              <a:solidFill>
                <a:schemeClr val="dk1"/>
              </a:solidFill>
              <a:latin typeface="Calibri"/>
              <a:ea typeface="Calibri"/>
              <a:cs typeface="Calibri"/>
              <a:sym typeface="Calibri"/>
            </a:endParaRPr>
          </a:p>
        </p:txBody>
      </p:sp>
      <p:sp>
        <p:nvSpPr>
          <p:cNvPr id="442" name="Google Shape;442;p37"/>
          <p:cNvSpPr/>
          <p:nvPr/>
        </p:nvSpPr>
        <p:spPr>
          <a:xfrm>
            <a:off x="652882" y="3547872"/>
            <a:ext cx="7838237" cy="52212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FFFFFF"/>
              </a:buClr>
              <a:buSzPts val="939"/>
              <a:buFont typeface="Calibri"/>
              <a:buNone/>
            </a:pPr>
            <a:r>
              <a:rPr b="0" i="0" lang="en" sz="940" u="none" cap="none" strike="noStrike">
                <a:solidFill>
                  <a:srgbClr val="FFFFFF"/>
                </a:solidFill>
                <a:latin typeface="Calibri"/>
                <a:ea typeface="Calibri"/>
                <a:cs typeface="Calibri"/>
                <a:sym typeface="Calibri"/>
              </a:rPr>
              <a:t>We revised the procedure of the implementation cycle by making sure the draft gets posted onto the #feedback Slack channel, creating an announcement format, and providing a 48-hour window for receiving feedback on the draft post.</a:t>
            </a:r>
            <a:endParaRPr b="0" i="0" sz="940" u="none" cap="none" strike="noStrike">
              <a:solidFill>
                <a:schemeClr val="dk1"/>
              </a:solidFill>
              <a:latin typeface="Calibri"/>
              <a:ea typeface="Calibri"/>
              <a:cs typeface="Calibri"/>
              <a:sym typeface="Calibri"/>
            </a:endParaRPr>
          </a:p>
        </p:txBody>
      </p:sp>
      <p:sp>
        <p:nvSpPr>
          <p:cNvPr id="443" name="Google Shape;443;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8"/>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RESULTS</a:t>
            </a:r>
            <a:endParaRPr b="0" i="0" sz="827" u="none" cap="none" strike="noStrike">
              <a:solidFill>
                <a:schemeClr val="dk1"/>
              </a:solidFill>
              <a:latin typeface="Calibri"/>
              <a:ea typeface="Calibri"/>
              <a:cs typeface="Calibri"/>
              <a:sym typeface="Calibri"/>
            </a:endParaRPr>
          </a:p>
        </p:txBody>
      </p:sp>
      <p:sp>
        <p:nvSpPr>
          <p:cNvPr id="450" name="Google Shape;450;p38"/>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Effectiveness</a:t>
            </a:r>
            <a:endParaRPr b="0" i="0" sz="2030" u="none" cap="none" strike="noStrike">
              <a:solidFill>
                <a:schemeClr val="dk1"/>
              </a:solidFill>
              <a:latin typeface="Calibri"/>
              <a:ea typeface="Calibri"/>
              <a:cs typeface="Calibri"/>
              <a:sym typeface="Calibri"/>
            </a:endParaRPr>
          </a:p>
        </p:txBody>
      </p:sp>
      <p:sp>
        <p:nvSpPr>
          <p:cNvPr id="451" name="Google Shape;451;p38"/>
          <p:cNvSpPr/>
          <p:nvPr/>
        </p:nvSpPr>
        <p:spPr>
          <a:xfrm>
            <a:off x="447142" y="1203350"/>
            <a:ext cx="4091026" cy="1375258"/>
          </a:xfrm>
          <a:prstGeom prst="roundRect">
            <a:avLst>
              <a:gd fmla="val 2527"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8"/>
          <p:cNvSpPr/>
          <p:nvPr/>
        </p:nvSpPr>
        <p:spPr>
          <a:xfrm>
            <a:off x="652882" y="1326794"/>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What worked</a:t>
            </a:r>
            <a:endParaRPr b="0" i="0" sz="1015" u="none" cap="none" strike="noStrike">
              <a:solidFill>
                <a:schemeClr val="dk1"/>
              </a:solidFill>
              <a:latin typeface="Calibri"/>
              <a:ea typeface="Calibri"/>
              <a:cs typeface="Calibri"/>
              <a:sym typeface="Calibri"/>
            </a:endParaRPr>
          </a:p>
        </p:txBody>
      </p:sp>
      <p:sp>
        <p:nvSpPr>
          <p:cNvPr id="453" name="Google Shape;453;p38"/>
          <p:cNvSpPr/>
          <p:nvPr/>
        </p:nvSpPr>
        <p:spPr>
          <a:xfrm>
            <a:off x="652882" y="1588313"/>
            <a:ext cx="3678631" cy="865937"/>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collaboration with Neelima on the project spotlight test experiment worked successfully through the creation of a draft that was finalized and is ready to be posted on LinkedIn.</a:t>
            </a:r>
            <a:endParaRPr b="0" i="0" sz="940" u="none" cap="none" strike="noStrike">
              <a:solidFill>
                <a:schemeClr val="dk1"/>
              </a:solidFill>
              <a:latin typeface="Calibri"/>
              <a:ea typeface="Calibri"/>
              <a:cs typeface="Calibri"/>
              <a:sym typeface="Calibri"/>
            </a:endParaRPr>
          </a:p>
        </p:txBody>
      </p:sp>
      <p:sp>
        <p:nvSpPr>
          <p:cNvPr id="454" name="Google Shape;454;p38"/>
          <p:cNvSpPr/>
          <p:nvPr/>
        </p:nvSpPr>
        <p:spPr>
          <a:xfrm>
            <a:off x="4606747" y="1203350"/>
            <a:ext cx="4091026" cy="1375258"/>
          </a:xfrm>
          <a:prstGeom prst="roundRect">
            <a:avLst>
              <a:gd fmla="val 2527" name="adj"/>
            </a:avLst>
          </a:prstGeom>
          <a:solidFill>
            <a:srgbClr val="F1EAD7"/>
          </a:solidFill>
          <a:ln cap="flat" cmpd="sng" w="12700">
            <a:solidFill>
              <a:srgbClr val="F1EAD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8"/>
          <p:cNvSpPr/>
          <p:nvPr/>
        </p:nvSpPr>
        <p:spPr>
          <a:xfrm>
            <a:off x="4812487" y="1326794"/>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What did not work</a:t>
            </a:r>
            <a:endParaRPr b="0" i="0" sz="1015" u="none" cap="none" strike="noStrike">
              <a:solidFill>
                <a:schemeClr val="dk1"/>
              </a:solidFill>
              <a:latin typeface="Calibri"/>
              <a:ea typeface="Calibri"/>
              <a:cs typeface="Calibri"/>
              <a:sym typeface="Calibri"/>
            </a:endParaRPr>
          </a:p>
        </p:txBody>
      </p:sp>
      <p:sp>
        <p:nvSpPr>
          <p:cNvPr id="456" name="Google Shape;456;p38"/>
          <p:cNvSpPr/>
          <p:nvPr/>
        </p:nvSpPr>
        <p:spPr>
          <a:xfrm>
            <a:off x="4812487" y="1588313"/>
            <a:ext cx="3678631" cy="865937"/>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Receiving feedback on a draft presented was challenging and not successful because there were no clear guidelines and protocols for receiving feedback on a draft post.</a:t>
            </a:r>
            <a:endParaRPr b="0" i="0" sz="940" u="none" cap="none" strike="noStrike">
              <a:solidFill>
                <a:schemeClr val="dk1"/>
              </a:solidFill>
              <a:latin typeface="Calibri"/>
              <a:ea typeface="Calibri"/>
              <a:cs typeface="Calibri"/>
              <a:sym typeface="Calibri"/>
            </a:endParaRPr>
          </a:p>
        </p:txBody>
      </p:sp>
      <p:sp>
        <p:nvSpPr>
          <p:cNvPr id="457" name="Google Shape;457;p38"/>
          <p:cNvSpPr/>
          <p:nvPr/>
        </p:nvSpPr>
        <p:spPr>
          <a:xfrm>
            <a:off x="447142" y="2715768"/>
            <a:ext cx="8250631" cy="1031443"/>
          </a:xfrm>
          <a:prstGeom prst="roundRect">
            <a:avLst>
              <a:gd fmla="val 3369"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8"/>
          <p:cNvSpPr/>
          <p:nvPr/>
        </p:nvSpPr>
        <p:spPr>
          <a:xfrm>
            <a:off x="652882" y="2839212"/>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How the revision addresses it</a:t>
            </a:r>
            <a:endParaRPr b="0" i="0" sz="1015" u="none" cap="none" strike="noStrike">
              <a:solidFill>
                <a:schemeClr val="dk1"/>
              </a:solidFill>
              <a:latin typeface="Calibri"/>
              <a:ea typeface="Calibri"/>
              <a:cs typeface="Calibri"/>
              <a:sym typeface="Calibri"/>
            </a:endParaRPr>
          </a:p>
        </p:txBody>
      </p:sp>
      <p:sp>
        <p:nvSpPr>
          <p:cNvPr id="459" name="Google Shape;459;p38"/>
          <p:cNvSpPr/>
          <p:nvPr/>
        </p:nvSpPr>
        <p:spPr>
          <a:xfrm>
            <a:off x="652882" y="3100730"/>
            <a:ext cx="7838237" cy="522122"/>
          </a:xfrm>
          <a:prstGeom prst="rect">
            <a:avLst/>
          </a:prstGeom>
          <a:noFill/>
          <a:ln>
            <a:noFill/>
          </a:ln>
        </p:spPr>
        <p:txBody>
          <a:bodyPr anchorCtr="0" anchor="t" bIns="0" lIns="0" spcFirstLastPara="1" rIns="0" wrap="square" tIns="0">
            <a:noAutofit/>
          </a:bodyPr>
          <a:lstStyle/>
          <a:p>
            <a:pPr indent="0" lvl="0" marL="0" marR="0" rtl="0" algn="l">
              <a:lnSpc>
                <a:spcPct val="140149"/>
              </a:lnSpc>
              <a:spcBef>
                <a:spcPts val="0"/>
              </a:spcBef>
              <a:spcAft>
                <a:spcPts val="0"/>
              </a:spcAft>
              <a:buClr>
                <a:srgbClr val="3A3A3A"/>
              </a:buClr>
              <a:buSzPts val="939"/>
              <a:buFont typeface="Calibri"/>
              <a:buNone/>
            </a:pPr>
            <a:r>
              <a:rPr b="0" i="0" lang="en" sz="940" u="none" cap="none" strike="noStrike">
                <a:solidFill>
                  <a:srgbClr val="3A3A3A"/>
                </a:solidFill>
                <a:latin typeface="Calibri"/>
                <a:ea typeface="Calibri"/>
                <a:cs typeface="Calibri"/>
                <a:sym typeface="Calibri"/>
              </a:rPr>
              <a:t>The improvements to the post feedback structure properly handle the issue between receiving feedback, making protocols on how drafts get announced, and setting a clear deadline on when and how to receive feedback on the post draft.</a:t>
            </a:r>
            <a:endParaRPr b="0" i="0" sz="940" u="none" cap="none" strike="noStrike">
              <a:solidFill>
                <a:schemeClr val="dk1"/>
              </a:solidFill>
              <a:latin typeface="Calibri"/>
              <a:ea typeface="Calibri"/>
              <a:cs typeface="Calibri"/>
              <a:sym typeface="Calibri"/>
            </a:endParaRPr>
          </a:p>
        </p:txBody>
      </p:sp>
      <p:sp>
        <p:nvSpPr>
          <p:cNvPr id="460" name="Google Shape;460;p38"/>
          <p:cNvSpPr/>
          <p:nvPr/>
        </p:nvSpPr>
        <p:spPr>
          <a:xfrm>
            <a:off x="447142" y="3884371"/>
            <a:ext cx="8250631" cy="494690"/>
          </a:xfrm>
          <a:prstGeom prst="roundRect">
            <a:avLst>
              <a:gd fmla="val 7024" name="adj"/>
            </a:avLst>
          </a:prstGeom>
          <a:solidFill>
            <a:srgbClr val="003057"/>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8"/>
          <p:cNvSpPr/>
          <p:nvPr/>
        </p:nvSpPr>
        <p:spPr>
          <a:xfrm>
            <a:off x="673913" y="3884371"/>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9"/>
              <a:buFont typeface="Calibri"/>
              <a:buNone/>
            </a:pPr>
            <a:r>
              <a:rPr b="0" i="0" lang="en" sz="940" u="none" cap="none" strike="noStrike">
                <a:solidFill>
                  <a:srgbClr val="FFFFFF"/>
                </a:solidFill>
                <a:latin typeface="Calibri"/>
                <a:ea typeface="Calibri"/>
                <a:cs typeface="Calibri"/>
                <a:sym typeface="Calibri"/>
              </a:rPr>
              <a:t>Overall, the effectiveness of the improved version has not been validated and needs to be assessed during the next post draft cycle.</a:t>
            </a:r>
            <a:endParaRPr b="0" i="0" sz="940" u="none" cap="none" strike="noStrike">
              <a:solidFill>
                <a:schemeClr val="dk1"/>
              </a:solidFill>
              <a:latin typeface="Calibri"/>
              <a:ea typeface="Calibri"/>
              <a:cs typeface="Calibri"/>
              <a:sym typeface="Calibri"/>
            </a:endParaRPr>
          </a:p>
        </p:txBody>
      </p:sp>
      <p:sp>
        <p:nvSpPr>
          <p:cNvPr id="462" name="Google Shape;462;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9"/>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REFLECTION</a:t>
            </a:r>
            <a:endParaRPr b="0" i="0" sz="827" u="none" cap="none" strike="noStrike">
              <a:solidFill>
                <a:schemeClr val="dk1"/>
              </a:solidFill>
              <a:latin typeface="Calibri"/>
              <a:ea typeface="Calibri"/>
              <a:cs typeface="Calibri"/>
              <a:sym typeface="Calibri"/>
            </a:endParaRPr>
          </a:p>
        </p:txBody>
      </p:sp>
      <p:sp>
        <p:nvSpPr>
          <p:cNvPr id="469" name="Google Shape;469;p39"/>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Next Steps</a:t>
            </a:r>
            <a:endParaRPr b="0" i="0" sz="2030" u="none" cap="none" strike="noStrike">
              <a:solidFill>
                <a:schemeClr val="dk1"/>
              </a:solidFill>
              <a:latin typeface="Calibri"/>
              <a:ea typeface="Calibri"/>
              <a:cs typeface="Calibri"/>
              <a:sym typeface="Calibri"/>
            </a:endParaRPr>
          </a:p>
        </p:txBody>
      </p:sp>
      <p:sp>
        <p:nvSpPr>
          <p:cNvPr id="470" name="Google Shape;470;p39"/>
          <p:cNvSpPr/>
          <p:nvPr/>
        </p:nvSpPr>
        <p:spPr>
          <a:xfrm>
            <a:off x="447142" y="1237183"/>
            <a:ext cx="8250631" cy="2564892"/>
          </a:xfrm>
          <a:prstGeom prst="roundRect">
            <a:avLst>
              <a:gd fmla="val 1355"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9"/>
          <p:cNvSpPr/>
          <p:nvPr/>
        </p:nvSpPr>
        <p:spPr>
          <a:xfrm>
            <a:off x="652882" y="1388974"/>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9"/>
          <p:cNvSpPr/>
          <p:nvPr/>
        </p:nvSpPr>
        <p:spPr>
          <a:xfrm>
            <a:off x="652882" y="1388974"/>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1</a:t>
            </a:r>
            <a:endParaRPr b="0" i="0" sz="1128" u="none" cap="none" strike="noStrike">
              <a:solidFill>
                <a:schemeClr val="dk1"/>
              </a:solidFill>
              <a:latin typeface="Calibri"/>
              <a:ea typeface="Calibri"/>
              <a:cs typeface="Calibri"/>
              <a:sym typeface="Calibri"/>
            </a:endParaRPr>
          </a:p>
        </p:txBody>
      </p:sp>
      <p:sp>
        <p:nvSpPr>
          <p:cNvPr id="473" name="Google Shape;473;p39"/>
          <p:cNvSpPr/>
          <p:nvPr/>
        </p:nvSpPr>
        <p:spPr>
          <a:xfrm>
            <a:off x="1154887" y="1375258"/>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Test the fully revised procedure</a:t>
            </a:r>
            <a:endParaRPr b="0" i="0" sz="1090" u="none" cap="none" strike="noStrike">
              <a:solidFill>
                <a:schemeClr val="dk1"/>
              </a:solidFill>
              <a:latin typeface="Calibri"/>
              <a:ea typeface="Calibri"/>
              <a:cs typeface="Calibri"/>
              <a:sym typeface="Calibri"/>
            </a:endParaRPr>
          </a:p>
        </p:txBody>
      </p:sp>
      <p:sp>
        <p:nvSpPr>
          <p:cNvPr id="474" name="Google Shape;474;p39"/>
          <p:cNvSpPr/>
          <p:nvPr/>
        </p:nvSpPr>
        <p:spPr>
          <a:xfrm>
            <a:off x="1154887" y="1594714"/>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Plans to implement the next drafts of the project spotlight or faces of HAAG stream contents across a fully revised procedure, and test whether the drafts get feedback within 48 hours.</a:t>
            </a:r>
            <a:endParaRPr b="0" i="0" sz="978" u="none" cap="none" strike="noStrike">
              <a:solidFill>
                <a:schemeClr val="dk1"/>
              </a:solidFill>
              <a:latin typeface="Calibri"/>
              <a:ea typeface="Calibri"/>
              <a:cs typeface="Calibri"/>
              <a:sym typeface="Calibri"/>
            </a:endParaRPr>
          </a:p>
        </p:txBody>
      </p:sp>
      <p:sp>
        <p:nvSpPr>
          <p:cNvPr id="475" name="Google Shape;475;p39"/>
          <p:cNvSpPr/>
          <p:nvPr/>
        </p:nvSpPr>
        <p:spPr>
          <a:xfrm>
            <a:off x="652882" y="2179930"/>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9"/>
          <p:cNvSpPr/>
          <p:nvPr/>
        </p:nvSpPr>
        <p:spPr>
          <a:xfrm>
            <a:off x="652882" y="2179930"/>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2</a:t>
            </a:r>
            <a:endParaRPr b="0" i="0" sz="1128" u="none" cap="none" strike="noStrike">
              <a:solidFill>
                <a:schemeClr val="dk1"/>
              </a:solidFill>
              <a:latin typeface="Calibri"/>
              <a:ea typeface="Calibri"/>
              <a:cs typeface="Calibri"/>
              <a:sym typeface="Calibri"/>
            </a:endParaRPr>
          </a:p>
        </p:txBody>
      </p:sp>
      <p:sp>
        <p:nvSpPr>
          <p:cNvPr id="477" name="Google Shape;477;p39"/>
          <p:cNvSpPr/>
          <p:nvPr/>
        </p:nvSpPr>
        <p:spPr>
          <a:xfrm>
            <a:off x="1154887" y="2165299"/>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Finalize the announcement protocol</a:t>
            </a:r>
            <a:endParaRPr b="0" i="0" sz="1090" u="none" cap="none" strike="noStrike">
              <a:solidFill>
                <a:schemeClr val="dk1"/>
              </a:solidFill>
              <a:latin typeface="Calibri"/>
              <a:ea typeface="Calibri"/>
              <a:cs typeface="Calibri"/>
              <a:sym typeface="Calibri"/>
            </a:endParaRPr>
          </a:p>
        </p:txBody>
      </p:sp>
      <p:sp>
        <p:nvSpPr>
          <p:cNvPr id="478" name="Google Shape;478;p39"/>
          <p:cNvSpPr/>
          <p:nvPr/>
        </p:nvSpPr>
        <p:spPr>
          <a:xfrm>
            <a:off x="1154887" y="2385670"/>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Conclude the criteria of the announcement protocol for new post drafts in the #post-feedback channel of Slack.</a:t>
            </a:r>
            <a:endParaRPr b="0" i="0" sz="978" u="none" cap="none" strike="noStrike">
              <a:solidFill>
                <a:schemeClr val="dk1"/>
              </a:solidFill>
              <a:latin typeface="Calibri"/>
              <a:ea typeface="Calibri"/>
              <a:cs typeface="Calibri"/>
              <a:sym typeface="Calibri"/>
            </a:endParaRPr>
          </a:p>
        </p:txBody>
      </p:sp>
      <p:sp>
        <p:nvSpPr>
          <p:cNvPr id="479" name="Google Shape;479;p39"/>
          <p:cNvSpPr/>
          <p:nvPr/>
        </p:nvSpPr>
        <p:spPr>
          <a:xfrm>
            <a:off x="652882" y="2969971"/>
            <a:ext cx="357530" cy="357530"/>
          </a:xfrm>
          <a:prstGeom prst="ellipse">
            <a:avLst/>
          </a:prstGeom>
          <a:solidFill>
            <a:srgbClr val="B3A3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9"/>
          <p:cNvSpPr/>
          <p:nvPr/>
        </p:nvSpPr>
        <p:spPr>
          <a:xfrm>
            <a:off x="652882" y="2969971"/>
            <a:ext cx="357530" cy="35753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3</a:t>
            </a:r>
            <a:endParaRPr b="0" i="0" sz="1128" u="none" cap="none" strike="noStrike">
              <a:solidFill>
                <a:schemeClr val="dk1"/>
              </a:solidFill>
              <a:latin typeface="Calibri"/>
              <a:ea typeface="Calibri"/>
              <a:cs typeface="Calibri"/>
              <a:sym typeface="Calibri"/>
            </a:endParaRPr>
          </a:p>
        </p:txBody>
      </p:sp>
      <p:sp>
        <p:nvSpPr>
          <p:cNvPr id="481" name="Google Shape;481;p39"/>
          <p:cNvSpPr/>
          <p:nvPr/>
        </p:nvSpPr>
        <p:spPr>
          <a:xfrm>
            <a:off x="1154887" y="2956255"/>
            <a:ext cx="7356348"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90"/>
              <a:buFont typeface="Calibri"/>
              <a:buNone/>
            </a:pPr>
            <a:r>
              <a:rPr b="1" i="0" lang="en" sz="1090" u="none" cap="none" strike="noStrike">
                <a:solidFill>
                  <a:srgbClr val="003057"/>
                </a:solidFill>
                <a:latin typeface="Calibri"/>
                <a:ea typeface="Calibri"/>
                <a:cs typeface="Calibri"/>
                <a:sym typeface="Calibri"/>
              </a:rPr>
              <a:t>Validate the 48-hour window</a:t>
            </a:r>
            <a:endParaRPr b="0" i="0" sz="1090" u="none" cap="none" strike="noStrike">
              <a:solidFill>
                <a:schemeClr val="dk1"/>
              </a:solidFill>
              <a:latin typeface="Calibri"/>
              <a:ea typeface="Calibri"/>
              <a:cs typeface="Calibri"/>
              <a:sym typeface="Calibri"/>
            </a:endParaRPr>
          </a:p>
        </p:txBody>
      </p:sp>
      <p:sp>
        <p:nvSpPr>
          <p:cNvPr id="482" name="Google Shape;482;p39"/>
          <p:cNvSpPr/>
          <p:nvPr/>
        </p:nvSpPr>
        <p:spPr>
          <a:xfrm>
            <a:off x="1154887" y="3176626"/>
            <a:ext cx="7356348" cy="275234"/>
          </a:xfrm>
          <a:prstGeom prst="rect">
            <a:avLst/>
          </a:prstGeom>
          <a:noFill/>
          <a:ln>
            <a:noFill/>
          </a:ln>
        </p:spPr>
        <p:txBody>
          <a:bodyPr anchorCtr="0" anchor="ctr" bIns="0" lIns="0" spcFirstLastPara="1" rIns="0" wrap="square" tIns="0">
            <a:noAutofit/>
          </a:bodyPr>
          <a:lstStyle/>
          <a:p>
            <a:pPr indent="0" lvl="0" marL="0" marR="0" rtl="0" algn="l">
              <a:lnSpc>
                <a:spcPct val="134560"/>
              </a:lnSpc>
              <a:spcBef>
                <a:spcPts val="0"/>
              </a:spcBef>
              <a:spcAft>
                <a:spcPts val="0"/>
              </a:spcAft>
              <a:buClr>
                <a:srgbClr val="3A3A3A"/>
              </a:buClr>
              <a:buSzPts val="978"/>
              <a:buFont typeface="Calibri"/>
              <a:buNone/>
            </a:pPr>
            <a:r>
              <a:rPr b="0" i="0" lang="en" sz="978" u="none" cap="none" strike="noStrike">
                <a:solidFill>
                  <a:srgbClr val="3A3A3A"/>
                </a:solidFill>
                <a:latin typeface="Calibri"/>
                <a:ea typeface="Calibri"/>
                <a:cs typeface="Calibri"/>
                <a:sym typeface="Calibri"/>
              </a:rPr>
              <a:t>Plan to review and assess if the 48-hour response period matches and works well with the organization’s real response trends.</a:t>
            </a:r>
            <a:endParaRPr b="0" i="0" sz="978" u="none" cap="none" strike="noStrike">
              <a:solidFill>
                <a:schemeClr val="dk1"/>
              </a:solidFill>
              <a:latin typeface="Calibri"/>
              <a:ea typeface="Calibri"/>
              <a:cs typeface="Calibri"/>
              <a:sym typeface="Calibri"/>
            </a:endParaRPr>
          </a:p>
        </p:txBody>
      </p:sp>
      <p:sp>
        <p:nvSpPr>
          <p:cNvPr id="483" name="Google Shape;483;p39"/>
          <p:cNvSpPr/>
          <p:nvPr/>
        </p:nvSpPr>
        <p:spPr>
          <a:xfrm>
            <a:off x="447142" y="4056278"/>
            <a:ext cx="8250631" cy="494690"/>
          </a:xfrm>
          <a:prstGeom prst="roundRect">
            <a:avLst>
              <a:gd fmla="val 7024"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9"/>
          <p:cNvSpPr/>
          <p:nvPr/>
        </p:nvSpPr>
        <p:spPr>
          <a:xfrm>
            <a:off x="673913" y="4056278"/>
            <a:ext cx="7803490" cy="4946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939"/>
              <a:buFont typeface="Calibri"/>
              <a:buNone/>
            </a:pPr>
            <a:r>
              <a:rPr b="0" i="1" lang="en" sz="940" u="none" cap="none" strike="noStrike">
                <a:solidFill>
                  <a:srgbClr val="003057"/>
                </a:solidFill>
                <a:latin typeface="Calibri"/>
                <a:ea typeface="Calibri"/>
                <a:cs typeface="Calibri"/>
                <a:sym typeface="Calibri"/>
              </a:rPr>
              <a:t>The most recent and revised procedure has not been tested from start to finish, so the next post draft cycle is where it gets assessed.</a:t>
            </a:r>
            <a:endParaRPr b="0" i="0" sz="940" u="none" cap="none" strike="noStrike">
              <a:solidFill>
                <a:schemeClr val="dk1"/>
              </a:solidFill>
              <a:latin typeface="Calibri"/>
              <a:ea typeface="Calibri"/>
              <a:cs typeface="Calibri"/>
              <a:sym typeface="Calibri"/>
            </a:endParaRPr>
          </a:p>
        </p:txBody>
      </p:sp>
      <p:sp>
        <p:nvSpPr>
          <p:cNvPr id="485" name="Google Shape;485;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0"/>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EVIDENCE</a:t>
            </a:r>
            <a:endParaRPr b="0" i="0" sz="827" u="none" cap="none" strike="noStrike">
              <a:solidFill>
                <a:schemeClr val="dk1"/>
              </a:solidFill>
              <a:latin typeface="Calibri"/>
              <a:ea typeface="Calibri"/>
              <a:cs typeface="Calibri"/>
              <a:sym typeface="Calibri"/>
            </a:endParaRPr>
          </a:p>
        </p:txBody>
      </p:sp>
      <p:sp>
        <p:nvSpPr>
          <p:cNvPr id="492" name="Google Shape;492;p40"/>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Proof of Work — The Draft We Produced</a:t>
            </a:r>
            <a:endParaRPr b="0" i="0" sz="2030" u="none" cap="none" strike="noStrike">
              <a:solidFill>
                <a:schemeClr val="dk1"/>
              </a:solidFill>
              <a:latin typeface="Calibri"/>
              <a:ea typeface="Calibri"/>
              <a:cs typeface="Calibri"/>
              <a:sym typeface="Calibri"/>
            </a:endParaRPr>
          </a:p>
        </p:txBody>
      </p:sp>
      <p:sp>
        <p:nvSpPr>
          <p:cNvPr id="493" name="Google Shape;493;p40"/>
          <p:cNvSpPr/>
          <p:nvPr/>
        </p:nvSpPr>
        <p:spPr>
          <a:xfrm>
            <a:off x="447142" y="1113739"/>
            <a:ext cx="8250631" cy="24048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128"/>
              <a:buFont typeface="Calibri"/>
              <a:buNone/>
            </a:pPr>
            <a:r>
              <a:rPr b="1" i="0" lang="en" sz="1128" u="none" cap="none" strike="noStrike">
                <a:solidFill>
                  <a:srgbClr val="003057"/>
                </a:solidFill>
                <a:latin typeface="Calibri"/>
                <a:ea typeface="Calibri"/>
                <a:cs typeface="Calibri"/>
                <a:sym typeface="Calibri"/>
              </a:rPr>
              <a:t>Predicting Railroad Crossing Delays with Machine Learning</a:t>
            </a:r>
            <a:endParaRPr b="0" i="0" sz="1128" u="none" cap="none" strike="noStrike">
              <a:solidFill>
                <a:schemeClr val="dk1"/>
              </a:solidFill>
              <a:latin typeface="Calibri"/>
              <a:ea typeface="Calibri"/>
              <a:cs typeface="Calibri"/>
              <a:sym typeface="Calibri"/>
            </a:endParaRPr>
          </a:p>
        </p:txBody>
      </p:sp>
      <p:sp>
        <p:nvSpPr>
          <p:cNvPr id="494" name="Google Shape;494;p40"/>
          <p:cNvSpPr/>
          <p:nvPr/>
        </p:nvSpPr>
        <p:spPr>
          <a:xfrm>
            <a:off x="447142" y="1409090"/>
            <a:ext cx="8250631" cy="1134770"/>
          </a:xfrm>
          <a:prstGeom prst="roundRect">
            <a:avLst>
              <a:gd fmla="val 3062"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0"/>
          <p:cNvSpPr/>
          <p:nvPr/>
        </p:nvSpPr>
        <p:spPr>
          <a:xfrm>
            <a:off x="652882" y="1533449"/>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Hook</a:t>
            </a:r>
            <a:endParaRPr b="0" i="0" sz="1015" u="none" cap="none" strike="noStrike">
              <a:solidFill>
                <a:schemeClr val="dk1"/>
              </a:solidFill>
              <a:latin typeface="Calibri"/>
              <a:ea typeface="Calibri"/>
              <a:cs typeface="Calibri"/>
              <a:sym typeface="Calibri"/>
            </a:endParaRPr>
          </a:p>
        </p:txBody>
      </p:sp>
      <p:sp>
        <p:nvSpPr>
          <p:cNvPr id="496" name="Google Shape;496;p40"/>
          <p:cNvSpPr/>
          <p:nvPr/>
        </p:nvSpPr>
        <p:spPr>
          <a:xfrm>
            <a:off x="652882" y="1794053"/>
            <a:ext cx="7838237" cy="625450"/>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fact that people wait at railway crossings has an impact on public transit, commuters, and emergency services; in busy shipping cities like Charleston in South Carolina and Savannah in Georgia the ability to predict these delays can contribute to a safer and more efficient transportation system.</a:t>
            </a:r>
            <a:endParaRPr b="0" i="0" sz="902" u="none" cap="none" strike="noStrike">
              <a:solidFill>
                <a:schemeClr val="dk1"/>
              </a:solidFill>
              <a:latin typeface="Calibri"/>
              <a:ea typeface="Calibri"/>
              <a:cs typeface="Calibri"/>
              <a:sym typeface="Calibri"/>
            </a:endParaRPr>
          </a:p>
        </p:txBody>
      </p:sp>
      <p:sp>
        <p:nvSpPr>
          <p:cNvPr id="497" name="Google Shape;497;p40"/>
          <p:cNvSpPr/>
          <p:nvPr/>
        </p:nvSpPr>
        <p:spPr>
          <a:xfrm>
            <a:off x="447142" y="2647188"/>
            <a:ext cx="4091026" cy="1822399"/>
          </a:xfrm>
          <a:prstGeom prst="roundRect">
            <a:avLst>
              <a:gd fmla="val 1907"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0"/>
          <p:cNvSpPr/>
          <p:nvPr/>
        </p:nvSpPr>
        <p:spPr>
          <a:xfrm>
            <a:off x="652882" y="277063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Challenge</a:t>
            </a:r>
            <a:endParaRPr b="0" i="0" sz="1015" u="none" cap="none" strike="noStrike">
              <a:solidFill>
                <a:schemeClr val="dk1"/>
              </a:solidFill>
              <a:latin typeface="Calibri"/>
              <a:ea typeface="Calibri"/>
              <a:cs typeface="Calibri"/>
              <a:sym typeface="Calibri"/>
            </a:endParaRPr>
          </a:p>
        </p:txBody>
      </p:sp>
      <p:sp>
        <p:nvSpPr>
          <p:cNvPr id="499" name="Google Shape;499;p40"/>
          <p:cNvSpPr/>
          <p:nvPr/>
        </p:nvSpPr>
        <p:spPr>
          <a:xfrm>
            <a:off x="652882" y="3032150"/>
            <a:ext cx="3678631" cy="1313078"/>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Getting reliable data on traffic bottlenecks is difficult since the information is generally obtained from sensors which never have complete accuracy or from incomplete reports regarding bus operations. The team hope to find out whether machine learning can still produce useful predictions in such real-world circumstances.</a:t>
            </a:r>
            <a:endParaRPr b="0" i="0" sz="902" u="none" cap="none" strike="noStrike">
              <a:solidFill>
                <a:schemeClr val="dk1"/>
              </a:solidFill>
              <a:latin typeface="Calibri"/>
              <a:ea typeface="Calibri"/>
              <a:cs typeface="Calibri"/>
              <a:sym typeface="Calibri"/>
            </a:endParaRPr>
          </a:p>
        </p:txBody>
      </p:sp>
      <p:sp>
        <p:nvSpPr>
          <p:cNvPr id="500" name="Google Shape;500;p40"/>
          <p:cNvSpPr/>
          <p:nvPr/>
        </p:nvSpPr>
        <p:spPr>
          <a:xfrm>
            <a:off x="4606747" y="2647188"/>
            <a:ext cx="4091026" cy="1822399"/>
          </a:xfrm>
          <a:prstGeom prst="roundRect">
            <a:avLst>
              <a:gd fmla="val 1907"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0"/>
          <p:cNvSpPr/>
          <p:nvPr/>
        </p:nvSpPr>
        <p:spPr>
          <a:xfrm>
            <a:off x="4812487" y="277063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Methods</a:t>
            </a:r>
            <a:endParaRPr b="0" i="0" sz="1015" u="none" cap="none" strike="noStrike">
              <a:solidFill>
                <a:schemeClr val="dk1"/>
              </a:solidFill>
              <a:latin typeface="Calibri"/>
              <a:ea typeface="Calibri"/>
              <a:cs typeface="Calibri"/>
              <a:sym typeface="Calibri"/>
            </a:endParaRPr>
          </a:p>
        </p:txBody>
      </p:sp>
      <p:sp>
        <p:nvSpPr>
          <p:cNvPr id="502" name="Google Shape;502;p40"/>
          <p:cNvSpPr/>
          <p:nvPr/>
        </p:nvSpPr>
        <p:spPr>
          <a:xfrm>
            <a:off x="4812487" y="3032150"/>
            <a:ext cx="3678631" cy="1313078"/>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Bayesian Hierarchical Model will use the bus inference data to estimate the probability that a railroad crossing will be blocked. The Gradient Boosting Model will use the TrainFo sensor data to predict both the probability and the duration of blockages. Spatial and Statistical Analysis makes use of GIS visualization, correlation analysis, and statistical significance testing.</a:t>
            </a:r>
            <a:endParaRPr b="0" i="0" sz="902" u="none" cap="none" strike="noStrike">
              <a:solidFill>
                <a:schemeClr val="dk1"/>
              </a:solidFill>
              <a:latin typeface="Calibri"/>
              <a:ea typeface="Calibri"/>
              <a:cs typeface="Calibri"/>
              <a:sym typeface="Calibri"/>
            </a:endParaRPr>
          </a:p>
        </p:txBody>
      </p:sp>
      <p:sp>
        <p:nvSpPr>
          <p:cNvPr id="503" name="Google Shape;503;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1"/>
          <p:cNvSpPr/>
          <p:nvPr/>
        </p:nvSpPr>
        <p:spPr>
          <a:xfrm>
            <a:off x="447142" y="275234"/>
            <a:ext cx="8250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827"/>
              <a:buFont typeface="Calibri"/>
              <a:buNone/>
            </a:pPr>
            <a:r>
              <a:rPr b="1" i="0" lang="en" sz="827" u="none" cap="none" strike="noStrike">
                <a:solidFill>
                  <a:srgbClr val="B3A369"/>
                </a:solidFill>
                <a:latin typeface="Calibri"/>
                <a:ea typeface="Calibri"/>
                <a:cs typeface="Calibri"/>
                <a:sym typeface="Calibri"/>
              </a:rPr>
              <a:t>PROJECT SPOTLIGHT  ·  EVIDENCE</a:t>
            </a:r>
            <a:endParaRPr b="0" i="0" sz="827" u="none" cap="none" strike="noStrike">
              <a:solidFill>
                <a:schemeClr val="dk1"/>
              </a:solidFill>
              <a:latin typeface="Calibri"/>
              <a:ea typeface="Calibri"/>
              <a:cs typeface="Calibri"/>
              <a:sym typeface="Calibri"/>
            </a:endParaRPr>
          </a:p>
        </p:txBody>
      </p:sp>
      <p:sp>
        <p:nvSpPr>
          <p:cNvPr id="510" name="Google Shape;510;p41"/>
          <p:cNvSpPr/>
          <p:nvPr/>
        </p:nvSpPr>
        <p:spPr>
          <a:xfrm>
            <a:off x="447142" y="480974"/>
            <a:ext cx="8250631" cy="4123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2029"/>
              <a:buFont typeface="Cambria"/>
              <a:buNone/>
            </a:pPr>
            <a:r>
              <a:rPr b="1" i="0" lang="en" sz="2030" u="none" cap="none" strike="noStrike">
                <a:solidFill>
                  <a:srgbClr val="003057"/>
                </a:solidFill>
                <a:latin typeface="Cambria"/>
                <a:ea typeface="Cambria"/>
                <a:cs typeface="Cambria"/>
                <a:sym typeface="Cambria"/>
              </a:rPr>
              <a:t>Proof of Work — Results and Close</a:t>
            </a:r>
            <a:endParaRPr b="0" i="0" sz="2030" u="none" cap="none" strike="noStrike">
              <a:solidFill>
                <a:schemeClr val="dk1"/>
              </a:solidFill>
              <a:latin typeface="Calibri"/>
              <a:ea typeface="Calibri"/>
              <a:cs typeface="Calibri"/>
              <a:sym typeface="Calibri"/>
            </a:endParaRPr>
          </a:p>
        </p:txBody>
      </p:sp>
      <p:sp>
        <p:nvSpPr>
          <p:cNvPr id="511" name="Google Shape;511;p41"/>
          <p:cNvSpPr/>
          <p:nvPr/>
        </p:nvSpPr>
        <p:spPr>
          <a:xfrm>
            <a:off x="447142" y="1168603"/>
            <a:ext cx="4091026" cy="1719072"/>
          </a:xfrm>
          <a:prstGeom prst="roundRect">
            <a:avLst>
              <a:gd fmla="val 2021" name="adj"/>
            </a:avLst>
          </a:prstGeom>
          <a:solidFill>
            <a:srgbClr val="F2F2F2"/>
          </a:solidFill>
          <a:ln cap="flat" cmpd="sng" w="12700">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1"/>
          <p:cNvSpPr/>
          <p:nvPr/>
        </p:nvSpPr>
        <p:spPr>
          <a:xfrm>
            <a:off x="652882" y="129296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The Results</a:t>
            </a:r>
            <a:endParaRPr b="0" i="0" sz="1015" u="none" cap="none" strike="noStrike">
              <a:solidFill>
                <a:schemeClr val="dk1"/>
              </a:solidFill>
              <a:latin typeface="Calibri"/>
              <a:ea typeface="Calibri"/>
              <a:cs typeface="Calibri"/>
              <a:sym typeface="Calibri"/>
            </a:endParaRPr>
          </a:p>
        </p:txBody>
      </p:sp>
      <p:sp>
        <p:nvSpPr>
          <p:cNvPr id="513" name="Google Shape;513;p41"/>
          <p:cNvSpPr/>
          <p:nvPr/>
        </p:nvSpPr>
        <p:spPr>
          <a:xfrm>
            <a:off x="652882" y="1553566"/>
            <a:ext cx="3678631" cy="1209751"/>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The sensor data from TrainFo is available at only a few railroad crossings. At some of the crossings the sensor readings are so noisy that a reliable analysis cannot be carried out. The information obtained from bus inference data does have value, but it is affected by the bus routes and by the surrounding traffic.</a:t>
            </a:r>
            <a:endParaRPr b="0" i="0" sz="902" u="none" cap="none" strike="noStrike">
              <a:solidFill>
                <a:schemeClr val="dk1"/>
              </a:solidFill>
              <a:latin typeface="Calibri"/>
              <a:ea typeface="Calibri"/>
              <a:cs typeface="Calibri"/>
              <a:sym typeface="Calibri"/>
            </a:endParaRPr>
          </a:p>
        </p:txBody>
      </p:sp>
      <p:sp>
        <p:nvSpPr>
          <p:cNvPr id="514" name="Google Shape;514;p41"/>
          <p:cNvSpPr/>
          <p:nvPr/>
        </p:nvSpPr>
        <p:spPr>
          <a:xfrm>
            <a:off x="4606747" y="1168603"/>
            <a:ext cx="4091026" cy="1719072"/>
          </a:xfrm>
          <a:prstGeom prst="roundRect">
            <a:avLst>
              <a:gd fmla="val 2021" name="adj"/>
            </a:avLst>
          </a:prstGeom>
          <a:solidFill>
            <a:srgbClr val="FFFDF1"/>
          </a:solidFill>
          <a:ln cap="flat" cmpd="sng" w="12700">
            <a:solidFill>
              <a:srgbClr val="FFFD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1"/>
          <p:cNvSpPr/>
          <p:nvPr/>
        </p:nvSpPr>
        <p:spPr>
          <a:xfrm>
            <a:off x="4812487" y="1292962"/>
            <a:ext cx="3678631"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1014"/>
              <a:buFont typeface="Calibri"/>
              <a:buNone/>
            </a:pPr>
            <a:r>
              <a:rPr b="1" i="0" lang="en" sz="1015" u="none" cap="none" strike="noStrike">
                <a:solidFill>
                  <a:srgbClr val="003057"/>
                </a:solidFill>
                <a:latin typeface="Calibri"/>
                <a:ea typeface="Calibri"/>
                <a:cs typeface="Calibri"/>
                <a:sym typeface="Calibri"/>
              </a:rPr>
              <a:t>Looking Ahead</a:t>
            </a:r>
            <a:endParaRPr b="0" i="0" sz="1015" u="none" cap="none" strike="noStrike">
              <a:solidFill>
                <a:schemeClr val="dk1"/>
              </a:solidFill>
              <a:latin typeface="Calibri"/>
              <a:ea typeface="Calibri"/>
              <a:cs typeface="Calibri"/>
              <a:sym typeface="Calibri"/>
            </a:endParaRPr>
          </a:p>
        </p:txBody>
      </p:sp>
      <p:sp>
        <p:nvSpPr>
          <p:cNvPr id="516" name="Google Shape;516;p41"/>
          <p:cNvSpPr/>
          <p:nvPr/>
        </p:nvSpPr>
        <p:spPr>
          <a:xfrm>
            <a:off x="4812487" y="1553566"/>
            <a:ext cx="3678631" cy="1209751"/>
          </a:xfrm>
          <a:prstGeom prst="rect">
            <a:avLst/>
          </a:prstGeom>
          <a:noFill/>
          <a:ln>
            <a:noFill/>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3A3A3A"/>
              </a:buClr>
              <a:buSzPts val="902"/>
              <a:buFont typeface="Calibri"/>
              <a:buNone/>
            </a:pPr>
            <a:r>
              <a:rPr b="0" i="0" lang="en" sz="902" u="none" cap="none" strike="noStrike">
                <a:solidFill>
                  <a:srgbClr val="3A3A3A"/>
                </a:solidFill>
                <a:latin typeface="Calibri"/>
                <a:ea typeface="Calibri"/>
                <a:cs typeface="Calibri"/>
                <a:sym typeface="Calibri"/>
              </a:rPr>
              <a:t>In future research the focus will be on comparing camera data with sensor observations in order to detect noise, using GPS and bus data to separate the signal from the noise, looking into further hierarchical modelling techniques, and improving the predictions as to both the duration and the probability of blockages.</a:t>
            </a:r>
            <a:endParaRPr b="0" i="0" sz="902" u="none" cap="none" strike="noStrike">
              <a:solidFill>
                <a:schemeClr val="dk1"/>
              </a:solidFill>
              <a:latin typeface="Calibri"/>
              <a:ea typeface="Calibri"/>
              <a:cs typeface="Calibri"/>
              <a:sym typeface="Calibri"/>
            </a:endParaRPr>
          </a:p>
        </p:txBody>
      </p:sp>
      <p:sp>
        <p:nvSpPr>
          <p:cNvPr id="517" name="Google Shape;517;p41"/>
          <p:cNvSpPr/>
          <p:nvPr/>
        </p:nvSpPr>
        <p:spPr>
          <a:xfrm>
            <a:off x="412692" y="2956552"/>
            <a:ext cx="8250600" cy="1065300"/>
          </a:xfrm>
          <a:prstGeom prst="roundRect">
            <a:avLst>
              <a:gd fmla="val 3262" name="adj"/>
            </a:avLst>
          </a:prstGeom>
          <a:solidFill>
            <a:schemeClr val="lt1"/>
          </a:solidFill>
          <a:ln cap="flat" cmpd="sng" w="12700">
            <a:solidFill>
              <a:srgbClr val="0030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1"/>
          <p:cNvSpPr/>
          <p:nvPr/>
        </p:nvSpPr>
        <p:spPr>
          <a:xfrm>
            <a:off x="652882" y="3114446"/>
            <a:ext cx="7838237" cy="19293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1014"/>
              <a:buFont typeface="Calibri"/>
              <a:buNone/>
            </a:pPr>
            <a:r>
              <a:rPr b="1" i="0" lang="en" sz="1015" u="none" cap="none" strike="noStrike">
                <a:solidFill>
                  <a:srgbClr val="B3A369"/>
                </a:solidFill>
                <a:latin typeface="Calibri"/>
                <a:ea typeface="Calibri"/>
                <a:cs typeface="Calibri"/>
                <a:sym typeface="Calibri"/>
              </a:rPr>
              <a:t>The Close</a:t>
            </a:r>
            <a:endParaRPr b="0" i="0" sz="1015" u="none" cap="none" strike="noStrike">
              <a:solidFill>
                <a:schemeClr val="dk1"/>
              </a:solidFill>
              <a:latin typeface="Calibri"/>
              <a:ea typeface="Calibri"/>
              <a:cs typeface="Calibri"/>
              <a:sym typeface="Calibri"/>
            </a:endParaRPr>
          </a:p>
        </p:txBody>
      </p:sp>
      <p:sp>
        <p:nvSpPr>
          <p:cNvPr id="519" name="Google Shape;519;p41"/>
          <p:cNvSpPr/>
          <p:nvPr/>
        </p:nvSpPr>
        <p:spPr>
          <a:xfrm>
            <a:off x="569207" y="3341515"/>
            <a:ext cx="7838100" cy="556800"/>
          </a:xfrm>
          <a:prstGeom prst="rect">
            <a:avLst/>
          </a:prstGeom>
          <a:solidFill>
            <a:schemeClr val="accent1"/>
          </a:solid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40022"/>
              </a:lnSpc>
              <a:spcBef>
                <a:spcPts val="0"/>
              </a:spcBef>
              <a:spcAft>
                <a:spcPts val="0"/>
              </a:spcAft>
              <a:buClr>
                <a:srgbClr val="FFFFFF"/>
              </a:buClr>
              <a:buSzPts val="902"/>
              <a:buFont typeface="Calibri"/>
              <a:buNone/>
            </a:pPr>
            <a:r>
              <a:rPr b="0" i="0" lang="en" sz="902" u="none" cap="none" strike="noStrike">
                <a:solidFill>
                  <a:srgbClr val="FFFFFF"/>
                </a:solidFill>
                <a:latin typeface="Calibri"/>
                <a:ea typeface="Calibri"/>
                <a:cs typeface="Calibri"/>
                <a:sym typeface="Calibri"/>
              </a:rPr>
              <a:t>To sum up, the secret to more intelligent transportation is more intelligent data; this project promotes the development of transportation networks that are safer, more resilient, and more efficient by integrating transportation science, spatial analytics, and machine learning.</a:t>
            </a:r>
            <a:endParaRPr b="0" i="0" sz="902" u="none" cap="none" strike="noStrike">
              <a:solidFill>
                <a:schemeClr val="dk1"/>
              </a:solidFill>
              <a:latin typeface="Calibri"/>
              <a:ea typeface="Calibri"/>
              <a:cs typeface="Calibri"/>
              <a:sym typeface="Calibri"/>
            </a:endParaRPr>
          </a:p>
        </p:txBody>
      </p:sp>
      <p:sp>
        <p:nvSpPr>
          <p:cNvPr id="520" name="Google Shape;520;p41"/>
          <p:cNvSpPr/>
          <p:nvPr/>
        </p:nvSpPr>
        <p:spPr>
          <a:xfrm>
            <a:off x="447142" y="4159606"/>
            <a:ext cx="8250631"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57"/>
              </a:buClr>
              <a:buSzPts val="902"/>
              <a:buFont typeface="Calibri"/>
              <a:buNone/>
            </a:pPr>
            <a:r>
              <a:rPr b="1" i="0" lang="en" sz="902" u="none" cap="none" strike="noStrike">
                <a:solidFill>
                  <a:srgbClr val="003057"/>
                </a:solidFill>
                <a:latin typeface="Calibri"/>
                <a:ea typeface="Calibri"/>
                <a:cs typeface="Calibri"/>
                <a:sym typeface="Calibri"/>
              </a:rPr>
              <a:t>Credit: Isaac A. Felix, Leonardo Savasta, and Xu Che, Georgia Institute of Technology.</a:t>
            </a:r>
            <a:endParaRPr b="0" i="0" sz="902" u="none" cap="none" strike="noStrike">
              <a:solidFill>
                <a:schemeClr val="dk1"/>
              </a:solidFill>
              <a:latin typeface="Calibri"/>
              <a:ea typeface="Calibri"/>
              <a:cs typeface="Calibri"/>
              <a:sym typeface="Calibri"/>
            </a:endParaRPr>
          </a:p>
        </p:txBody>
      </p:sp>
      <p:sp>
        <p:nvSpPr>
          <p:cNvPr id="521" name="Google Shape;521;p41"/>
          <p:cNvSpPr/>
          <p:nvPr/>
        </p:nvSpPr>
        <p:spPr>
          <a:xfrm>
            <a:off x="447142" y="4400093"/>
            <a:ext cx="8250631" cy="20665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3A369"/>
              </a:buClr>
              <a:buSzPts val="902"/>
              <a:buFont typeface="Calibri"/>
              <a:buNone/>
            </a:pPr>
            <a:r>
              <a:rPr b="0" i="0" lang="en" sz="902" u="none" cap="none" strike="noStrike">
                <a:solidFill>
                  <a:srgbClr val="B3A369"/>
                </a:solidFill>
                <a:latin typeface="Calibri"/>
                <a:ea typeface="Calibri"/>
                <a:cs typeface="Calibri"/>
                <a:sym typeface="Calibri"/>
              </a:rPr>
              <a:t>Tags: #HAAG #OMSCS #OMSA #GeorgiaTech #Research #MachineLearning #AI</a:t>
            </a:r>
            <a:endParaRPr b="0" i="0" sz="902" u="none" cap="none" strike="noStrike">
              <a:solidFill>
                <a:schemeClr val="dk1"/>
              </a:solidFill>
              <a:latin typeface="Calibri"/>
              <a:ea typeface="Calibri"/>
              <a:cs typeface="Calibri"/>
              <a:sym typeface="Calibri"/>
            </a:endParaRPr>
          </a:p>
        </p:txBody>
      </p:sp>
      <p:sp>
        <p:nvSpPr>
          <p:cNvPr id="522" name="Google Shape;522;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Spotlight Tracker </a:t>
            </a:r>
            <a:endParaRPr/>
          </a:p>
        </p:txBody>
      </p:sp>
      <p:sp>
        <p:nvSpPr>
          <p:cNvPr id="528" name="Google Shape;528;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Tracker</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529" name="Google Shape;529;p42" title="Screenshot 2026-08-06 at 11.16.58 AM.png"/>
          <p:cNvPicPr preferRelativeResize="0"/>
          <p:nvPr/>
        </p:nvPicPr>
        <p:blipFill>
          <a:blip r:embed="rId3">
            <a:alphaModFix/>
          </a:blip>
          <a:stretch>
            <a:fillRect/>
          </a:stretch>
        </p:blipFill>
        <p:spPr>
          <a:xfrm>
            <a:off x="252088" y="1813100"/>
            <a:ext cx="8639826" cy="2391975"/>
          </a:xfrm>
          <a:prstGeom prst="rect">
            <a:avLst/>
          </a:prstGeom>
          <a:noFill/>
          <a:ln>
            <a:noFill/>
          </a:ln>
        </p:spPr>
      </p:pic>
      <p:sp>
        <p:nvSpPr>
          <p:cNvPr id="530" name="Google Shape;530;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535" name="Shape 535"/>
        <p:cNvGrpSpPr/>
        <p:nvPr/>
      </p:nvGrpSpPr>
      <p:grpSpPr>
        <a:xfrm>
          <a:off x="0" y="0"/>
          <a:ext cx="0" cy="0"/>
          <a:chOff x="0" y="0"/>
          <a:chExt cx="0" cy="0"/>
        </a:xfrm>
      </p:grpSpPr>
      <p:sp>
        <p:nvSpPr>
          <p:cNvPr id="536" name="Google Shape;536;p43"/>
          <p:cNvSpPr/>
          <p:nvPr/>
        </p:nvSpPr>
        <p:spPr>
          <a:xfrm>
            <a:off x="7269480" y="-1234440"/>
            <a:ext cx="3429000" cy="34290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7" name="Google Shape;537;p43"/>
          <p:cNvSpPr/>
          <p:nvPr/>
        </p:nvSpPr>
        <p:spPr>
          <a:xfrm>
            <a:off x="-1028700" y="3566160"/>
            <a:ext cx="2743200" cy="27432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8" name="Google Shape;538;p43"/>
          <p:cNvSpPr/>
          <p:nvPr/>
        </p:nvSpPr>
        <p:spPr>
          <a:xfrm>
            <a:off x="582930" y="1543050"/>
            <a:ext cx="7200900" cy="823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3300"/>
              <a:buFont typeface="Cambria"/>
              <a:buNone/>
            </a:pPr>
            <a:r>
              <a:rPr b="1" lang="en" sz="3300">
                <a:solidFill>
                  <a:srgbClr val="FFFFFF"/>
                </a:solidFill>
                <a:latin typeface="Cambria"/>
                <a:ea typeface="Cambria"/>
                <a:cs typeface="Cambria"/>
                <a:sym typeface="Cambria"/>
              </a:rPr>
              <a:t>Blog Posts</a:t>
            </a:r>
            <a:endParaRPr b="0" i="0" sz="3300" u="none" cap="none" strike="noStrike">
              <a:solidFill>
                <a:schemeClr val="dk1"/>
              </a:solidFill>
              <a:latin typeface="Calibri"/>
              <a:ea typeface="Calibri"/>
              <a:cs typeface="Calibri"/>
              <a:sym typeface="Calibri"/>
            </a:endParaRPr>
          </a:p>
        </p:txBody>
      </p:sp>
      <p:sp>
        <p:nvSpPr>
          <p:cNvPr id="539" name="Google Shape;539;p43"/>
          <p:cNvSpPr/>
          <p:nvPr/>
        </p:nvSpPr>
        <p:spPr>
          <a:xfrm>
            <a:off x="617220" y="2297430"/>
            <a:ext cx="65151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9C9C9"/>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540" name="Google Shape;540;p43"/>
          <p:cNvSpPr/>
          <p:nvPr/>
        </p:nvSpPr>
        <p:spPr>
          <a:xfrm>
            <a:off x="617220" y="4491990"/>
            <a:ext cx="54864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B3A369"/>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541" name="Google Shape;541;p4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Blog Posts - Pipeline Tracking</a:t>
            </a:r>
            <a:endParaRPr/>
          </a:p>
        </p:txBody>
      </p:sp>
      <p:pic>
        <p:nvPicPr>
          <p:cNvPr id="547" name="Google Shape;547;p44" title="blog_post_tracker_screenshot.png"/>
          <p:cNvPicPr preferRelativeResize="0"/>
          <p:nvPr/>
        </p:nvPicPr>
        <p:blipFill rotWithShape="1">
          <a:blip r:embed="rId3">
            <a:alphaModFix/>
          </a:blip>
          <a:srcRect b="0" l="0" r="18996" t="0"/>
          <a:stretch/>
        </p:blipFill>
        <p:spPr>
          <a:xfrm>
            <a:off x="311700" y="1291375"/>
            <a:ext cx="8832302" cy="2427713"/>
          </a:xfrm>
          <a:prstGeom prst="rect">
            <a:avLst/>
          </a:prstGeom>
          <a:noFill/>
          <a:ln>
            <a:noFill/>
          </a:ln>
        </p:spPr>
      </p:pic>
      <p:sp>
        <p:nvSpPr>
          <p:cNvPr id="548" name="Google Shape;548;p44"/>
          <p:cNvSpPr txBox="1"/>
          <p:nvPr/>
        </p:nvSpPr>
        <p:spPr>
          <a:xfrm>
            <a:off x="600175" y="39927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49" name="Google Shape;54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3" name="Shape 553"/>
        <p:cNvGrpSpPr/>
        <p:nvPr/>
      </p:nvGrpSpPr>
      <p:grpSpPr>
        <a:xfrm>
          <a:off x="0" y="0"/>
          <a:ext cx="0" cy="0"/>
          <a:chOff x="0" y="0"/>
          <a:chExt cx="0" cy="0"/>
        </a:xfrm>
      </p:grpSpPr>
      <p:sp>
        <p:nvSpPr>
          <p:cNvPr id="554" name="Google Shape;554;p45"/>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p45"/>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6" name="Google Shape;556;p45"/>
          <p:cNvSpPr txBox="1"/>
          <p:nvPr>
            <p:ph type="title"/>
          </p:nvPr>
        </p:nvSpPr>
        <p:spPr>
          <a:xfrm>
            <a:off x="571500" y="428625"/>
            <a:ext cx="80010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 sz="2400">
                <a:solidFill>
                  <a:srgbClr val="FFFFFF"/>
                </a:solidFill>
                <a:latin typeface="Cambria"/>
                <a:ea typeface="Cambria"/>
                <a:cs typeface="Cambria"/>
                <a:sym typeface="Cambria"/>
              </a:rPr>
              <a:t>Blog Posts - Identify External Members Implementation</a:t>
            </a:r>
            <a:endParaRPr b="1" sz="2400">
              <a:solidFill>
                <a:srgbClr val="FFFFFF"/>
              </a:solidFill>
              <a:latin typeface="Cambria"/>
              <a:ea typeface="Cambria"/>
              <a:cs typeface="Cambria"/>
              <a:sym typeface="Cambria"/>
            </a:endParaRPr>
          </a:p>
        </p:txBody>
      </p:sp>
      <p:grpSp>
        <p:nvGrpSpPr>
          <p:cNvPr id="557" name="Google Shape;557;p45"/>
          <p:cNvGrpSpPr/>
          <p:nvPr/>
        </p:nvGrpSpPr>
        <p:grpSpPr>
          <a:xfrm>
            <a:off x="542925" y="1162050"/>
            <a:ext cx="3009900" cy="3295800"/>
            <a:chOff x="-28575" y="-28575"/>
            <a:chExt cx="3009900" cy="3295800"/>
          </a:xfrm>
        </p:grpSpPr>
        <p:sp>
          <p:nvSpPr>
            <p:cNvPr id="558" name="Google Shape;558;p45"/>
            <p:cNvSpPr/>
            <p:nvPr/>
          </p:nvSpPr>
          <p:spPr>
            <a:xfrm>
              <a:off x="-28575" y="-28575"/>
              <a:ext cx="3009900" cy="3295800"/>
            </a:xfrm>
            <a:prstGeom prst="roundRect">
              <a:avLst>
                <a:gd fmla="val 4430" name="adj"/>
              </a:avLst>
            </a:prstGeom>
            <a:solidFill>
              <a:srgbClr val="FFFFFF">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59" name="Google Shape;559;p45"/>
            <p:cNvPicPr preferRelativeResize="0"/>
            <p:nvPr/>
          </p:nvPicPr>
          <p:blipFill rotWithShape="1">
            <a:blip r:embed="rId4">
              <a:alphaModFix/>
            </a:blip>
            <a:srcRect b="16588" l="0" r="0" t="16581"/>
            <a:stretch/>
          </p:blipFill>
          <p:spPr>
            <a:xfrm>
              <a:off x="0" y="0"/>
              <a:ext cx="2952900" cy="3238500"/>
            </a:xfrm>
            <a:prstGeom prst="roundRect">
              <a:avLst>
                <a:gd fmla="val 3870" name="adj"/>
              </a:avLst>
            </a:prstGeom>
            <a:noFill/>
            <a:ln>
              <a:noFill/>
            </a:ln>
          </p:spPr>
        </p:pic>
      </p:grpSp>
      <p:grpSp>
        <p:nvGrpSpPr>
          <p:cNvPr id="560" name="Google Shape;560;p45"/>
          <p:cNvGrpSpPr/>
          <p:nvPr/>
        </p:nvGrpSpPr>
        <p:grpSpPr>
          <a:xfrm>
            <a:off x="4000500" y="1190625"/>
            <a:ext cx="4572000" cy="904800"/>
            <a:chOff x="0" y="0"/>
            <a:chExt cx="4572000" cy="904800"/>
          </a:xfrm>
        </p:grpSpPr>
        <p:sp>
          <p:nvSpPr>
            <p:cNvPr id="561" name="Google Shape;561;p45"/>
            <p:cNvSpPr/>
            <p:nvPr/>
          </p:nvSpPr>
          <p:spPr>
            <a:xfrm>
              <a:off x="0" y="0"/>
              <a:ext cx="4572000" cy="904800"/>
            </a:xfrm>
            <a:prstGeom prst="roundRect">
              <a:avLst>
                <a:gd fmla="val 8421"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2" name="Google Shape;562;p45"/>
            <p:cNvSpPr/>
            <p:nvPr/>
          </p:nvSpPr>
          <p:spPr>
            <a:xfrm>
              <a:off x="0" y="0"/>
              <a:ext cx="57300" cy="9048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3" name="Google Shape;563;p45"/>
            <p:cNvSpPr txBox="1"/>
            <p:nvPr/>
          </p:nvSpPr>
          <p:spPr>
            <a:xfrm>
              <a:off x="190500" y="0"/>
              <a:ext cx="41910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EF4444"/>
                  </a:solidFill>
                  <a:latin typeface="Arial"/>
                  <a:ea typeface="Arial"/>
                  <a:cs typeface="Arial"/>
                  <a:sym typeface="Arial"/>
                </a:rPr>
                <a:t>Critical Blocker</a:t>
              </a:r>
              <a:endParaRPr b="1" sz="1400">
                <a:solidFill>
                  <a:srgbClr val="EF4444"/>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This step was formally identified and declared as a primary blocker for the blog post implementation workflow.</a:t>
              </a:r>
              <a:endParaRPr b="0" sz="1100">
                <a:solidFill>
                  <a:srgbClr val="E2E8F0"/>
                </a:solidFill>
                <a:latin typeface="Arial"/>
                <a:ea typeface="Arial"/>
                <a:cs typeface="Arial"/>
                <a:sym typeface="Arial"/>
              </a:endParaRPr>
            </a:p>
          </p:txBody>
        </p:sp>
      </p:grpSp>
      <p:grpSp>
        <p:nvGrpSpPr>
          <p:cNvPr id="564" name="Google Shape;564;p45"/>
          <p:cNvGrpSpPr/>
          <p:nvPr/>
        </p:nvGrpSpPr>
        <p:grpSpPr>
          <a:xfrm>
            <a:off x="4000500" y="2238375"/>
            <a:ext cx="4572000" cy="1047900"/>
            <a:chOff x="0" y="0"/>
            <a:chExt cx="4572000" cy="1047900"/>
          </a:xfrm>
        </p:grpSpPr>
        <p:sp>
          <p:nvSpPr>
            <p:cNvPr id="565" name="Google Shape;565;p45"/>
            <p:cNvSpPr/>
            <p:nvPr/>
          </p:nvSpPr>
          <p:spPr>
            <a:xfrm>
              <a:off x="0" y="0"/>
              <a:ext cx="4572000" cy="1047900"/>
            </a:xfrm>
            <a:prstGeom prst="roundRect">
              <a:avLst>
                <a:gd fmla="val 7272"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45"/>
            <p:cNvSpPr/>
            <p:nvPr/>
          </p:nvSpPr>
          <p:spPr>
            <a:xfrm>
              <a:off x="0" y="0"/>
              <a:ext cx="57300" cy="10479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7" name="Google Shape;567;p45"/>
            <p:cNvSpPr txBox="1"/>
            <p:nvPr/>
          </p:nvSpPr>
          <p:spPr>
            <a:xfrm>
              <a:off x="190500" y="0"/>
              <a:ext cx="41910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F59E0B"/>
                  </a:solidFill>
                  <a:latin typeface="Arial"/>
                  <a:ea typeface="Arial"/>
                  <a:cs typeface="Arial"/>
                  <a:sym typeface="Arial"/>
                </a:rPr>
                <a:t>Outreach &amp; Coordination</a:t>
              </a:r>
              <a:endParaRPr b="1" sz="1400">
                <a:solidFill>
                  <a:srgbClr val="F59E0B"/>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Riyam compiled a list by </a:t>
              </a:r>
              <a:r>
                <a:rPr lang="en" sz="1100">
                  <a:solidFill>
                    <a:srgbClr val="E2E8F0"/>
                  </a:solidFill>
                </a:rPr>
                <a:t>looking at </a:t>
              </a:r>
              <a:r>
                <a:rPr b="0" lang="en" sz="1100">
                  <a:solidFill>
                    <a:srgbClr val="E2E8F0"/>
                  </a:solidFill>
                  <a:latin typeface="Arial"/>
                  <a:ea typeface="Arial"/>
                  <a:cs typeface="Arial"/>
                  <a:sym typeface="Arial"/>
                </a:rPr>
                <a:t>Slack profiles of external comp advisors and calendar meeting invites.</a:t>
              </a:r>
              <a:endParaRPr b="0" sz="1100">
                <a:solidFill>
                  <a:srgbClr val="E2E8F0"/>
                </a:solidFill>
                <a:latin typeface="Arial"/>
                <a:ea typeface="Arial"/>
                <a:cs typeface="Arial"/>
                <a:sym typeface="Arial"/>
              </a:endParaRPr>
            </a:p>
          </p:txBody>
        </p:sp>
      </p:grpSp>
      <p:grpSp>
        <p:nvGrpSpPr>
          <p:cNvPr id="568" name="Google Shape;568;p45"/>
          <p:cNvGrpSpPr/>
          <p:nvPr/>
        </p:nvGrpSpPr>
        <p:grpSpPr>
          <a:xfrm>
            <a:off x="4000500" y="3429000"/>
            <a:ext cx="4572000" cy="1000200"/>
            <a:chOff x="0" y="0"/>
            <a:chExt cx="4572000" cy="1000200"/>
          </a:xfrm>
        </p:grpSpPr>
        <p:sp>
          <p:nvSpPr>
            <p:cNvPr id="569" name="Google Shape;569;p45"/>
            <p:cNvSpPr/>
            <p:nvPr/>
          </p:nvSpPr>
          <p:spPr>
            <a:xfrm>
              <a:off x="0" y="0"/>
              <a:ext cx="4572000" cy="1000200"/>
            </a:xfrm>
            <a:prstGeom prst="roundRect">
              <a:avLst>
                <a:gd fmla="val 7619"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0" name="Google Shape;570;p45"/>
            <p:cNvSpPr/>
            <p:nvPr/>
          </p:nvSpPr>
          <p:spPr>
            <a:xfrm>
              <a:off x="0" y="0"/>
              <a:ext cx="57300" cy="1000200"/>
            </a:xfrm>
            <a:prstGeom prst="roundRect">
              <a:avLst>
                <a:gd fmla="val 50000" name="adj"/>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1" name="Google Shape;571;p45"/>
            <p:cNvSpPr txBox="1"/>
            <p:nvPr/>
          </p:nvSpPr>
          <p:spPr>
            <a:xfrm>
              <a:off x="190500" y="0"/>
              <a:ext cx="41910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6B6D4"/>
                  </a:solidFill>
                  <a:latin typeface="Arial"/>
                  <a:ea typeface="Arial"/>
                  <a:cs typeface="Arial"/>
                  <a:sym typeface="Arial"/>
                </a:rPr>
                <a:t>Onboarding Integration</a:t>
              </a:r>
              <a:endParaRPr b="1" sz="1400">
                <a:solidFill>
                  <a:srgbClr val="06B6D4"/>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Recruitment initiatives require accurate personnel records integrated directly into the structured onboarding process.</a:t>
              </a:r>
              <a:endParaRPr b="0" sz="1100">
                <a:solidFill>
                  <a:srgbClr val="E2E8F0"/>
                </a:solidFill>
                <a:latin typeface="Arial"/>
                <a:ea typeface="Arial"/>
                <a:cs typeface="Arial"/>
                <a:sym typeface="Arial"/>
              </a:endParaRPr>
            </a:p>
          </p:txBody>
        </p:sp>
      </p:grpSp>
      <p:sp>
        <p:nvSpPr>
          <p:cNvPr id="572" name="Google Shape;572;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6" name="Shape 576"/>
        <p:cNvGrpSpPr/>
        <p:nvPr/>
      </p:nvGrpSpPr>
      <p:grpSpPr>
        <a:xfrm>
          <a:off x="0" y="0"/>
          <a:ext cx="0" cy="0"/>
          <a:chOff x="0" y="0"/>
          <a:chExt cx="0" cy="0"/>
        </a:xfrm>
      </p:grpSpPr>
      <p:sp>
        <p:nvSpPr>
          <p:cNvPr id="577" name="Google Shape;577;p46"/>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8" name="Google Shape;578;p46"/>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9" name="Google Shape;579;p46"/>
          <p:cNvGrpSpPr/>
          <p:nvPr/>
        </p:nvGrpSpPr>
        <p:grpSpPr>
          <a:xfrm>
            <a:off x="571500" y="428625"/>
            <a:ext cx="8001000" cy="571500"/>
            <a:chOff x="0" y="0"/>
            <a:chExt cx="8001000" cy="571500"/>
          </a:xfrm>
        </p:grpSpPr>
        <p:sp>
          <p:nvSpPr>
            <p:cNvPr id="580" name="Google Shape;580;p46"/>
            <p:cNvSpPr/>
            <p:nvPr/>
          </p:nvSpPr>
          <p:spPr>
            <a:xfrm>
              <a:off x="0" y="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1" name="Google Shape;581;p46"/>
            <p:cNvSpPr txBox="1"/>
            <p:nvPr/>
          </p:nvSpPr>
          <p:spPr>
            <a:xfrm>
              <a:off x="0" y="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FFFFF"/>
                  </a:solidFill>
                  <a:latin typeface="Cambria"/>
                  <a:ea typeface="Cambria"/>
                  <a:cs typeface="Cambria"/>
                  <a:sym typeface="Cambria"/>
                </a:rPr>
                <a:t>Finding Media Contacts at External Orgs</a:t>
              </a:r>
              <a:endParaRPr b="1" sz="2400">
                <a:solidFill>
                  <a:srgbClr val="FFFFFF"/>
                </a:solidFill>
                <a:latin typeface="Cambria"/>
                <a:ea typeface="Cambria"/>
                <a:cs typeface="Cambria"/>
                <a:sym typeface="Cambria"/>
              </a:endParaRPr>
            </a:p>
          </p:txBody>
        </p:sp>
      </p:grpSp>
      <p:sp>
        <p:nvSpPr>
          <p:cNvPr id="582" name="Google Shape;582;p46"/>
          <p:cNvSpPr/>
          <p:nvPr/>
        </p:nvSpPr>
        <p:spPr>
          <a:xfrm>
            <a:off x="542926" y="1162051"/>
            <a:ext cx="3428872" cy="3639222"/>
          </a:xfrm>
          <a:prstGeom prst="roundRect">
            <a:avLst>
              <a:gd fmla="val 4294" name="adj"/>
            </a:avLst>
          </a:prstGeom>
          <a:solidFill>
            <a:srgbClr val="FFFFFF">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3" name="Google Shape;583;p46"/>
          <p:cNvGrpSpPr/>
          <p:nvPr/>
        </p:nvGrpSpPr>
        <p:grpSpPr>
          <a:xfrm>
            <a:off x="3905250" y="1190625"/>
            <a:ext cx="4667400" cy="904800"/>
            <a:chOff x="0" y="0"/>
            <a:chExt cx="4667400" cy="904800"/>
          </a:xfrm>
        </p:grpSpPr>
        <p:sp>
          <p:nvSpPr>
            <p:cNvPr id="584" name="Google Shape;584;p46"/>
            <p:cNvSpPr/>
            <p:nvPr/>
          </p:nvSpPr>
          <p:spPr>
            <a:xfrm>
              <a:off x="0" y="0"/>
              <a:ext cx="4667400" cy="904800"/>
            </a:xfrm>
            <a:prstGeom prst="roundRect">
              <a:avLst>
                <a:gd fmla="val 8421"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5" name="Google Shape;585;p46"/>
            <p:cNvSpPr/>
            <p:nvPr/>
          </p:nvSpPr>
          <p:spPr>
            <a:xfrm>
              <a:off x="0" y="0"/>
              <a:ext cx="57300" cy="9048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6" name="Google Shape;586;p46"/>
            <p:cNvGrpSpPr/>
            <p:nvPr/>
          </p:nvGrpSpPr>
          <p:grpSpPr>
            <a:xfrm>
              <a:off x="190500" y="0"/>
              <a:ext cx="4286400" cy="904800"/>
              <a:chOff x="0" y="0"/>
              <a:chExt cx="4286400" cy="904800"/>
            </a:xfrm>
          </p:grpSpPr>
          <p:sp>
            <p:nvSpPr>
              <p:cNvPr id="587" name="Google Shape;587;p46"/>
              <p:cNvSpPr/>
              <p:nvPr/>
            </p:nvSpPr>
            <p:spPr>
              <a:xfrm>
                <a:off x="0" y="0"/>
                <a:ext cx="4286400" cy="904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8" name="Google Shape;588;p46"/>
              <p:cNvSpPr txBox="1"/>
              <p:nvPr/>
            </p:nvSpPr>
            <p:spPr>
              <a:xfrm>
                <a:off x="0" y="0"/>
                <a:ext cx="4286400" cy="9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EF4444"/>
                    </a:solidFill>
                    <a:latin typeface="Arial"/>
                    <a:ea typeface="Arial"/>
                    <a:cs typeface="Arial"/>
                    <a:sym typeface="Arial"/>
                  </a:rPr>
                  <a:t>The Old Way</a:t>
                </a:r>
                <a:endParaRPr b="1" sz="1400">
                  <a:solidFill>
                    <a:srgbClr val="EF4444"/>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Hours spent digging through confusing university directories.</a:t>
                </a:r>
                <a:endParaRPr b="0" sz="1100">
                  <a:solidFill>
                    <a:srgbClr val="E2E8F0"/>
                  </a:solidFill>
                  <a:latin typeface="Arial"/>
                  <a:ea typeface="Arial"/>
                  <a:cs typeface="Arial"/>
                  <a:sym typeface="Arial"/>
                </a:endParaRPr>
              </a:p>
            </p:txBody>
          </p:sp>
        </p:grpSp>
      </p:grpSp>
      <p:grpSp>
        <p:nvGrpSpPr>
          <p:cNvPr id="589" name="Google Shape;589;p46"/>
          <p:cNvGrpSpPr/>
          <p:nvPr/>
        </p:nvGrpSpPr>
        <p:grpSpPr>
          <a:xfrm>
            <a:off x="3905250" y="2238375"/>
            <a:ext cx="4667400" cy="1047900"/>
            <a:chOff x="0" y="0"/>
            <a:chExt cx="4667400" cy="1047900"/>
          </a:xfrm>
        </p:grpSpPr>
        <p:sp>
          <p:nvSpPr>
            <p:cNvPr id="590" name="Google Shape;590;p46"/>
            <p:cNvSpPr/>
            <p:nvPr/>
          </p:nvSpPr>
          <p:spPr>
            <a:xfrm>
              <a:off x="0" y="0"/>
              <a:ext cx="4667400" cy="1047900"/>
            </a:xfrm>
            <a:prstGeom prst="roundRect">
              <a:avLst>
                <a:gd fmla="val 7272"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46"/>
            <p:cNvSpPr/>
            <p:nvPr/>
          </p:nvSpPr>
          <p:spPr>
            <a:xfrm>
              <a:off x="0" y="0"/>
              <a:ext cx="57300" cy="10479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92" name="Google Shape;592;p46"/>
            <p:cNvGrpSpPr/>
            <p:nvPr/>
          </p:nvGrpSpPr>
          <p:grpSpPr>
            <a:xfrm>
              <a:off x="190500" y="0"/>
              <a:ext cx="4286400" cy="1047900"/>
              <a:chOff x="0" y="0"/>
              <a:chExt cx="4286400" cy="1047900"/>
            </a:xfrm>
          </p:grpSpPr>
          <p:sp>
            <p:nvSpPr>
              <p:cNvPr id="593" name="Google Shape;593;p46"/>
              <p:cNvSpPr/>
              <p:nvPr/>
            </p:nvSpPr>
            <p:spPr>
              <a:xfrm>
                <a:off x="0" y="0"/>
                <a:ext cx="42864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46"/>
              <p:cNvSpPr txBox="1"/>
              <p:nvPr/>
            </p:nvSpPr>
            <p:spPr>
              <a:xfrm>
                <a:off x="0" y="0"/>
                <a:ext cx="4286400" cy="1047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10B981"/>
                    </a:solidFill>
                    <a:latin typeface="Arial"/>
                    <a:ea typeface="Arial"/>
                    <a:cs typeface="Arial"/>
                    <a:sym typeface="Arial"/>
                  </a:rPr>
                  <a:t>The AI Way (New)</a:t>
                </a:r>
                <a:endParaRPr b="1" sz="1400">
                  <a:solidFill>
                    <a:srgbClr val="10B981"/>
                  </a:solidFill>
                  <a:latin typeface="Arial"/>
                  <a:ea typeface="Arial"/>
                  <a:cs typeface="Arial"/>
                  <a:sym typeface="Arial"/>
                </a:endParaRPr>
              </a:p>
              <a:p>
                <a:pPr indent="0" lvl="0" marL="0" rtl="0" algn="l">
                  <a:spcBef>
                    <a:spcPts val="300"/>
                  </a:spcBef>
                  <a:spcAft>
                    <a:spcPts val="0"/>
                  </a:spcAft>
                  <a:buNone/>
                </a:pPr>
                <a:r>
                  <a:rPr lang="en" sz="1100">
                    <a:solidFill>
                      <a:srgbClr val="E2E8F0"/>
                    </a:solidFill>
                  </a:rPr>
                  <a:t>Use </a:t>
                </a:r>
                <a:r>
                  <a:rPr b="0" lang="en" sz="1100">
                    <a:solidFill>
                      <a:srgbClr val="E2E8F0"/>
                    </a:solidFill>
                    <a:latin typeface="Arial"/>
                    <a:ea typeface="Arial"/>
                    <a:cs typeface="Arial"/>
                    <a:sym typeface="Arial"/>
                  </a:rPr>
                  <a:t>a pre-made </a:t>
                </a:r>
                <a:r>
                  <a:rPr lang="en" sz="1100">
                    <a:solidFill>
                      <a:srgbClr val="E2E8F0"/>
                    </a:solidFill>
                  </a:rPr>
                  <a:t>attachment </a:t>
                </a:r>
                <a:r>
                  <a:rPr b="0" lang="en" sz="1100">
                    <a:solidFill>
                      <a:srgbClr val="E2E8F0"/>
                    </a:solidFill>
                    <a:latin typeface="Arial"/>
                    <a:ea typeface="Arial"/>
                    <a:cs typeface="Arial"/>
                    <a:sym typeface="Arial"/>
                  </a:rPr>
                  <a:t>prompt </a:t>
                </a:r>
                <a:r>
                  <a:rPr lang="en" sz="1100">
                    <a:solidFill>
                      <a:srgbClr val="E2E8F0"/>
                    </a:solidFill>
                  </a:rPr>
                  <a:t>and add </a:t>
                </a:r>
                <a:r>
                  <a:rPr b="0" lang="en" sz="1100">
                    <a:solidFill>
                      <a:srgbClr val="E2E8F0"/>
                    </a:solidFill>
                    <a:latin typeface="Arial"/>
                    <a:ea typeface="Arial"/>
                    <a:cs typeface="Arial"/>
                    <a:sym typeface="Arial"/>
                  </a:rPr>
                  <a:t>target organization &amp; topic. </a:t>
                </a:r>
                <a:br>
                  <a:rPr b="0" lang="en" sz="1100">
                    <a:solidFill>
                      <a:srgbClr val="E2E8F0"/>
                    </a:solidFill>
                    <a:latin typeface="Arial"/>
                    <a:ea typeface="Arial"/>
                    <a:cs typeface="Arial"/>
                    <a:sym typeface="Arial"/>
                  </a:rPr>
                </a:br>
                <a:r>
                  <a:rPr b="0" lang="en" sz="1100">
                    <a:solidFill>
                      <a:srgbClr val="E2E8F0"/>
                    </a:solidFill>
                    <a:latin typeface="Arial"/>
                    <a:ea typeface="Arial"/>
                    <a:cs typeface="Arial"/>
                    <a:sym typeface="Arial"/>
                  </a:rPr>
                  <a:t>Yields 5 verified contact names, positions, and emails.</a:t>
                </a:r>
                <a:endParaRPr b="0" sz="1100">
                  <a:solidFill>
                    <a:srgbClr val="E2E8F0"/>
                  </a:solidFill>
                  <a:latin typeface="Arial"/>
                  <a:ea typeface="Arial"/>
                  <a:cs typeface="Arial"/>
                  <a:sym typeface="Arial"/>
                </a:endParaRPr>
              </a:p>
            </p:txBody>
          </p:sp>
        </p:grpSp>
      </p:grpSp>
      <p:grpSp>
        <p:nvGrpSpPr>
          <p:cNvPr id="595" name="Google Shape;595;p46"/>
          <p:cNvGrpSpPr/>
          <p:nvPr/>
        </p:nvGrpSpPr>
        <p:grpSpPr>
          <a:xfrm>
            <a:off x="3905250" y="3429000"/>
            <a:ext cx="4667400" cy="1000200"/>
            <a:chOff x="0" y="0"/>
            <a:chExt cx="4667400" cy="1000200"/>
          </a:xfrm>
        </p:grpSpPr>
        <p:sp>
          <p:nvSpPr>
            <p:cNvPr id="596" name="Google Shape;596;p46"/>
            <p:cNvSpPr/>
            <p:nvPr/>
          </p:nvSpPr>
          <p:spPr>
            <a:xfrm>
              <a:off x="0" y="0"/>
              <a:ext cx="4667400" cy="1000200"/>
            </a:xfrm>
            <a:prstGeom prst="roundRect">
              <a:avLst>
                <a:gd fmla="val 7619"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46"/>
            <p:cNvSpPr/>
            <p:nvPr/>
          </p:nvSpPr>
          <p:spPr>
            <a:xfrm>
              <a:off x="0" y="0"/>
              <a:ext cx="57300" cy="10002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98" name="Google Shape;598;p46"/>
            <p:cNvGrpSpPr/>
            <p:nvPr/>
          </p:nvGrpSpPr>
          <p:grpSpPr>
            <a:xfrm>
              <a:off x="190500" y="0"/>
              <a:ext cx="4286400" cy="1000200"/>
              <a:chOff x="0" y="0"/>
              <a:chExt cx="4286400" cy="1000200"/>
            </a:xfrm>
          </p:grpSpPr>
          <p:sp>
            <p:nvSpPr>
              <p:cNvPr id="599" name="Google Shape;599;p46"/>
              <p:cNvSpPr/>
              <p:nvPr/>
            </p:nvSpPr>
            <p:spPr>
              <a:xfrm>
                <a:off x="0" y="0"/>
                <a:ext cx="4286400" cy="1000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0" name="Google Shape;600;p46"/>
              <p:cNvSpPr txBox="1"/>
              <p:nvPr/>
            </p:nvSpPr>
            <p:spPr>
              <a:xfrm>
                <a:off x="0" y="0"/>
                <a:ext cx="4286400" cy="1000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F59E0B"/>
                    </a:solidFill>
                    <a:latin typeface="Arial"/>
                    <a:ea typeface="Arial"/>
                    <a:cs typeface="Arial"/>
                    <a:sym typeface="Arial"/>
                  </a:rPr>
                  <a:t>Tested Validation</a:t>
                </a:r>
                <a:endParaRPr b="1" sz="1400">
                  <a:solidFill>
                    <a:srgbClr val="F59E0B"/>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Successfully tested and verified with Iowa State University and computer vision project.</a:t>
                </a:r>
                <a:endParaRPr b="0" sz="1100">
                  <a:solidFill>
                    <a:srgbClr val="E2E8F0"/>
                  </a:solidFill>
                  <a:latin typeface="Arial"/>
                  <a:ea typeface="Arial"/>
                  <a:cs typeface="Arial"/>
                  <a:sym typeface="Arial"/>
                </a:endParaRPr>
              </a:p>
            </p:txBody>
          </p:sp>
        </p:grpSp>
      </p:grpSp>
      <p:pic>
        <p:nvPicPr>
          <p:cNvPr id="601" name="Google Shape;601;p46"/>
          <p:cNvPicPr preferRelativeResize="0"/>
          <p:nvPr/>
        </p:nvPicPr>
        <p:blipFill>
          <a:blip r:embed="rId4">
            <a:alphaModFix/>
          </a:blip>
          <a:stretch>
            <a:fillRect/>
          </a:stretch>
        </p:blipFill>
        <p:spPr>
          <a:xfrm>
            <a:off x="3025" y="1162050"/>
            <a:ext cx="3999937" cy="3667800"/>
          </a:xfrm>
          <a:prstGeom prst="rect">
            <a:avLst/>
          </a:prstGeom>
          <a:noFill/>
          <a:ln>
            <a:noFill/>
          </a:ln>
        </p:spPr>
      </p:pic>
      <p:sp>
        <p:nvSpPr>
          <p:cNvPr id="602" name="Google Shape;602;p46"/>
          <p:cNvSpPr/>
          <p:nvPr/>
        </p:nvSpPr>
        <p:spPr>
          <a:xfrm>
            <a:off x="3094200" y="4324325"/>
            <a:ext cx="933600" cy="1359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3" name="Google Shape;603;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7" name="Shape 607"/>
        <p:cNvGrpSpPr/>
        <p:nvPr/>
      </p:nvGrpSpPr>
      <p:grpSpPr>
        <a:xfrm>
          <a:off x="0" y="0"/>
          <a:ext cx="0" cy="0"/>
          <a:chOff x="0" y="0"/>
          <a:chExt cx="0" cy="0"/>
        </a:xfrm>
      </p:grpSpPr>
      <p:sp>
        <p:nvSpPr>
          <p:cNvPr id="608" name="Google Shape;608;p47"/>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9" name="Google Shape;609;p47"/>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10" name="Google Shape;610;p47"/>
          <p:cNvGrpSpPr/>
          <p:nvPr/>
        </p:nvGrpSpPr>
        <p:grpSpPr>
          <a:xfrm>
            <a:off x="571500" y="428625"/>
            <a:ext cx="8001000" cy="571500"/>
            <a:chOff x="0" y="0"/>
            <a:chExt cx="8001000" cy="571500"/>
          </a:xfrm>
        </p:grpSpPr>
        <p:sp>
          <p:nvSpPr>
            <p:cNvPr id="611" name="Google Shape;611;p47"/>
            <p:cNvSpPr/>
            <p:nvPr/>
          </p:nvSpPr>
          <p:spPr>
            <a:xfrm>
              <a:off x="0" y="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47"/>
            <p:cNvSpPr txBox="1"/>
            <p:nvPr/>
          </p:nvSpPr>
          <p:spPr>
            <a:xfrm>
              <a:off x="0" y="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FFFFF"/>
                  </a:solidFill>
                  <a:latin typeface="Cambria"/>
                  <a:ea typeface="Cambria"/>
                  <a:cs typeface="Cambria"/>
                  <a:sym typeface="Cambria"/>
                </a:rPr>
                <a:t>Blog Posts - Old Hook Email</a:t>
              </a:r>
              <a:endParaRPr b="1" sz="2400">
                <a:solidFill>
                  <a:srgbClr val="FFFFFF"/>
                </a:solidFill>
                <a:latin typeface="Cambria"/>
                <a:ea typeface="Cambria"/>
                <a:cs typeface="Cambria"/>
                <a:sym typeface="Cambria"/>
              </a:endParaRPr>
            </a:p>
          </p:txBody>
        </p:sp>
      </p:grpSp>
      <p:grpSp>
        <p:nvGrpSpPr>
          <p:cNvPr id="613" name="Google Shape;613;p47"/>
          <p:cNvGrpSpPr/>
          <p:nvPr/>
        </p:nvGrpSpPr>
        <p:grpSpPr>
          <a:xfrm>
            <a:off x="4191000" y="1190625"/>
            <a:ext cx="4381500" cy="952500"/>
            <a:chOff x="0" y="0"/>
            <a:chExt cx="4381500" cy="952500"/>
          </a:xfrm>
        </p:grpSpPr>
        <p:sp>
          <p:nvSpPr>
            <p:cNvPr id="614" name="Google Shape;614;p47"/>
            <p:cNvSpPr/>
            <p:nvPr/>
          </p:nvSpPr>
          <p:spPr>
            <a:xfrm>
              <a:off x="0" y="0"/>
              <a:ext cx="4381500" cy="952500"/>
            </a:xfrm>
            <a:prstGeom prst="roundRect">
              <a:avLst>
                <a:gd fmla="val 8000"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47"/>
            <p:cNvSpPr/>
            <p:nvPr/>
          </p:nvSpPr>
          <p:spPr>
            <a:xfrm>
              <a:off x="0" y="0"/>
              <a:ext cx="57300" cy="952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6" name="Google Shape;616;p47"/>
            <p:cNvSpPr txBox="1"/>
            <p:nvPr/>
          </p:nvSpPr>
          <p:spPr>
            <a:xfrm>
              <a:off x="190500" y="0"/>
              <a:ext cx="4000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EF4444"/>
                  </a:solidFill>
                  <a:latin typeface="Arial"/>
                  <a:ea typeface="Arial"/>
                  <a:cs typeface="Arial"/>
                  <a:sym typeface="Arial"/>
                </a:rPr>
                <a:t>Vague Inputs</a:t>
              </a:r>
              <a:endParaRPr b="1" sz="1400">
                <a:solidFill>
                  <a:srgbClr val="EF4444"/>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The placeholders and input variables used in the sample outreach email are extremely vague.</a:t>
              </a:r>
              <a:endParaRPr b="0" sz="1100">
                <a:solidFill>
                  <a:srgbClr val="E2E8F0"/>
                </a:solidFill>
                <a:latin typeface="Arial"/>
                <a:ea typeface="Arial"/>
                <a:cs typeface="Arial"/>
                <a:sym typeface="Arial"/>
              </a:endParaRPr>
            </a:p>
          </p:txBody>
        </p:sp>
      </p:grpSp>
      <p:grpSp>
        <p:nvGrpSpPr>
          <p:cNvPr id="617" name="Google Shape;617;p47"/>
          <p:cNvGrpSpPr/>
          <p:nvPr/>
        </p:nvGrpSpPr>
        <p:grpSpPr>
          <a:xfrm>
            <a:off x="4191000" y="2333625"/>
            <a:ext cx="4381500" cy="952500"/>
            <a:chOff x="0" y="0"/>
            <a:chExt cx="4381500" cy="952500"/>
          </a:xfrm>
        </p:grpSpPr>
        <p:sp>
          <p:nvSpPr>
            <p:cNvPr id="618" name="Google Shape;618;p47"/>
            <p:cNvSpPr/>
            <p:nvPr/>
          </p:nvSpPr>
          <p:spPr>
            <a:xfrm>
              <a:off x="0" y="0"/>
              <a:ext cx="4381500" cy="952500"/>
            </a:xfrm>
            <a:prstGeom prst="roundRect">
              <a:avLst>
                <a:gd fmla="val 8000"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9" name="Google Shape;619;p47"/>
            <p:cNvSpPr/>
            <p:nvPr/>
          </p:nvSpPr>
          <p:spPr>
            <a:xfrm>
              <a:off x="0" y="0"/>
              <a:ext cx="57300" cy="9525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0" name="Google Shape;620;p47"/>
            <p:cNvSpPr txBox="1"/>
            <p:nvPr/>
          </p:nvSpPr>
          <p:spPr>
            <a:xfrm>
              <a:off x="190500" y="0"/>
              <a:ext cx="4000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F59E0B"/>
                  </a:solidFill>
                  <a:latin typeface="Arial"/>
                  <a:ea typeface="Arial"/>
                  <a:cs typeface="Arial"/>
                  <a:sym typeface="Arial"/>
                </a:rPr>
                <a:t>Undefined Authority</a:t>
              </a:r>
              <a:endParaRPr b="1" sz="1400">
                <a:solidFill>
                  <a:srgbClr val="F59E0B"/>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Does not clearly define the authority or professional credibility of the sender.</a:t>
              </a:r>
              <a:endParaRPr b="0" sz="1100">
                <a:solidFill>
                  <a:srgbClr val="E2E8F0"/>
                </a:solidFill>
                <a:latin typeface="Arial"/>
                <a:ea typeface="Arial"/>
                <a:cs typeface="Arial"/>
                <a:sym typeface="Arial"/>
              </a:endParaRPr>
            </a:p>
          </p:txBody>
        </p:sp>
      </p:grpSp>
      <p:grpSp>
        <p:nvGrpSpPr>
          <p:cNvPr id="621" name="Google Shape;621;p47"/>
          <p:cNvGrpSpPr/>
          <p:nvPr/>
        </p:nvGrpSpPr>
        <p:grpSpPr>
          <a:xfrm>
            <a:off x="4191000" y="3476625"/>
            <a:ext cx="4381500" cy="952500"/>
            <a:chOff x="0" y="0"/>
            <a:chExt cx="4381500" cy="952500"/>
          </a:xfrm>
        </p:grpSpPr>
        <p:sp>
          <p:nvSpPr>
            <p:cNvPr id="622" name="Google Shape;622;p47"/>
            <p:cNvSpPr/>
            <p:nvPr/>
          </p:nvSpPr>
          <p:spPr>
            <a:xfrm>
              <a:off x="0" y="0"/>
              <a:ext cx="4381500" cy="952500"/>
            </a:xfrm>
            <a:prstGeom prst="roundRect">
              <a:avLst>
                <a:gd fmla="val 8000"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3" name="Google Shape;623;p47"/>
            <p:cNvSpPr/>
            <p:nvPr/>
          </p:nvSpPr>
          <p:spPr>
            <a:xfrm>
              <a:off x="0" y="0"/>
              <a:ext cx="57300" cy="952500"/>
            </a:xfrm>
            <a:prstGeom prst="roundRect">
              <a:avLst>
                <a:gd fmla="val 50000" name="adj"/>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47"/>
            <p:cNvSpPr txBox="1"/>
            <p:nvPr/>
          </p:nvSpPr>
          <p:spPr>
            <a:xfrm>
              <a:off x="190500" y="0"/>
              <a:ext cx="4000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06B6D4"/>
                  </a:solidFill>
                  <a:latin typeface="Arial"/>
                  <a:ea typeface="Arial"/>
                  <a:cs typeface="Arial"/>
                  <a:sym typeface="Arial"/>
                </a:rPr>
                <a:t>Weak Collaboration Incentive</a:t>
              </a:r>
              <a:endParaRPr b="1" sz="1400">
                <a:solidFill>
                  <a:srgbClr val="06B6D4"/>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Does not provide a compelling reason for why the recipient should take on the collaboration.</a:t>
              </a:r>
              <a:endParaRPr b="0" sz="1100">
                <a:solidFill>
                  <a:srgbClr val="E2E8F0"/>
                </a:solidFill>
                <a:latin typeface="Arial"/>
                <a:ea typeface="Arial"/>
                <a:cs typeface="Arial"/>
                <a:sym typeface="Arial"/>
              </a:endParaRPr>
            </a:p>
          </p:txBody>
        </p:sp>
      </p:grpSp>
      <p:pic>
        <p:nvPicPr>
          <p:cNvPr id="625" name="Google Shape;625;p47"/>
          <p:cNvPicPr preferRelativeResize="0"/>
          <p:nvPr/>
        </p:nvPicPr>
        <p:blipFill>
          <a:blip r:embed="rId4">
            <a:alphaModFix/>
          </a:blip>
          <a:stretch>
            <a:fillRect/>
          </a:stretch>
        </p:blipFill>
        <p:spPr>
          <a:xfrm>
            <a:off x="33250" y="1190625"/>
            <a:ext cx="4157751" cy="3429000"/>
          </a:xfrm>
          <a:prstGeom prst="rect">
            <a:avLst/>
          </a:prstGeom>
          <a:noFill/>
          <a:ln>
            <a:noFill/>
          </a:ln>
        </p:spPr>
      </p:pic>
      <p:sp>
        <p:nvSpPr>
          <p:cNvPr id="626" name="Google Shape;626;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48"/>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2" name="Google Shape;632;p48"/>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33" name="Google Shape;633;p48"/>
          <p:cNvGrpSpPr/>
          <p:nvPr/>
        </p:nvGrpSpPr>
        <p:grpSpPr>
          <a:xfrm>
            <a:off x="571500" y="428625"/>
            <a:ext cx="8001000" cy="571500"/>
            <a:chOff x="0" y="0"/>
            <a:chExt cx="8001000" cy="571500"/>
          </a:xfrm>
        </p:grpSpPr>
        <p:sp>
          <p:nvSpPr>
            <p:cNvPr id="634" name="Google Shape;634;p48"/>
            <p:cNvSpPr/>
            <p:nvPr/>
          </p:nvSpPr>
          <p:spPr>
            <a:xfrm>
              <a:off x="0" y="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5" name="Google Shape;635;p48"/>
            <p:cNvSpPr txBox="1"/>
            <p:nvPr/>
          </p:nvSpPr>
          <p:spPr>
            <a:xfrm>
              <a:off x="0" y="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FFFFF"/>
                  </a:solidFill>
                  <a:latin typeface="Cambria"/>
                  <a:ea typeface="Cambria"/>
                  <a:cs typeface="Cambria"/>
                  <a:sym typeface="Cambria"/>
                </a:rPr>
                <a:t>Blog Posts - New Hook Email</a:t>
              </a:r>
              <a:endParaRPr b="1" sz="2400">
                <a:solidFill>
                  <a:srgbClr val="FFFFFF"/>
                </a:solidFill>
                <a:latin typeface="Cambria"/>
                <a:ea typeface="Cambria"/>
                <a:cs typeface="Cambria"/>
                <a:sym typeface="Cambria"/>
              </a:endParaRPr>
            </a:p>
          </p:txBody>
        </p:sp>
      </p:grpSp>
      <p:grpSp>
        <p:nvGrpSpPr>
          <p:cNvPr id="636" name="Google Shape;636;p48"/>
          <p:cNvGrpSpPr/>
          <p:nvPr/>
        </p:nvGrpSpPr>
        <p:grpSpPr>
          <a:xfrm>
            <a:off x="4191000" y="1190625"/>
            <a:ext cx="4381500" cy="952500"/>
            <a:chOff x="0" y="0"/>
            <a:chExt cx="4381500" cy="952500"/>
          </a:xfrm>
        </p:grpSpPr>
        <p:sp>
          <p:nvSpPr>
            <p:cNvPr id="637" name="Google Shape;637;p48"/>
            <p:cNvSpPr/>
            <p:nvPr/>
          </p:nvSpPr>
          <p:spPr>
            <a:xfrm>
              <a:off x="0" y="0"/>
              <a:ext cx="4381500" cy="952500"/>
            </a:xfrm>
            <a:prstGeom prst="roundRect">
              <a:avLst>
                <a:gd fmla="val 8000"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8" name="Google Shape;638;p48"/>
            <p:cNvSpPr/>
            <p:nvPr/>
          </p:nvSpPr>
          <p:spPr>
            <a:xfrm>
              <a:off x="0" y="0"/>
              <a:ext cx="57300" cy="952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48"/>
            <p:cNvSpPr txBox="1"/>
            <p:nvPr/>
          </p:nvSpPr>
          <p:spPr>
            <a:xfrm>
              <a:off x="190500" y="0"/>
              <a:ext cx="4000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EF4444"/>
                  </a:solidFill>
                  <a:latin typeface="Arial"/>
                  <a:ea typeface="Arial"/>
                  <a:cs typeface="Arial"/>
                  <a:sym typeface="Arial"/>
                </a:rPr>
                <a:t>Clear Inputs from Slack Tracker</a:t>
              </a:r>
              <a:endParaRPr b="1" sz="1400">
                <a:solidFill>
                  <a:srgbClr val="EF4444"/>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The placeholder</a:t>
              </a:r>
              <a:r>
                <a:rPr lang="en" sz="1100">
                  <a:solidFill>
                    <a:srgbClr val="E2E8F0"/>
                  </a:solidFill>
                </a:rPr>
                <a:t> variables are direct inputs from a filled Slack Tracker</a:t>
              </a:r>
              <a:endParaRPr b="0" sz="1100">
                <a:solidFill>
                  <a:srgbClr val="E2E8F0"/>
                </a:solidFill>
                <a:latin typeface="Arial"/>
                <a:ea typeface="Arial"/>
                <a:cs typeface="Arial"/>
                <a:sym typeface="Arial"/>
              </a:endParaRPr>
            </a:p>
          </p:txBody>
        </p:sp>
      </p:grpSp>
      <p:grpSp>
        <p:nvGrpSpPr>
          <p:cNvPr id="640" name="Google Shape;640;p48"/>
          <p:cNvGrpSpPr/>
          <p:nvPr/>
        </p:nvGrpSpPr>
        <p:grpSpPr>
          <a:xfrm>
            <a:off x="4191000" y="2333625"/>
            <a:ext cx="4381500" cy="952500"/>
            <a:chOff x="0" y="0"/>
            <a:chExt cx="4381500" cy="952500"/>
          </a:xfrm>
        </p:grpSpPr>
        <p:sp>
          <p:nvSpPr>
            <p:cNvPr id="641" name="Google Shape;641;p48"/>
            <p:cNvSpPr/>
            <p:nvPr/>
          </p:nvSpPr>
          <p:spPr>
            <a:xfrm>
              <a:off x="0" y="0"/>
              <a:ext cx="4381500" cy="952500"/>
            </a:xfrm>
            <a:prstGeom prst="roundRect">
              <a:avLst>
                <a:gd fmla="val 8000"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2" name="Google Shape;642;p48"/>
            <p:cNvSpPr/>
            <p:nvPr/>
          </p:nvSpPr>
          <p:spPr>
            <a:xfrm>
              <a:off x="0" y="0"/>
              <a:ext cx="57300" cy="9525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3" name="Google Shape;643;p48"/>
            <p:cNvSpPr txBox="1"/>
            <p:nvPr/>
          </p:nvSpPr>
          <p:spPr>
            <a:xfrm>
              <a:off x="190500" y="0"/>
              <a:ext cx="4000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F59E0B"/>
                  </a:solidFill>
                  <a:latin typeface="Arial"/>
                  <a:ea typeface="Arial"/>
                  <a:cs typeface="Arial"/>
                  <a:sym typeface="Arial"/>
                </a:rPr>
                <a:t>Defined </a:t>
              </a:r>
              <a:r>
                <a:rPr b="1" lang="en" sz="1400">
                  <a:solidFill>
                    <a:srgbClr val="F59E0B"/>
                  </a:solidFill>
                  <a:latin typeface="Arial"/>
                  <a:ea typeface="Arial"/>
                  <a:cs typeface="Arial"/>
                  <a:sym typeface="Arial"/>
                </a:rPr>
                <a:t>Authority</a:t>
              </a:r>
              <a:endParaRPr b="1" sz="1400">
                <a:solidFill>
                  <a:srgbClr val="F59E0B"/>
                </a:solidFill>
                <a:latin typeface="Arial"/>
                <a:ea typeface="Arial"/>
                <a:cs typeface="Arial"/>
                <a:sym typeface="Arial"/>
              </a:endParaRPr>
            </a:p>
            <a:p>
              <a:pPr indent="0" lvl="0" marL="0" rtl="0" algn="l">
                <a:spcBef>
                  <a:spcPts val="300"/>
                </a:spcBef>
                <a:spcAft>
                  <a:spcPts val="0"/>
                </a:spcAft>
                <a:buNone/>
              </a:pPr>
              <a:r>
                <a:rPr lang="en" sz="1100">
                  <a:solidFill>
                    <a:srgbClr val="E2E8F0"/>
                  </a:solidFill>
                </a:rPr>
                <a:t>States who is sending the email and what HAAG is</a:t>
              </a:r>
              <a:endParaRPr b="0" sz="1100">
                <a:solidFill>
                  <a:srgbClr val="E2E8F0"/>
                </a:solidFill>
                <a:latin typeface="Arial"/>
                <a:ea typeface="Arial"/>
                <a:cs typeface="Arial"/>
                <a:sym typeface="Arial"/>
              </a:endParaRPr>
            </a:p>
          </p:txBody>
        </p:sp>
      </p:grpSp>
      <p:grpSp>
        <p:nvGrpSpPr>
          <p:cNvPr id="644" name="Google Shape;644;p48"/>
          <p:cNvGrpSpPr/>
          <p:nvPr/>
        </p:nvGrpSpPr>
        <p:grpSpPr>
          <a:xfrm>
            <a:off x="4191000" y="3476625"/>
            <a:ext cx="4381500" cy="952500"/>
            <a:chOff x="0" y="0"/>
            <a:chExt cx="4381500" cy="952500"/>
          </a:xfrm>
        </p:grpSpPr>
        <p:sp>
          <p:nvSpPr>
            <p:cNvPr id="645" name="Google Shape;645;p48"/>
            <p:cNvSpPr/>
            <p:nvPr/>
          </p:nvSpPr>
          <p:spPr>
            <a:xfrm>
              <a:off x="0" y="0"/>
              <a:ext cx="4381500" cy="952500"/>
            </a:xfrm>
            <a:prstGeom prst="roundRect">
              <a:avLst>
                <a:gd fmla="val 8000" name="adj"/>
              </a:avLst>
            </a:prstGeom>
            <a:solidFill>
              <a:srgbClr val="0A3D6B">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48"/>
            <p:cNvSpPr/>
            <p:nvPr/>
          </p:nvSpPr>
          <p:spPr>
            <a:xfrm>
              <a:off x="0" y="0"/>
              <a:ext cx="57300" cy="952500"/>
            </a:xfrm>
            <a:prstGeom prst="roundRect">
              <a:avLst>
                <a:gd fmla="val 50000" name="adj"/>
              </a:avLst>
            </a:prstGeom>
            <a:solidFill>
              <a:srgbClr val="06B6D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7" name="Google Shape;647;p48"/>
            <p:cNvSpPr txBox="1"/>
            <p:nvPr/>
          </p:nvSpPr>
          <p:spPr>
            <a:xfrm>
              <a:off x="190500" y="0"/>
              <a:ext cx="4000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a:solidFill>
                    <a:srgbClr val="06B6D4"/>
                  </a:solidFill>
                  <a:latin typeface="Arial"/>
                  <a:ea typeface="Arial"/>
                  <a:cs typeface="Arial"/>
                  <a:sym typeface="Arial"/>
                </a:rPr>
                <a:t>Strong </a:t>
              </a:r>
              <a:r>
                <a:rPr b="1" lang="en" sz="1400">
                  <a:solidFill>
                    <a:srgbClr val="06B6D4"/>
                  </a:solidFill>
                  <a:latin typeface="Arial"/>
                  <a:ea typeface="Arial"/>
                  <a:cs typeface="Arial"/>
                  <a:sym typeface="Arial"/>
                </a:rPr>
                <a:t>Collaboration Incentive</a:t>
              </a:r>
              <a:endParaRPr b="1" sz="1400">
                <a:solidFill>
                  <a:srgbClr val="06B6D4"/>
                </a:solidFill>
                <a:latin typeface="Arial"/>
                <a:ea typeface="Arial"/>
                <a:cs typeface="Arial"/>
                <a:sym typeface="Arial"/>
              </a:endParaRPr>
            </a:p>
            <a:p>
              <a:pPr indent="0" lvl="0" marL="0" rtl="0" algn="l">
                <a:spcBef>
                  <a:spcPts val="300"/>
                </a:spcBef>
                <a:spcAft>
                  <a:spcPts val="0"/>
                </a:spcAft>
                <a:buNone/>
              </a:pPr>
              <a:r>
                <a:rPr b="0" lang="en" sz="1100">
                  <a:solidFill>
                    <a:srgbClr val="E2E8F0"/>
                  </a:solidFill>
                  <a:latin typeface="Arial"/>
                  <a:ea typeface="Arial"/>
                  <a:cs typeface="Arial"/>
                  <a:sym typeface="Arial"/>
                </a:rPr>
                <a:t>Does not provide a compelling reason for why the recipient should take on the collaboration.</a:t>
              </a:r>
              <a:endParaRPr b="0" sz="1100">
                <a:solidFill>
                  <a:srgbClr val="E2E8F0"/>
                </a:solidFill>
                <a:latin typeface="Arial"/>
                <a:ea typeface="Arial"/>
                <a:cs typeface="Arial"/>
                <a:sym typeface="Arial"/>
              </a:endParaRPr>
            </a:p>
          </p:txBody>
        </p:sp>
      </p:grpSp>
      <p:pic>
        <p:nvPicPr>
          <p:cNvPr id="648" name="Google Shape;648;p48"/>
          <p:cNvPicPr preferRelativeResize="0"/>
          <p:nvPr/>
        </p:nvPicPr>
        <p:blipFill>
          <a:blip r:embed="rId4">
            <a:alphaModFix/>
          </a:blip>
          <a:stretch>
            <a:fillRect/>
          </a:stretch>
        </p:blipFill>
        <p:spPr>
          <a:xfrm>
            <a:off x="223500" y="910100"/>
            <a:ext cx="3736475" cy="4151651"/>
          </a:xfrm>
          <a:prstGeom prst="rect">
            <a:avLst/>
          </a:prstGeom>
          <a:noFill/>
          <a:ln>
            <a:noFill/>
          </a:ln>
        </p:spPr>
      </p:pic>
      <p:sp>
        <p:nvSpPr>
          <p:cNvPr id="649" name="Google Shape;64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3" name="Shape 653"/>
        <p:cNvGrpSpPr/>
        <p:nvPr/>
      </p:nvGrpSpPr>
      <p:grpSpPr>
        <a:xfrm>
          <a:off x="0" y="0"/>
          <a:ext cx="0" cy="0"/>
          <a:chOff x="0" y="0"/>
          <a:chExt cx="0" cy="0"/>
        </a:xfrm>
      </p:grpSpPr>
      <p:sp>
        <p:nvSpPr>
          <p:cNvPr id="654" name="Google Shape;654;p49"/>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5" name="Google Shape;655;p49"/>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56" name="Google Shape;656;p49"/>
          <p:cNvGrpSpPr/>
          <p:nvPr/>
        </p:nvGrpSpPr>
        <p:grpSpPr>
          <a:xfrm>
            <a:off x="571500" y="428625"/>
            <a:ext cx="8001000" cy="571500"/>
            <a:chOff x="0" y="0"/>
            <a:chExt cx="8001000" cy="571500"/>
          </a:xfrm>
        </p:grpSpPr>
        <p:sp>
          <p:nvSpPr>
            <p:cNvPr id="657" name="Google Shape;657;p49"/>
            <p:cNvSpPr/>
            <p:nvPr/>
          </p:nvSpPr>
          <p:spPr>
            <a:xfrm>
              <a:off x="0" y="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8" name="Google Shape;658;p49"/>
            <p:cNvSpPr txBox="1"/>
            <p:nvPr/>
          </p:nvSpPr>
          <p:spPr>
            <a:xfrm>
              <a:off x="0" y="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FFFFF"/>
                  </a:solidFill>
                  <a:latin typeface="Cambria"/>
                  <a:ea typeface="Cambria"/>
                  <a:cs typeface="Cambria"/>
                  <a:sym typeface="Cambria"/>
                </a:rPr>
                <a:t>Blog Posts - Next Step</a:t>
              </a:r>
              <a:endParaRPr b="1" sz="2400">
                <a:solidFill>
                  <a:srgbClr val="FFFFFF"/>
                </a:solidFill>
                <a:latin typeface="Cambria"/>
                <a:ea typeface="Cambria"/>
                <a:cs typeface="Cambria"/>
                <a:sym typeface="Cambria"/>
              </a:endParaRPr>
            </a:p>
          </p:txBody>
        </p:sp>
      </p:grpSp>
      <p:sp>
        <p:nvSpPr>
          <p:cNvPr id="659" name="Google Shape;659;p49"/>
          <p:cNvSpPr/>
          <p:nvPr/>
        </p:nvSpPr>
        <p:spPr>
          <a:xfrm>
            <a:off x="1544400" y="3566150"/>
            <a:ext cx="60552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lang="en" sz="1600">
                <a:solidFill>
                  <a:schemeClr val="lt2"/>
                </a:solidFill>
              </a:rPr>
              <a:t>Test the Process by getting </a:t>
            </a:r>
            <a:r>
              <a:rPr lang="en" sz="1600">
                <a:solidFill>
                  <a:schemeClr val="lt2"/>
                </a:solidFill>
              </a:rPr>
              <a:t>more</a:t>
            </a:r>
            <a:r>
              <a:rPr lang="en" sz="1600">
                <a:solidFill>
                  <a:schemeClr val="lt2"/>
                </a:solidFill>
              </a:rPr>
              <a:t> people initiated on the pipeline!</a:t>
            </a:r>
            <a:endParaRPr sz="1600">
              <a:solidFill>
                <a:schemeClr val="lt2"/>
              </a:solidFill>
            </a:endParaRPr>
          </a:p>
        </p:txBody>
      </p:sp>
      <p:pic>
        <p:nvPicPr>
          <p:cNvPr descr="Typing on my keyboard after piano practice, feeling like Bruce. (Provided by Tenor)" id="660" name="Google Shape;660;p49"/>
          <p:cNvPicPr preferRelativeResize="0"/>
          <p:nvPr/>
        </p:nvPicPr>
        <p:blipFill>
          <a:blip r:embed="rId4">
            <a:alphaModFix/>
          </a:blip>
          <a:stretch>
            <a:fillRect/>
          </a:stretch>
        </p:blipFill>
        <p:spPr>
          <a:xfrm>
            <a:off x="2687638" y="1304925"/>
            <a:ext cx="3768725" cy="2261235"/>
          </a:xfrm>
          <a:prstGeom prst="rect">
            <a:avLst/>
          </a:prstGeom>
          <a:noFill/>
          <a:ln>
            <a:noFill/>
          </a:ln>
        </p:spPr>
      </p:pic>
      <p:sp>
        <p:nvSpPr>
          <p:cNvPr id="661" name="Google Shape;66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666" name="Shape 666"/>
        <p:cNvGrpSpPr/>
        <p:nvPr/>
      </p:nvGrpSpPr>
      <p:grpSpPr>
        <a:xfrm>
          <a:off x="0" y="0"/>
          <a:ext cx="0" cy="0"/>
          <a:chOff x="0" y="0"/>
          <a:chExt cx="0" cy="0"/>
        </a:xfrm>
      </p:grpSpPr>
      <p:sp>
        <p:nvSpPr>
          <p:cNvPr id="667" name="Google Shape;667;p50"/>
          <p:cNvSpPr/>
          <p:nvPr/>
        </p:nvSpPr>
        <p:spPr>
          <a:xfrm>
            <a:off x="7269480" y="-1234440"/>
            <a:ext cx="3429000" cy="34290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8" name="Google Shape;668;p50"/>
          <p:cNvSpPr/>
          <p:nvPr/>
        </p:nvSpPr>
        <p:spPr>
          <a:xfrm>
            <a:off x="-1028700" y="3566160"/>
            <a:ext cx="2743200" cy="27432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9" name="Google Shape;669;p50"/>
          <p:cNvSpPr/>
          <p:nvPr/>
        </p:nvSpPr>
        <p:spPr>
          <a:xfrm>
            <a:off x="582930" y="1543050"/>
            <a:ext cx="7200900" cy="823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3300"/>
              <a:buFont typeface="Cambria"/>
              <a:buNone/>
            </a:pPr>
            <a:r>
              <a:rPr b="1" lang="en" sz="3300">
                <a:solidFill>
                  <a:srgbClr val="FFFFFF"/>
                </a:solidFill>
                <a:latin typeface="Cambria"/>
                <a:ea typeface="Cambria"/>
                <a:cs typeface="Cambria"/>
                <a:sym typeface="Cambria"/>
              </a:rPr>
              <a:t>Internal Event Promotion</a:t>
            </a:r>
            <a:endParaRPr b="0" i="0" sz="3300" u="none" cap="none" strike="noStrike">
              <a:solidFill>
                <a:schemeClr val="dk1"/>
              </a:solidFill>
              <a:latin typeface="Calibri"/>
              <a:ea typeface="Calibri"/>
              <a:cs typeface="Calibri"/>
              <a:sym typeface="Calibri"/>
            </a:endParaRPr>
          </a:p>
        </p:txBody>
      </p:sp>
      <p:sp>
        <p:nvSpPr>
          <p:cNvPr id="670" name="Google Shape;670;p50"/>
          <p:cNvSpPr/>
          <p:nvPr/>
        </p:nvSpPr>
        <p:spPr>
          <a:xfrm>
            <a:off x="617220" y="2297430"/>
            <a:ext cx="65151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9C9C9"/>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671" name="Google Shape;671;p50"/>
          <p:cNvSpPr/>
          <p:nvPr/>
        </p:nvSpPr>
        <p:spPr>
          <a:xfrm>
            <a:off x="617220" y="4491990"/>
            <a:ext cx="54864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B3A369"/>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672" name="Google Shape;672;p50"/>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6" name="Shape 676"/>
        <p:cNvGrpSpPr/>
        <p:nvPr/>
      </p:nvGrpSpPr>
      <p:grpSpPr>
        <a:xfrm>
          <a:off x="0" y="0"/>
          <a:ext cx="0" cy="0"/>
          <a:chOff x="0" y="0"/>
          <a:chExt cx="0" cy="0"/>
        </a:xfrm>
      </p:grpSpPr>
      <p:sp>
        <p:nvSpPr>
          <p:cNvPr id="677" name="Google Shape;677;p51"/>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8" name="Google Shape;678;p51"/>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51"/>
          <p:cNvSpPr txBox="1"/>
          <p:nvPr/>
        </p:nvSpPr>
        <p:spPr>
          <a:xfrm>
            <a:off x="571500" y="38100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400">
                <a:solidFill>
                  <a:srgbClr val="FFFFFF"/>
                </a:solidFill>
                <a:latin typeface="Cambria"/>
                <a:ea typeface="Cambria"/>
                <a:cs typeface="Cambria"/>
                <a:sym typeface="Cambria"/>
              </a:rPr>
              <a:t>Internal Events Promotion — Lab Meeting Tracker</a:t>
            </a:r>
            <a:endParaRPr b="1" sz="2400">
              <a:solidFill>
                <a:srgbClr val="FFFFFF"/>
              </a:solidFill>
              <a:latin typeface="Cambria"/>
              <a:ea typeface="Cambria"/>
              <a:cs typeface="Cambria"/>
              <a:sym typeface="Cambria"/>
            </a:endParaRPr>
          </a:p>
        </p:txBody>
      </p:sp>
      <p:grpSp>
        <p:nvGrpSpPr>
          <p:cNvPr id="680" name="Google Shape;680;p51"/>
          <p:cNvGrpSpPr/>
          <p:nvPr/>
        </p:nvGrpSpPr>
        <p:grpSpPr>
          <a:xfrm>
            <a:off x="571500" y="1095375"/>
            <a:ext cx="3810000" cy="3476700"/>
            <a:chOff x="0" y="0"/>
            <a:chExt cx="3810000" cy="3476700"/>
          </a:xfrm>
        </p:grpSpPr>
        <p:sp>
          <p:nvSpPr>
            <p:cNvPr id="681" name="Google Shape;681;p51"/>
            <p:cNvSpPr/>
            <p:nvPr/>
          </p:nvSpPr>
          <p:spPr>
            <a:xfrm>
              <a:off x="0" y="0"/>
              <a:ext cx="3810000" cy="3476700"/>
            </a:xfrm>
            <a:prstGeom prst="roundRect">
              <a:avLst>
                <a:gd fmla="val 3287" name="adj"/>
              </a:avLst>
            </a:prstGeom>
            <a:solidFill>
              <a:srgbClr val="0A3D6B">
                <a:alpha val="40000"/>
              </a:srgbClr>
            </a:solidFill>
            <a:ln cap="flat" cmpd="sng" w="19050">
              <a:solidFill>
                <a:srgbClr val="0A3D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2" name="Google Shape;682;p51"/>
            <p:cNvSpPr txBox="1"/>
            <p:nvPr/>
          </p:nvSpPr>
          <p:spPr>
            <a:xfrm>
              <a:off x="190500" y="142875"/>
              <a:ext cx="3429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rgbClr val="FF6B6B"/>
                  </a:solidFill>
                  <a:latin typeface="Cambria"/>
                  <a:ea typeface="Cambria"/>
                  <a:cs typeface="Cambria"/>
                  <a:sym typeface="Cambria"/>
                </a:rPr>
                <a:t>■</a:t>
              </a:r>
              <a:r>
                <a:rPr b="1" lang="en" sz="1600">
                  <a:solidFill>
                    <a:srgbClr val="EEEEEE"/>
                  </a:solidFill>
                  <a:latin typeface="Cambria"/>
                  <a:ea typeface="Cambria"/>
                  <a:cs typeface="Cambria"/>
                  <a:sym typeface="Cambria"/>
                </a:rPr>
                <a:t>OLD: Table</a:t>
              </a:r>
              <a:endParaRPr b="1" sz="1600">
                <a:solidFill>
                  <a:srgbClr val="EEEEEE"/>
                </a:solidFill>
                <a:latin typeface="Cambria"/>
                <a:ea typeface="Cambria"/>
                <a:cs typeface="Cambria"/>
                <a:sym typeface="Cambria"/>
              </a:endParaRPr>
            </a:p>
          </p:txBody>
        </p:sp>
        <p:sp>
          <p:nvSpPr>
            <p:cNvPr id="683" name="Google Shape;683;p51"/>
            <p:cNvSpPr txBox="1"/>
            <p:nvPr/>
          </p:nvSpPr>
          <p:spPr>
            <a:xfrm>
              <a:off x="190500" y="476250"/>
              <a:ext cx="3429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100">
                <a:solidFill>
                  <a:srgbClr val="CBD5E1"/>
                </a:solidFill>
                <a:latin typeface="Arial"/>
                <a:ea typeface="Arial"/>
                <a:cs typeface="Arial"/>
                <a:sym typeface="Arial"/>
              </a:endParaRPr>
            </a:p>
          </p:txBody>
        </p:sp>
      </p:grpSp>
      <p:grpSp>
        <p:nvGrpSpPr>
          <p:cNvPr id="684" name="Google Shape;684;p51"/>
          <p:cNvGrpSpPr/>
          <p:nvPr/>
        </p:nvGrpSpPr>
        <p:grpSpPr>
          <a:xfrm>
            <a:off x="4762500" y="1095375"/>
            <a:ext cx="3810000" cy="3476700"/>
            <a:chOff x="0" y="0"/>
            <a:chExt cx="3810000" cy="3476700"/>
          </a:xfrm>
        </p:grpSpPr>
        <p:sp>
          <p:nvSpPr>
            <p:cNvPr id="685" name="Google Shape;685;p51"/>
            <p:cNvSpPr/>
            <p:nvPr/>
          </p:nvSpPr>
          <p:spPr>
            <a:xfrm>
              <a:off x="0" y="0"/>
              <a:ext cx="3810000" cy="3476700"/>
            </a:xfrm>
            <a:prstGeom prst="roundRect">
              <a:avLst>
                <a:gd fmla="val 3287" name="adj"/>
              </a:avLst>
            </a:prstGeom>
            <a:solidFill>
              <a:srgbClr val="0A3D6B">
                <a:alpha val="40000"/>
              </a:srgbClr>
            </a:solidFill>
            <a:ln cap="flat" cmpd="sng" w="19050">
              <a:solidFill>
                <a:srgbClr val="0A3D6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6" name="Google Shape;686;p51"/>
            <p:cNvSpPr txBox="1"/>
            <p:nvPr/>
          </p:nvSpPr>
          <p:spPr>
            <a:xfrm>
              <a:off x="190500" y="142875"/>
              <a:ext cx="3429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2000">
                  <a:solidFill>
                    <a:srgbClr val="22C55E"/>
                  </a:solidFill>
                  <a:latin typeface="Cambria"/>
                  <a:ea typeface="Cambria"/>
                  <a:cs typeface="Cambria"/>
                  <a:sym typeface="Cambria"/>
                </a:rPr>
                <a:t>■</a:t>
              </a:r>
              <a:r>
                <a:rPr b="1" lang="en" sz="1600">
                  <a:solidFill>
                    <a:srgbClr val="FFFFFF"/>
                  </a:solidFill>
                  <a:latin typeface="Cambria"/>
                  <a:ea typeface="Cambria"/>
                  <a:cs typeface="Cambria"/>
                  <a:sym typeface="Cambria"/>
                </a:rPr>
                <a:t>NEW: Slack List</a:t>
              </a:r>
              <a:endParaRPr b="1" sz="1600">
                <a:solidFill>
                  <a:srgbClr val="FFFFFF"/>
                </a:solidFill>
                <a:latin typeface="Cambria"/>
                <a:ea typeface="Cambria"/>
                <a:cs typeface="Cambria"/>
                <a:sym typeface="Cambria"/>
              </a:endParaRPr>
            </a:p>
          </p:txBody>
        </p:sp>
        <p:sp>
          <p:nvSpPr>
            <p:cNvPr id="687" name="Google Shape;687;p51"/>
            <p:cNvSpPr txBox="1"/>
            <p:nvPr/>
          </p:nvSpPr>
          <p:spPr>
            <a:xfrm>
              <a:off x="190500" y="476250"/>
              <a:ext cx="3429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100">
                <a:solidFill>
                  <a:srgbClr val="CBD5E1"/>
                </a:solidFill>
                <a:latin typeface="Arial"/>
                <a:ea typeface="Arial"/>
                <a:cs typeface="Arial"/>
                <a:sym typeface="Arial"/>
              </a:endParaRPr>
            </a:p>
          </p:txBody>
        </p:sp>
      </p:grpSp>
      <p:pic>
        <p:nvPicPr>
          <p:cNvPr id="688" name="Google Shape;688;p51"/>
          <p:cNvPicPr preferRelativeResize="0"/>
          <p:nvPr/>
        </p:nvPicPr>
        <p:blipFill>
          <a:blip r:embed="rId4">
            <a:alphaModFix/>
          </a:blip>
          <a:stretch>
            <a:fillRect/>
          </a:stretch>
        </p:blipFill>
        <p:spPr>
          <a:xfrm>
            <a:off x="723351" y="1626325"/>
            <a:ext cx="3570975" cy="2303601"/>
          </a:xfrm>
          <a:prstGeom prst="rect">
            <a:avLst/>
          </a:prstGeom>
          <a:noFill/>
          <a:ln>
            <a:noFill/>
          </a:ln>
        </p:spPr>
      </p:pic>
      <p:pic>
        <p:nvPicPr>
          <p:cNvPr id="689" name="Google Shape;689;p51"/>
          <p:cNvPicPr preferRelativeResize="0"/>
          <p:nvPr/>
        </p:nvPicPr>
        <p:blipFill>
          <a:blip r:embed="rId5">
            <a:alphaModFix/>
          </a:blip>
          <a:stretch>
            <a:fillRect/>
          </a:stretch>
        </p:blipFill>
        <p:spPr>
          <a:xfrm>
            <a:off x="4762499" y="1928975"/>
            <a:ext cx="3810001" cy="1809521"/>
          </a:xfrm>
          <a:prstGeom prst="rect">
            <a:avLst/>
          </a:prstGeom>
          <a:noFill/>
          <a:ln>
            <a:noFill/>
          </a:ln>
        </p:spPr>
      </p:pic>
      <p:sp>
        <p:nvSpPr>
          <p:cNvPr id="690" name="Google Shape;690;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4" name="Shape 694"/>
        <p:cNvGrpSpPr/>
        <p:nvPr/>
      </p:nvGrpSpPr>
      <p:grpSpPr>
        <a:xfrm>
          <a:off x="0" y="0"/>
          <a:ext cx="0" cy="0"/>
          <a:chOff x="0" y="0"/>
          <a:chExt cx="0" cy="0"/>
        </a:xfrm>
      </p:grpSpPr>
      <p:sp>
        <p:nvSpPr>
          <p:cNvPr id="695" name="Google Shape;695;p52"/>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6" name="Google Shape;696;p52"/>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7" name="Google Shape;697;p52"/>
          <p:cNvSpPr txBox="1"/>
          <p:nvPr>
            <p:ph type="title"/>
          </p:nvPr>
        </p:nvSpPr>
        <p:spPr>
          <a:xfrm>
            <a:off x="311700" y="445025"/>
            <a:ext cx="8520600" cy="572700"/>
          </a:xfrm>
          <a:prstGeom prst="rect">
            <a:avLst/>
          </a:prstGeom>
          <a:solidFill>
            <a:srgbClr val="000000">
              <a:alpha val="0"/>
            </a:srgbClr>
          </a:solidFill>
          <a:ln>
            <a:noFill/>
          </a:ln>
        </p:spPr>
        <p:txBody>
          <a:bodyPr anchorCtr="0" anchor="t" bIns="91400" lIns="91400" spcFirstLastPara="1" rIns="91400" wrap="square" tIns="91400">
            <a:normAutofit/>
          </a:bodyPr>
          <a:lstStyle/>
          <a:p>
            <a:pPr indent="0" lvl="0" marL="0" rtl="0" algn="l">
              <a:spcBef>
                <a:spcPts val="0"/>
              </a:spcBef>
              <a:spcAft>
                <a:spcPts val="0"/>
              </a:spcAft>
              <a:buNone/>
            </a:pPr>
            <a:r>
              <a:rPr b="0" lang="en" sz="2380">
                <a:solidFill>
                  <a:srgbClr val="FFFFFF"/>
                </a:solidFill>
                <a:latin typeface="Arial"/>
                <a:ea typeface="Arial"/>
                <a:cs typeface="Arial"/>
                <a:sym typeface="Arial"/>
              </a:rPr>
              <a:t>Internal Events Promotion - Notifications</a:t>
            </a:r>
            <a:endParaRPr b="0" sz="2380">
              <a:solidFill>
                <a:srgbClr val="FFFFFF"/>
              </a:solidFill>
              <a:latin typeface="Arial"/>
              <a:ea typeface="Arial"/>
              <a:cs typeface="Arial"/>
              <a:sym typeface="Arial"/>
            </a:endParaRPr>
          </a:p>
        </p:txBody>
      </p:sp>
      <p:pic>
        <p:nvPicPr>
          <p:cNvPr id="698" name="Google Shape;698;p52"/>
          <p:cNvPicPr preferRelativeResize="0"/>
          <p:nvPr/>
        </p:nvPicPr>
        <p:blipFill rotWithShape="1">
          <a:blip r:embed="rId4">
            <a:alphaModFix/>
          </a:blip>
          <a:srcRect b="0" l="0" r="0" t="0"/>
          <a:stretch/>
        </p:blipFill>
        <p:spPr>
          <a:xfrm>
            <a:off x="113375" y="1580998"/>
            <a:ext cx="4458600" cy="2797500"/>
          </a:xfrm>
          <a:prstGeom prst="rect">
            <a:avLst/>
          </a:prstGeom>
          <a:noFill/>
          <a:ln>
            <a:noFill/>
          </a:ln>
        </p:spPr>
      </p:pic>
      <p:pic>
        <p:nvPicPr>
          <p:cNvPr id="699" name="Google Shape;699;p52"/>
          <p:cNvPicPr preferRelativeResize="0"/>
          <p:nvPr/>
        </p:nvPicPr>
        <p:blipFill rotWithShape="1">
          <a:blip r:embed="rId5">
            <a:alphaModFix/>
          </a:blip>
          <a:srcRect b="0" l="0" r="0" t="0"/>
          <a:stretch/>
        </p:blipFill>
        <p:spPr>
          <a:xfrm>
            <a:off x="4649676" y="1967151"/>
            <a:ext cx="4267200" cy="2025300"/>
          </a:xfrm>
          <a:prstGeom prst="rect">
            <a:avLst/>
          </a:prstGeom>
          <a:noFill/>
          <a:ln>
            <a:noFill/>
          </a:ln>
        </p:spPr>
      </p:pic>
      <p:sp>
        <p:nvSpPr>
          <p:cNvPr id="700" name="Google Shape;70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705" name="Shape 705"/>
        <p:cNvGrpSpPr/>
        <p:nvPr/>
      </p:nvGrpSpPr>
      <p:grpSpPr>
        <a:xfrm>
          <a:off x="0" y="0"/>
          <a:ext cx="0" cy="0"/>
          <a:chOff x="0" y="0"/>
          <a:chExt cx="0" cy="0"/>
        </a:xfrm>
      </p:grpSpPr>
      <p:sp>
        <p:nvSpPr>
          <p:cNvPr id="706" name="Google Shape;706;p53"/>
          <p:cNvSpPr/>
          <p:nvPr/>
        </p:nvSpPr>
        <p:spPr>
          <a:xfrm>
            <a:off x="7269480" y="-1234440"/>
            <a:ext cx="3429000" cy="34290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7" name="Google Shape;707;p53"/>
          <p:cNvSpPr/>
          <p:nvPr/>
        </p:nvSpPr>
        <p:spPr>
          <a:xfrm>
            <a:off x="-1028700" y="3566160"/>
            <a:ext cx="2743200" cy="27432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8" name="Google Shape;708;p53"/>
          <p:cNvSpPr/>
          <p:nvPr/>
        </p:nvSpPr>
        <p:spPr>
          <a:xfrm>
            <a:off x="582930" y="1543050"/>
            <a:ext cx="7200900" cy="823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3300"/>
              <a:buFont typeface="Cambria"/>
              <a:buNone/>
            </a:pPr>
            <a:r>
              <a:rPr b="1" lang="en" sz="3300">
                <a:solidFill>
                  <a:srgbClr val="FFFFFF"/>
                </a:solidFill>
                <a:latin typeface="Cambria"/>
                <a:ea typeface="Cambria"/>
                <a:cs typeface="Cambria"/>
                <a:sym typeface="Cambria"/>
              </a:rPr>
              <a:t>External Event Promotion</a:t>
            </a:r>
            <a:endParaRPr b="0" i="0" sz="3300" u="none" cap="none" strike="noStrike">
              <a:solidFill>
                <a:schemeClr val="dk1"/>
              </a:solidFill>
              <a:latin typeface="Calibri"/>
              <a:ea typeface="Calibri"/>
              <a:cs typeface="Calibri"/>
              <a:sym typeface="Calibri"/>
            </a:endParaRPr>
          </a:p>
        </p:txBody>
      </p:sp>
      <p:sp>
        <p:nvSpPr>
          <p:cNvPr id="709" name="Google Shape;709;p53"/>
          <p:cNvSpPr/>
          <p:nvPr/>
        </p:nvSpPr>
        <p:spPr>
          <a:xfrm>
            <a:off x="617220" y="2297430"/>
            <a:ext cx="65151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9C9C9"/>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10" name="Google Shape;710;p53"/>
          <p:cNvSpPr/>
          <p:nvPr/>
        </p:nvSpPr>
        <p:spPr>
          <a:xfrm>
            <a:off x="617220" y="4491990"/>
            <a:ext cx="54864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B3A369"/>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711" name="Google Shape;711;p5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5" name="Shape 715"/>
        <p:cNvGrpSpPr/>
        <p:nvPr/>
      </p:nvGrpSpPr>
      <p:grpSpPr>
        <a:xfrm>
          <a:off x="0" y="0"/>
          <a:ext cx="0" cy="0"/>
          <a:chOff x="0" y="0"/>
          <a:chExt cx="0" cy="0"/>
        </a:xfrm>
      </p:grpSpPr>
      <p:sp>
        <p:nvSpPr>
          <p:cNvPr id="716" name="Google Shape;716;p54"/>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7" name="Google Shape;717;p54"/>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8" name="Google Shape;718;p54"/>
          <p:cNvSpPr txBox="1"/>
          <p:nvPr>
            <p:ph type="title"/>
          </p:nvPr>
        </p:nvSpPr>
        <p:spPr>
          <a:xfrm>
            <a:off x="311700" y="445025"/>
            <a:ext cx="8520600" cy="572700"/>
          </a:xfrm>
          <a:prstGeom prst="rect">
            <a:avLst/>
          </a:prstGeom>
          <a:solidFill>
            <a:srgbClr val="000000">
              <a:alpha val="0"/>
            </a:srgbClr>
          </a:solidFill>
          <a:ln>
            <a:noFill/>
          </a:ln>
        </p:spPr>
        <p:txBody>
          <a:bodyPr anchorCtr="0" anchor="t" bIns="91400" lIns="91400" spcFirstLastPara="1" rIns="91400" wrap="square" tIns="91400">
            <a:normAutofit/>
          </a:bodyPr>
          <a:lstStyle/>
          <a:p>
            <a:pPr indent="0" lvl="0" marL="0" rtl="0" algn="l">
              <a:spcBef>
                <a:spcPts val="0"/>
              </a:spcBef>
              <a:spcAft>
                <a:spcPts val="0"/>
              </a:spcAft>
              <a:buNone/>
            </a:pPr>
            <a:r>
              <a:rPr b="0" lang="en" sz="2380">
                <a:solidFill>
                  <a:srgbClr val="FFFFFF"/>
                </a:solidFill>
                <a:latin typeface="Arial"/>
                <a:ea typeface="Arial"/>
                <a:cs typeface="Arial"/>
                <a:sym typeface="Arial"/>
              </a:rPr>
              <a:t>External Event Promotion - Tracking</a:t>
            </a:r>
            <a:endParaRPr b="0" sz="2380">
              <a:solidFill>
                <a:srgbClr val="FFFFFF"/>
              </a:solidFill>
              <a:latin typeface="Arial"/>
              <a:ea typeface="Arial"/>
              <a:cs typeface="Arial"/>
              <a:sym typeface="Arial"/>
            </a:endParaRPr>
          </a:p>
        </p:txBody>
      </p:sp>
      <p:pic>
        <p:nvPicPr>
          <p:cNvPr id="719" name="Google Shape;719;p54"/>
          <p:cNvPicPr preferRelativeResize="0"/>
          <p:nvPr/>
        </p:nvPicPr>
        <p:blipFill rotWithShape="1">
          <a:blip r:embed="rId4">
            <a:alphaModFix/>
          </a:blip>
          <a:srcRect b="0" l="0" r="0" t="0"/>
          <a:stretch/>
        </p:blipFill>
        <p:spPr>
          <a:xfrm>
            <a:off x="358312" y="1519504"/>
            <a:ext cx="8427300" cy="1687200"/>
          </a:xfrm>
          <a:prstGeom prst="rect">
            <a:avLst/>
          </a:prstGeom>
          <a:noFill/>
          <a:ln>
            <a:noFill/>
          </a:ln>
        </p:spPr>
      </p:pic>
      <p:sp>
        <p:nvSpPr>
          <p:cNvPr id="720" name="Google Shape;720;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4" name="Shape 724"/>
        <p:cNvGrpSpPr/>
        <p:nvPr/>
      </p:nvGrpSpPr>
      <p:grpSpPr>
        <a:xfrm>
          <a:off x="0" y="0"/>
          <a:ext cx="0" cy="0"/>
          <a:chOff x="0" y="0"/>
          <a:chExt cx="0" cy="0"/>
        </a:xfrm>
      </p:grpSpPr>
      <p:sp>
        <p:nvSpPr>
          <p:cNvPr id="725" name="Google Shape;725;p55"/>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6" name="Google Shape;726;p55"/>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55"/>
          <p:cNvSpPr txBox="1"/>
          <p:nvPr>
            <p:ph type="title"/>
          </p:nvPr>
        </p:nvSpPr>
        <p:spPr>
          <a:xfrm>
            <a:off x="311700" y="445025"/>
            <a:ext cx="8520600" cy="572700"/>
          </a:xfrm>
          <a:prstGeom prst="rect">
            <a:avLst/>
          </a:prstGeom>
          <a:solidFill>
            <a:srgbClr val="000000">
              <a:alpha val="0"/>
            </a:srgbClr>
          </a:solidFill>
          <a:ln>
            <a:noFill/>
          </a:ln>
        </p:spPr>
        <p:txBody>
          <a:bodyPr anchorCtr="0" anchor="t" bIns="91400" lIns="91400" spcFirstLastPara="1" rIns="91400" wrap="square" tIns="91400">
            <a:normAutofit/>
          </a:bodyPr>
          <a:lstStyle/>
          <a:p>
            <a:pPr indent="0" lvl="0" marL="0" rtl="0" algn="l">
              <a:spcBef>
                <a:spcPts val="0"/>
              </a:spcBef>
              <a:spcAft>
                <a:spcPts val="0"/>
              </a:spcAft>
              <a:buNone/>
            </a:pPr>
            <a:r>
              <a:rPr b="0" lang="en" sz="2380">
                <a:solidFill>
                  <a:srgbClr val="FFFFFF"/>
                </a:solidFill>
                <a:latin typeface="Arial"/>
                <a:ea typeface="Arial"/>
                <a:cs typeface="Arial"/>
                <a:sym typeface="Arial"/>
              </a:rPr>
              <a:t>External Event Promotion - </a:t>
            </a:r>
            <a:r>
              <a:rPr lang="en" sz="2380">
                <a:solidFill>
                  <a:srgbClr val="FFFFFF"/>
                </a:solidFill>
              </a:rPr>
              <a:t>Procedure</a:t>
            </a:r>
            <a:endParaRPr b="0" sz="2380">
              <a:solidFill>
                <a:srgbClr val="FFFFFF"/>
              </a:solidFill>
              <a:latin typeface="Arial"/>
              <a:ea typeface="Arial"/>
              <a:cs typeface="Arial"/>
              <a:sym typeface="Arial"/>
            </a:endParaRPr>
          </a:p>
        </p:txBody>
      </p:sp>
      <p:grpSp>
        <p:nvGrpSpPr>
          <p:cNvPr id="728" name="Google Shape;728;p55"/>
          <p:cNvGrpSpPr/>
          <p:nvPr/>
        </p:nvGrpSpPr>
        <p:grpSpPr>
          <a:xfrm>
            <a:off x="476250" y="1238250"/>
            <a:ext cx="8143800" cy="3428850"/>
            <a:chOff x="476250" y="1238250"/>
            <a:chExt cx="8143800" cy="3428850"/>
          </a:xfrm>
        </p:grpSpPr>
        <p:sp>
          <p:nvSpPr>
            <p:cNvPr id="729" name="Google Shape;729;p55"/>
            <p:cNvSpPr/>
            <p:nvPr/>
          </p:nvSpPr>
          <p:spPr>
            <a:xfrm>
              <a:off x="476250" y="1238250"/>
              <a:ext cx="1857300" cy="1619100"/>
            </a:xfrm>
            <a:prstGeom prst="roundRect">
              <a:avLst>
                <a:gd fmla="val 4705"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0" name="Google Shape;730;p55"/>
            <p:cNvSpPr txBox="1"/>
            <p:nvPr/>
          </p:nvSpPr>
          <p:spPr>
            <a:xfrm>
              <a:off x="476250" y="1238250"/>
              <a:ext cx="1857300" cy="16191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01</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Identify &amp; Track</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Log event details (Topic, Date, Presenters) in the Slack External Events Tracker.</a:t>
              </a:r>
              <a:endParaRPr b="0" sz="950">
                <a:solidFill>
                  <a:srgbClr val="CBD5E1"/>
                </a:solidFill>
                <a:latin typeface="Arial"/>
                <a:ea typeface="Arial"/>
                <a:cs typeface="Arial"/>
                <a:sym typeface="Arial"/>
              </a:endParaRPr>
            </a:p>
          </p:txBody>
        </p:sp>
        <p:sp>
          <p:nvSpPr>
            <p:cNvPr id="731" name="Google Shape;731;p55"/>
            <p:cNvSpPr/>
            <p:nvPr/>
          </p:nvSpPr>
          <p:spPr>
            <a:xfrm>
              <a:off x="2571750" y="1238250"/>
              <a:ext cx="1857300" cy="1619100"/>
            </a:xfrm>
            <a:prstGeom prst="roundRect">
              <a:avLst>
                <a:gd fmla="val 4705"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2" name="Google Shape;732;p55"/>
            <p:cNvSpPr txBox="1"/>
            <p:nvPr/>
          </p:nvSpPr>
          <p:spPr>
            <a:xfrm>
              <a:off x="2571750" y="1238250"/>
              <a:ext cx="1857300" cy="16191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02</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Gather Details</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Request a high-quality visual or headshot from presenter via Slack/email.</a:t>
              </a:r>
              <a:endParaRPr b="0" sz="950">
                <a:solidFill>
                  <a:srgbClr val="CBD5E1"/>
                </a:solidFill>
                <a:latin typeface="Arial"/>
                <a:ea typeface="Arial"/>
                <a:cs typeface="Arial"/>
                <a:sym typeface="Arial"/>
              </a:endParaRPr>
            </a:p>
          </p:txBody>
        </p:sp>
        <p:sp>
          <p:nvSpPr>
            <p:cNvPr id="733" name="Google Shape;733;p55"/>
            <p:cNvSpPr/>
            <p:nvPr/>
          </p:nvSpPr>
          <p:spPr>
            <a:xfrm>
              <a:off x="4667250" y="1238250"/>
              <a:ext cx="1857300" cy="1619100"/>
            </a:xfrm>
            <a:prstGeom prst="roundRect">
              <a:avLst>
                <a:gd fmla="val 4705"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4" name="Google Shape;734;p55"/>
            <p:cNvSpPr txBox="1"/>
            <p:nvPr/>
          </p:nvSpPr>
          <p:spPr>
            <a:xfrm>
              <a:off x="4667250" y="1238250"/>
              <a:ext cx="1857300" cy="16191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03</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Draft Post</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Write attention-grabbing hook, body, tags, and call-to-action utilizing tracker info.</a:t>
              </a:r>
              <a:endParaRPr b="0" sz="950">
                <a:solidFill>
                  <a:srgbClr val="CBD5E1"/>
                </a:solidFill>
                <a:latin typeface="Arial"/>
                <a:ea typeface="Arial"/>
                <a:cs typeface="Arial"/>
                <a:sym typeface="Arial"/>
              </a:endParaRPr>
            </a:p>
          </p:txBody>
        </p:sp>
        <p:sp>
          <p:nvSpPr>
            <p:cNvPr id="735" name="Google Shape;735;p55"/>
            <p:cNvSpPr/>
            <p:nvPr/>
          </p:nvSpPr>
          <p:spPr>
            <a:xfrm>
              <a:off x="6762750" y="1238250"/>
              <a:ext cx="1857300" cy="1619100"/>
            </a:xfrm>
            <a:prstGeom prst="roundRect">
              <a:avLst>
                <a:gd fmla="val 4705"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6" name="Google Shape;736;p55"/>
            <p:cNvSpPr txBox="1"/>
            <p:nvPr/>
          </p:nvSpPr>
          <p:spPr>
            <a:xfrm>
              <a:off x="6762750" y="1238250"/>
              <a:ext cx="1857300" cy="16191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04</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Review &amp; Publish</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Verify facts with presenter, post in #post-feedback, get approval, then publish live.</a:t>
              </a:r>
              <a:endParaRPr b="0" sz="950">
                <a:solidFill>
                  <a:srgbClr val="CBD5E1"/>
                </a:solidFill>
                <a:latin typeface="Arial"/>
                <a:ea typeface="Arial"/>
                <a:cs typeface="Arial"/>
                <a:sym typeface="Arial"/>
              </a:endParaRPr>
            </a:p>
          </p:txBody>
        </p:sp>
        <p:sp>
          <p:nvSpPr>
            <p:cNvPr id="737" name="Google Shape;737;p55"/>
            <p:cNvSpPr/>
            <p:nvPr/>
          </p:nvSpPr>
          <p:spPr>
            <a:xfrm>
              <a:off x="1524000" y="3048000"/>
              <a:ext cx="1857300" cy="1619100"/>
            </a:xfrm>
            <a:prstGeom prst="roundRect">
              <a:avLst>
                <a:gd fmla="val 4705"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8" name="Google Shape;738;p55"/>
            <p:cNvSpPr txBox="1"/>
            <p:nvPr/>
          </p:nvSpPr>
          <p:spPr>
            <a:xfrm>
              <a:off x="1524000" y="3048000"/>
              <a:ext cx="1857300" cy="16191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05</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Promote Internally</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Share live link on internal Slack channels and encourage team engagement.</a:t>
              </a:r>
              <a:endParaRPr b="0" sz="950">
                <a:solidFill>
                  <a:srgbClr val="CBD5E1"/>
                </a:solidFill>
                <a:latin typeface="Arial"/>
                <a:ea typeface="Arial"/>
                <a:cs typeface="Arial"/>
                <a:sym typeface="Arial"/>
              </a:endParaRPr>
            </a:p>
          </p:txBody>
        </p:sp>
        <p:sp>
          <p:nvSpPr>
            <p:cNvPr id="739" name="Google Shape;739;p55"/>
            <p:cNvSpPr/>
            <p:nvPr/>
          </p:nvSpPr>
          <p:spPr>
            <a:xfrm>
              <a:off x="3619500" y="3048000"/>
              <a:ext cx="1857300" cy="1619100"/>
            </a:xfrm>
            <a:prstGeom prst="roundRect">
              <a:avLst>
                <a:gd fmla="val 4705"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0" name="Google Shape;740;p55"/>
            <p:cNvSpPr txBox="1"/>
            <p:nvPr/>
          </p:nvSpPr>
          <p:spPr>
            <a:xfrm>
              <a:off x="3619500" y="3048000"/>
              <a:ext cx="1857300" cy="16191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06</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Post-Event Follow-up</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Draft and share a celebratory follow-up post highlighting key accomplishments.</a:t>
              </a:r>
              <a:endParaRPr b="0" sz="950">
                <a:solidFill>
                  <a:srgbClr val="CBD5E1"/>
                </a:solidFill>
                <a:latin typeface="Arial"/>
                <a:ea typeface="Arial"/>
                <a:cs typeface="Arial"/>
                <a:sym typeface="Arial"/>
              </a:endParaRPr>
            </a:p>
          </p:txBody>
        </p:sp>
        <p:sp>
          <p:nvSpPr>
            <p:cNvPr id="741" name="Google Shape;741;p55"/>
            <p:cNvSpPr/>
            <p:nvPr/>
          </p:nvSpPr>
          <p:spPr>
            <a:xfrm>
              <a:off x="5715000" y="3048000"/>
              <a:ext cx="1857300" cy="1619100"/>
            </a:xfrm>
            <a:prstGeom prst="roundRect">
              <a:avLst>
                <a:gd fmla="val 4705"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2" name="Google Shape;742;p55"/>
            <p:cNvSpPr txBox="1"/>
            <p:nvPr/>
          </p:nvSpPr>
          <p:spPr>
            <a:xfrm>
              <a:off x="5715000" y="3048000"/>
              <a:ext cx="1857300" cy="1619100"/>
            </a:xfrm>
            <a:prstGeom prst="rect">
              <a:avLst/>
            </a:prstGeom>
            <a:no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07</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Complete Tracker</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Mark the event as completed in the tracking list for record keeping.</a:t>
              </a:r>
              <a:endParaRPr b="0" sz="950">
                <a:solidFill>
                  <a:srgbClr val="CBD5E1"/>
                </a:solidFill>
                <a:latin typeface="Arial"/>
                <a:ea typeface="Arial"/>
                <a:cs typeface="Arial"/>
                <a:sym typeface="Arial"/>
              </a:endParaRPr>
            </a:p>
          </p:txBody>
        </p:sp>
        <p:sp>
          <p:nvSpPr>
            <p:cNvPr id="743" name="Google Shape;743;p55"/>
            <p:cNvSpPr/>
            <p:nvPr/>
          </p:nvSpPr>
          <p:spPr>
            <a:xfrm>
              <a:off x="2381250" y="200025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4" name="Google Shape;744;p55"/>
            <p:cNvSpPr/>
            <p:nvPr/>
          </p:nvSpPr>
          <p:spPr>
            <a:xfrm>
              <a:off x="4476750" y="200025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55"/>
            <p:cNvSpPr/>
            <p:nvPr/>
          </p:nvSpPr>
          <p:spPr>
            <a:xfrm>
              <a:off x="6572250" y="200025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6" name="Google Shape;746;p55"/>
            <p:cNvSpPr/>
            <p:nvPr/>
          </p:nvSpPr>
          <p:spPr>
            <a:xfrm>
              <a:off x="3429000" y="381000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7" name="Google Shape;747;p55"/>
            <p:cNvSpPr/>
            <p:nvPr/>
          </p:nvSpPr>
          <p:spPr>
            <a:xfrm>
              <a:off x="5524500" y="3810000"/>
              <a:ext cx="142800" cy="954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flat"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48" name="Google Shape;74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2" name="Shape 752"/>
        <p:cNvGrpSpPr/>
        <p:nvPr/>
      </p:nvGrpSpPr>
      <p:grpSpPr>
        <a:xfrm>
          <a:off x="0" y="0"/>
          <a:ext cx="0" cy="0"/>
          <a:chOff x="0" y="0"/>
          <a:chExt cx="0" cy="0"/>
        </a:xfrm>
      </p:grpSpPr>
      <p:sp>
        <p:nvSpPr>
          <p:cNvPr id="753" name="Google Shape;753;p56"/>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4" name="Google Shape;754;p56"/>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5" name="Google Shape;755;p56"/>
          <p:cNvSpPr txBox="1"/>
          <p:nvPr>
            <p:ph type="title"/>
          </p:nvPr>
        </p:nvSpPr>
        <p:spPr>
          <a:xfrm>
            <a:off x="311700" y="445025"/>
            <a:ext cx="8520600" cy="572700"/>
          </a:xfrm>
          <a:prstGeom prst="rect">
            <a:avLst/>
          </a:prstGeom>
          <a:solidFill>
            <a:srgbClr val="000000">
              <a:alpha val="0"/>
            </a:srgbClr>
          </a:solidFill>
          <a:ln>
            <a:noFill/>
          </a:ln>
        </p:spPr>
        <p:txBody>
          <a:bodyPr anchorCtr="0" anchor="t" bIns="91400" lIns="91400" spcFirstLastPara="1" rIns="91400" wrap="square" tIns="91400">
            <a:normAutofit/>
          </a:bodyPr>
          <a:lstStyle/>
          <a:p>
            <a:pPr indent="0" lvl="0" marL="0" rtl="0" algn="l">
              <a:spcBef>
                <a:spcPts val="0"/>
              </a:spcBef>
              <a:spcAft>
                <a:spcPts val="0"/>
              </a:spcAft>
              <a:buNone/>
            </a:pPr>
            <a:r>
              <a:rPr b="0" lang="en" sz="2380">
                <a:solidFill>
                  <a:srgbClr val="FFFFFF"/>
                </a:solidFill>
                <a:latin typeface="Arial"/>
                <a:ea typeface="Arial"/>
                <a:cs typeface="Arial"/>
                <a:sym typeface="Arial"/>
              </a:rPr>
              <a:t>External Event Promotion - #</a:t>
            </a:r>
            <a:r>
              <a:rPr lang="en" sz="2380">
                <a:solidFill>
                  <a:srgbClr val="FFFFFF"/>
                </a:solidFill>
              </a:rPr>
              <a:t>Post-Feedback Process</a:t>
            </a:r>
            <a:endParaRPr b="0" sz="2380">
              <a:solidFill>
                <a:srgbClr val="FFFFFF"/>
              </a:solidFill>
              <a:latin typeface="Arial"/>
              <a:ea typeface="Arial"/>
              <a:cs typeface="Arial"/>
              <a:sym typeface="Arial"/>
            </a:endParaRPr>
          </a:p>
        </p:txBody>
      </p:sp>
      <p:grpSp>
        <p:nvGrpSpPr>
          <p:cNvPr id="756" name="Google Shape;756;p56"/>
          <p:cNvGrpSpPr/>
          <p:nvPr/>
        </p:nvGrpSpPr>
        <p:grpSpPr>
          <a:xfrm>
            <a:off x="381000" y="1428750"/>
            <a:ext cx="8382000" cy="2762400"/>
            <a:chOff x="381000" y="1428750"/>
            <a:chExt cx="8382000" cy="2762400"/>
          </a:xfrm>
        </p:grpSpPr>
        <p:sp>
          <p:nvSpPr>
            <p:cNvPr id="757" name="Google Shape;757;p56"/>
            <p:cNvSpPr/>
            <p:nvPr/>
          </p:nvSpPr>
          <p:spPr>
            <a:xfrm>
              <a:off x="381000" y="1428750"/>
              <a:ext cx="1524000" cy="2762400"/>
            </a:xfrm>
            <a:prstGeom prst="roundRect">
              <a:avLst>
                <a:gd fmla="val 5000"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8" name="Google Shape;758;p56"/>
            <p:cNvSpPr txBox="1"/>
            <p:nvPr/>
          </p:nvSpPr>
          <p:spPr>
            <a:xfrm>
              <a:off x="381000" y="1428750"/>
              <a:ext cx="1524000" cy="2762400"/>
            </a:xfrm>
            <a:prstGeom prst="rect">
              <a:avLst/>
            </a:prstGeom>
            <a:solidFill>
              <a:srgbClr val="000000">
                <a:alpha val="0"/>
              </a:srgbClr>
            </a:solid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01</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Presenter Verification</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Verify draft text, technical details, and visuals with presenters for accuracy.</a:t>
              </a:r>
              <a:endParaRPr b="0" sz="950">
                <a:solidFill>
                  <a:srgbClr val="CBD5E1"/>
                </a:solidFill>
                <a:latin typeface="Arial"/>
                <a:ea typeface="Arial"/>
                <a:cs typeface="Arial"/>
                <a:sym typeface="Arial"/>
              </a:endParaRPr>
            </a:p>
          </p:txBody>
        </p:sp>
        <p:sp>
          <p:nvSpPr>
            <p:cNvPr id="759" name="Google Shape;759;p56"/>
            <p:cNvSpPr/>
            <p:nvPr/>
          </p:nvSpPr>
          <p:spPr>
            <a:xfrm>
              <a:off x="2095500" y="1428750"/>
              <a:ext cx="1524000" cy="2762400"/>
            </a:xfrm>
            <a:prstGeom prst="roundRect">
              <a:avLst>
                <a:gd fmla="val 5000"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0" name="Google Shape;760;p56"/>
            <p:cNvSpPr txBox="1"/>
            <p:nvPr/>
          </p:nvSpPr>
          <p:spPr>
            <a:xfrm>
              <a:off x="2095500" y="1428750"/>
              <a:ext cx="1524000" cy="2762400"/>
            </a:xfrm>
            <a:prstGeom prst="rect">
              <a:avLst/>
            </a:prstGeom>
            <a:solidFill>
              <a:srgbClr val="000000">
                <a:alpha val="0"/>
              </a:srgbClr>
            </a:solid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02</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Presenter Onboarding</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Bring presenters into the private #post-feedback Slack channel.</a:t>
              </a:r>
              <a:endParaRPr b="0" sz="950">
                <a:solidFill>
                  <a:srgbClr val="CBD5E1"/>
                </a:solidFill>
                <a:latin typeface="Arial"/>
                <a:ea typeface="Arial"/>
                <a:cs typeface="Arial"/>
                <a:sym typeface="Arial"/>
              </a:endParaRPr>
            </a:p>
          </p:txBody>
        </p:sp>
        <p:sp>
          <p:nvSpPr>
            <p:cNvPr id="761" name="Google Shape;761;p56"/>
            <p:cNvSpPr/>
            <p:nvPr/>
          </p:nvSpPr>
          <p:spPr>
            <a:xfrm>
              <a:off x="3810000" y="1428750"/>
              <a:ext cx="1524000" cy="2762400"/>
            </a:xfrm>
            <a:prstGeom prst="roundRect">
              <a:avLst>
                <a:gd fmla="val 5000"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2" name="Google Shape;762;p56"/>
            <p:cNvSpPr txBox="1"/>
            <p:nvPr/>
          </p:nvSpPr>
          <p:spPr>
            <a:xfrm>
              <a:off x="3810000" y="1428750"/>
              <a:ext cx="1524000" cy="2762400"/>
            </a:xfrm>
            <a:prstGeom prst="rect">
              <a:avLst/>
            </a:prstGeom>
            <a:solidFill>
              <a:srgbClr val="000000">
                <a:alpha val="0"/>
              </a:srgbClr>
            </a:solid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03</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Alert Admins</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Post the draft in #post-feedback and direct reviews to the Slack thread.</a:t>
              </a:r>
              <a:endParaRPr b="0" sz="950">
                <a:solidFill>
                  <a:srgbClr val="CBD5E1"/>
                </a:solidFill>
                <a:latin typeface="Arial"/>
                <a:ea typeface="Arial"/>
                <a:cs typeface="Arial"/>
                <a:sym typeface="Arial"/>
              </a:endParaRPr>
            </a:p>
          </p:txBody>
        </p:sp>
        <p:sp>
          <p:nvSpPr>
            <p:cNvPr id="763" name="Google Shape;763;p56"/>
            <p:cNvSpPr/>
            <p:nvPr/>
          </p:nvSpPr>
          <p:spPr>
            <a:xfrm>
              <a:off x="5524500" y="1428750"/>
              <a:ext cx="1524000" cy="2762400"/>
            </a:xfrm>
            <a:prstGeom prst="roundRect">
              <a:avLst>
                <a:gd fmla="val 5000"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4" name="Google Shape;764;p56"/>
            <p:cNvSpPr txBox="1"/>
            <p:nvPr/>
          </p:nvSpPr>
          <p:spPr>
            <a:xfrm>
              <a:off x="5524500" y="1428750"/>
              <a:ext cx="1524000" cy="2762400"/>
            </a:xfrm>
            <a:prstGeom prst="rect">
              <a:avLst/>
            </a:prstGeom>
            <a:solidFill>
              <a:srgbClr val="000000">
                <a:alpha val="0"/>
              </a:srgbClr>
            </a:solid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04</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Revisions &amp; Feedback</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Allow a 48-hour feedback window. Upload draft updates directly to the thread.</a:t>
              </a:r>
              <a:endParaRPr b="0" sz="950">
                <a:solidFill>
                  <a:srgbClr val="CBD5E1"/>
                </a:solidFill>
                <a:latin typeface="Arial"/>
                <a:ea typeface="Arial"/>
                <a:cs typeface="Arial"/>
                <a:sym typeface="Arial"/>
              </a:endParaRPr>
            </a:p>
          </p:txBody>
        </p:sp>
        <p:sp>
          <p:nvSpPr>
            <p:cNvPr id="765" name="Google Shape;765;p56"/>
            <p:cNvSpPr/>
            <p:nvPr/>
          </p:nvSpPr>
          <p:spPr>
            <a:xfrm>
              <a:off x="7239000" y="1428750"/>
              <a:ext cx="1524000" cy="2762400"/>
            </a:xfrm>
            <a:prstGeom prst="roundRect">
              <a:avLst>
                <a:gd fmla="val 5000" name="adj"/>
              </a:avLst>
            </a:prstGeom>
            <a:solidFill>
              <a:srgbClr val="0A3D6B"/>
            </a:solidFill>
            <a:ln cap="flat" cmpd="sng" w="1430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6" name="Google Shape;766;p56"/>
            <p:cNvSpPr txBox="1"/>
            <p:nvPr/>
          </p:nvSpPr>
          <p:spPr>
            <a:xfrm>
              <a:off x="7239000" y="1428750"/>
              <a:ext cx="1524000" cy="2762400"/>
            </a:xfrm>
            <a:prstGeom prst="rect">
              <a:avLst/>
            </a:prstGeom>
            <a:solidFill>
              <a:srgbClr val="000000">
                <a:alpha val="0"/>
              </a:srgbClr>
            </a:solidFill>
            <a:ln>
              <a:noFill/>
            </a:ln>
          </p:spPr>
          <p:txBody>
            <a:bodyPr anchorCtr="0" anchor="t" bIns="114300" lIns="114300" spcFirstLastPara="1" rIns="114300" wrap="square" tIns="114300">
              <a:noAutofit/>
            </a:bodyPr>
            <a:lstStyle/>
            <a:p>
              <a:pPr indent="0" lvl="0" marL="0" rtl="0" algn="l">
                <a:spcBef>
                  <a:spcPts val="0"/>
                </a:spcBef>
                <a:spcAft>
                  <a:spcPts val="0"/>
                </a:spcAft>
                <a:buNone/>
              </a:pPr>
              <a:r>
                <a:rPr b="1" lang="en" sz="1600">
                  <a:solidFill>
                    <a:srgbClr val="00E5FF"/>
                  </a:solidFill>
                  <a:latin typeface="Arial"/>
                  <a:ea typeface="Arial"/>
                  <a:cs typeface="Arial"/>
                  <a:sym typeface="Arial"/>
                </a:rPr>
                <a:t>05</a:t>
              </a:r>
              <a:endParaRPr b="1" sz="1600">
                <a:solidFill>
                  <a:srgbClr val="00E5FF"/>
                </a:solidFill>
                <a:latin typeface="Arial"/>
                <a:ea typeface="Arial"/>
                <a:cs typeface="Arial"/>
                <a:sym typeface="Arial"/>
              </a:endParaRPr>
            </a:p>
            <a:p>
              <a:pPr indent="0" lvl="0" marL="0" rtl="0" algn="l">
                <a:spcBef>
                  <a:spcPts val="450"/>
                </a:spcBef>
                <a:spcAft>
                  <a:spcPts val="0"/>
                </a:spcAft>
                <a:buNone/>
              </a:pPr>
              <a:r>
                <a:rPr b="1" lang="en" sz="1100">
                  <a:solidFill>
                    <a:srgbClr val="FFFFFF"/>
                  </a:solidFill>
                  <a:latin typeface="Arial"/>
                  <a:ea typeface="Arial"/>
                  <a:cs typeface="Arial"/>
                  <a:sym typeface="Arial"/>
                </a:rPr>
                <a:t>Final Review &amp; Approval</a:t>
              </a:r>
              <a:endParaRPr b="1" sz="1100">
                <a:solidFill>
                  <a:srgbClr val="FFFFFF"/>
                </a:solidFill>
                <a:latin typeface="Arial"/>
                <a:ea typeface="Arial"/>
                <a:cs typeface="Arial"/>
                <a:sym typeface="Arial"/>
              </a:endParaRPr>
            </a:p>
            <a:p>
              <a:pPr indent="0" lvl="0" marL="0" rtl="0" algn="l">
                <a:spcBef>
                  <a:spcPts val="450"/>
                </a:spcBef>
                <a:spcAft>
                  <a:spcPts val="0"/>
                </a:spcAft>
                <a:buNone/>
              </a:pPr>
              <a:r>
                <a:rPr b="0" lang="en" sz="950">
                  <a:solidFill>
                    <a:srgbClr val="CBD5E1"/>
                  </a:solidFill>
                  <a:latin typeface="Arial"/>
                  <a:ea typeface="Arial"/>
                  <a:cs typeface="Arial"/>
                  <a:sym typeface="Arial"/>
                </a:rPr>
                <a:t>Incorporate feedback. Obtain final approval from Bree or faculty before going live.</a:t>
              </a:r>
              <a:endParaRPr b="0" sz="950">
                <a:solidFill>
                  <a:srgbClr val="CBD5E1"/>
                </a:solidFill>
                <a:latin typeface="Arial"/>
                <a:ea typeface="Arial"/>
                <a:cs typeface="Arial"/>
                <a:sym typeface="Arial"/>
              </a:endParaRPr>
            </a:p>
          </p:txBody>
        </p:sp>
        <p:sp>
          <p:nvSpPr>
            <p:cNvPr id="767" name="Google Shape;767;p56"/>
            <p:cNvSpPr/>
            <p:nvPr/>
          </p:nvSpPr>
          <p:spPr>
            <a:xfrm>
              <a:off x="1943100" y="2724150"/>
              <a:ext cx="114300" cy="762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rnd"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8" name="Google Shape;768;p56"/>
            <p:cNvSpPr/>
            <p:nvPr/>
          </p:nvSpPr>
          <p:spPr>
            <a:xfrm>
              <a:off x="3657600" y="2724150"/>
              <a:ext cx="114300" cy="762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rnd"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9" name="Google Shape;769;p56"/>
            <p:cNvSpPr/>
            <p:nvPr/>
          </p:nvSpPr>
          <p:spPr>
            <a:xfrm>
              <a:off x="5372100" y="2724150"/>
              <a:ext cx="114300" cy="762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rnd"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0" name="Google Shape;770;p56"/>
            <p:cNvSpPr/>
            <p:nvPr/>
          </p:nvSpPr>
          <p:spPr>
            <a:xfrm>
              <a:off x="7086600" y="2724150"/>
              <a:ext cx="114300" cy="76200"/>
            </a:xfrm>
            <a:custGeom>
              <a:rect b="b" l="l" r="r" t="t"/>
              <a:pathLst>
                <a:path extrusionOk="0" h="120000" w="120000">
                  <a:moveTo>
                    <a:pt x="0" y="60000"/>
                  </a:moveTo>
                  <a:lnTo>
                    <a:pt x="120000" y="60000"/>
                  </a:lnTo>
                  <a:moveTo>
                    <a:pt x="80000" y="0"/>
                  </a:moveTo>
                  <a:lnTo>
                    <a:pt x="120000" y="60000"/>
                  </a:lnTo>
                  <a:lnTo>
                    <a:pt x="80000" y="120000"/>
                  </a:lnTo>
                </a:path>
              </a:pathLst>
            </a:custGeom>
            <a:solidFill>
              <a:srgbClr val="000000">
                <a:alpha val="0"/>
              </a:srgbClr>
            </a:solidFill>
            <a:ln cap="rnd"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71" name="Google Shape;771;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5" name="Shape 775"/>
        <p:cNvGrpSpPr/>
        <p:nvPr/>
      </p:nvGrpSpPr>
      <p:grpSpPr>
        <a:xfrm>
          <a:off x="0" y="0"/>
          <a:ext cx="0" cy="0"/>
          <a:chOff x="0" y="0"/>
          <a:chExt cx="0" cy="0"/>
        </a:xfrm>
      </p:grpSpPr>
      <p:sp>
        <p:nvSpPr>
          <p:cNvPr id="776" name="Google Shape;776;p57"/>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7" name="Google Shape;777;p57"/>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8" name="Google Shape;778;p57"/>
          <p:cNvSpPr txBox="1"/>
          <p:nvPr>
            <p:ph type="title"/>
          </p:nvPr>
        </p:nvSpPr>
        <p:spPr>
          <a:xfrm>
            <a:off x="311700" y="445025"/>
            <a:ext cx="8520600" cy="572700"/>
          </a:xfrm>
          <a:prstGeom prst="rect">
            <a:avLst/>
          </a:prstGeom>
          <a:solidFill>
            <a:srgbClr val="000000">
              <a:alpha val="0"/>
            </a:srgbClr>
          </a:solidFill>
          <a:ln>
            <a:noFill/>
          </a:ln>
        </p:spPr>
        <p:txBody>
          <a:bodyPr anchorCtr="0" anchor="t" bIns="91400" lIns="91400" spcFirstLastPara="1" rIns="91400" wrap="square" tIns="91400">
            <a:normAutofit/>
          </a:bodyPr>
          <a:lstStyle/>
          <a:p>
            <a:pPr indent="0" lvl="0" marL="0" rtl="0" algn="l">
              <a:spcBef>
                <a:spcPts val="0"/>
              </a:spcBef>
              <a:spcAft>
                <a:spcPts val="0"/>
              </a:spcAft>
              <a:buNone/>
            </a:pPr>
            <a:r>
              <a:rPr b="0" lang="en" sz="2380">
                <a:solidFill>
                  <a:srgbClr val="FFFFFF"/>
                </a:solidFill>
                <a:latin typeface="Arial"/>
                <a:ea typeface="Arial"/>
                <a:cs typeface="Arial"/>
                <a:sym typeface="Arial"/>
              </a:rPr>
              <a:t>External Event Promotion - Notification</a:t>
            </a:r>
            <a:endParaRPr b="0" sz="2380">
              <a:solidFill>
                <a:srgbClr val="FFFFFF"/>
              </a:solidFill>
              <a:latin typeface="Arial"/>
              <a:ea typeface="Arial"/>
              <a:cs typeface="Arial"/>
              <a:sym typeface="Arial"/>
            </a:endParaRPr>
          </a:p>
        </p:txBody>
      </p:sp>
      <p:pic>
        <p:nvPicPr>
          <p:cNvPr id="779" name="Google Shape;779;p57"/>
          <p:cNvPicPr preferRelativeResize="0"/>
          <p:nvPr/>
        </p:nvPicPr>
        <p:blipFill rotWithShape="1">
          <a:blip r:embed="rId4">
            <a:alphaModFix/>
          </a:blip>
          <a:srcRect b="0" l="0" r="0" t="0"/>
          <a:stretch/>
        </p:blipFill>
        <p:spPr>
          <a:xfrm>
            <a:off x="1164298" y="1089203"/>
            <a:ext cx="6815400" cy="3821100"/>
          </a:xfrm>
          <a:prstGeom prst="rect">
            <a:avLst/>
          </a:prstGeom>
          <a:noFill/>
          <a:ln>
            <a:noFill/>
          </a:ln>
        </p:spPr>
      </p:pic>
      <p:sp>
        <p:nvSpPr>
          <p:cNvPr id="780" name="Google Shape;780;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784" name="Shape 784"/>
        <p:cNvGrpSpPr/>
        <p:nvPr/>
      </p:nvGrpSpPr>
      <p:grpSpPr>
        <a:xfrm>
          <a:off x="0" y="0"/>
          <a:ext cx="0" cy="0"/>
          <a:chOff x="0" y="0"/>
          <a:chExt cx="0" cy="0"/>
        </a:xfrm>
      </p:grpSpPr>
      <p:sp>
        <p:nvSpPr>
          <p:cNvPr id="785" name="Google Shape;785;p58"/>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6" name="Google Shape;786;p58"/>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7" name="Google Shape;787;p58"/>
          <p:cNvSpPr txBox="1"/>
          <p:nvPr/>
        </p:nvSpPr>
        <p:spPr>
          <a:xfrm>
            <a:off x="571500" y="381000"/>
            <a:ext cx="8001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450"/>
              </a:spcAft>
              <a:buNone/>
            </a:pPr>
            <a:r>
              <a:rPr b="1" lang="en" sz="2200">
                <a:solidFill>
                  <a:srgbClr val="FFFFFF"/>
                </a:solidFill>
                <a:latin typeface="Cambria"/>
                <a:ea typeface="Cambria"/>
                <a:cs typeface="Cambria"/>
                <a:sym typeface="Cambria"/>
              </a:rPr>
              <a:t>Individual Contribution</a:t>
            </a:r>
            <a:endParaRPr b="1" sz="2200">
              <a:solidFill>
                <a:srgbClr val="FFFFFF"/>
              </a:solidFill>
              <a:latin typeface="Cambria"/>
              <a:ea typeface="Cambria"/>
              <a:cs typeface="Cambria"/>
              <a:sym typeface="Cambria"/>
            </a:endParaRPr>
          </a:p>
        </p:txBody>
      </p:sp>
      <p:grpSp>
        <p:nvGrpSpPr>
          <p:cNvPr id="788" name="Google Shape;788;p58"/>
          <p:cNvGrpSpPr/>
          <p:nvPr/>
        </p:nvGrpSpPr>
        <p:grpSpPr>
          <a:xfrm>
            <a:off x="571500" y="1047750"/>
            <a:ext cx="3810000" cy="3524400"/>
            <a:chOff x="0" y="0"/>
            <a:chExt cx="3810000" cy="3524400"/>
          </a:xfrm>
        </p:grpSpPr>
        <p:sp>
          <p:nvSpPr>
            <p:cNvPr id="789" name="Google Shape;789;p58"/>
            <p:cNvSpPr/>
            <p:nvPr/>
          </p:nvSpPr>
          <p:spPr>
            <a:xfrm>
              <a:off x="0" y="0"/>
              <a:ext cx="3810000" cy="3524400"/>
            </a:xfrm>
            <a:prstGeom prst="roundRect">
              <a:avLst>
                <a:gd fmla="val 3243" name="adj"/>
              </a:avLst>
            </a:prstGeom>
            <a:solidFill>
              <a:srgbClr val="0A3D6B">
                <a:alpha val="40000"/>
              </a:srgbClr>
            </a:solidFill>
            <a:ln cap="flat" cmpd="sng" w="19050">
              <a:solidFill>
                <a:srgbClr val="105E9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0" name="Google Shape;790;p58"/>
            <p:cNvSpPr txBox="1"/>
            <p:nvPr/>
          </p:nvSpPr>
          <p:spPr>
            <a:xfrm>
              <a:off x="228600" y="228600"/>
              <a:ext cx="3352800" cy="306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00E5FF"/>
                  </a:solidFill>
                  <a:latin typeface="Arial"/>
                  <a:ea typeface="Arial"/>
                  <a:cs typeface="Arial"/>
                  <a:sym typeface="Arial"/>
                </a:rPr>
                <a:t>Jacob McGivern</a:t>
              </a:r>
              <a:endParaRPr b="1" sz="1500">
                <a:solidFill>
                  <a:srgbClr val="00E5FF"/>
                </a:solidFill>
                <a:latin typeface="Arial"/>
                <a:ea typeface="Arial"/>
                <a:cs typeface="Arial"/>
                <a:sym typeface="Arial"/>
              </a:endParaRPr>
            </a:p>
            <a:p>
              <a:pPr indent="0" lvl="0" marL="0" rtl="0" algn="l">
                <a:spcBef>
                  <a:spcPts val="600"/>
                </a:spcBef>
                <a:spcAft>
                  <a:spcPts val="0"/>
                </a:spcAft>
                <a:buNone/>
              </a:pPr>
              <a:r>
                <a:rPr b="1" lang="en" sz="1300">
                  <a:solidFill>
                    <a:srgbClr val="FFFFFF"/>
                  </a:solidFill>
                  <a:latin typeface="Arial"/>
                  <a:ea typeface="Arial"/>
                  <a:cs typeface="Arial"/>
                  <a:sym typeface="Arial"/>
                </a:rPr>
                <a:t>Blog Posts</a:t>
              </a:r>
              <a:endParaRPr b="1" sz="1300">
                <a:solidFill>
                  <a:srgbClr val="FFFFFF"/>
                </a:solidFill>
                <a:latin typeface="Arial"/>
                <a:ea typeface="Arial"/>
                <a:cs typeface="Arial"/>
                <a:sym typeface="Arial"/>
              </a:endParaRPr>
            </a:p>
            <a:p>
              <a:pPr indent="-292100" lvl="0" marL="457200" rtl="0" algn="l">
                <a:spcBef>
                  <a:spcPts val="900"/>
                </a:spcBef>
                <a:spcAft>
                  <a:spcPts val="0"/>
                </a:spcAft>
                <a:buClr>
                  <a:srgbClr val="FFFFFF"/>
                </a:buClr>
                <a:buSzPts val="1000"/>
                <a:buFont typeface="Arial"/>
                <a:buChar char="-"/>
              </a:pPr>
              <a:r>
                <a:rPr b="1" lang="en" sz="1000">
                  <a:solidFill>
                    <a:srgbClr val="FFFFFF"/>
                  </a:solidFill>
                  <a:latin typeface="Arial"/>
                  <a:ea typeface="Arial"/>
                  <a:cs typeface="Arial"/>
                  <a:sym typeface="Arial"/>
                </a:rPr>
                <a:t>Tracker</a:t>
              </a:r>
              <a:endParaRPr b="1"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b="1" lang="en" sz="1000">
                  <a:solidFill>
                    <a:srgbClr val="FFFFFF"/>
                  </a:solidFill>
                  <a:latin typeface="Arial"/>
                  <a:ea typeface="Arial"/>
                  <a:cs typeface="Arial"/>
                  <a:sym typeface="Arial"/>
                </a:rPr>
                <a:t>External HAAG member process testing</a:t>
              </a:r>
              <a:endParaRPr b="1"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b="1" lang="en" sz="1000">
                  <a:solidFill>
                    <a:srgbClr val="FFFFFF"/>
                  </a:solidFill>
                  <a:latin typeface="Arial"/>
                  <a:ea typeface="Arial"/>
                  <a:cs typeface="Arial"/>
                  <a:sym typeface="Arial"/>
                </a:rPr>
                <a:t>AI Driven external org contact finder  process with prompt</a:t>
              </a:r>
              <a:endParaRPr b="1" sz="1000">
                <a:solidFill>
                  <a:srgbClr val="FFFFFF"/>
                </a:solidFill>
                <a:latin typeface="Arial"/>
                <a:ea typeface="Arial"/>
                <a:cs typeface="Arial"/>
                <a:sym typeface="Arial"/>
              </a:endParaRPr>
            </a:p>
            <a:p>
              <a:pPr indent="-292100" lvl="0" marL="457200" rtl="0" algn="l">
                <a:spcBef>
                  <a:spcPts val="0"/>
                </a:spcBef>
                <a:spcAft>
                  <a:spcPts val="0"/>
                </a:spcAft>
                <a:buClr>
                  <a:srgbClr val="FFFFFF"/>
                </a:buClr>
                <a:buSzPts val="1000"/>
                <a:buFont typeface="Arial"/>
                <a:buChar char="-"/>
              </a:pPr>
              <a:r>
                <a:rPr b="1" lang="en" sz="1000">
                  <a:solidFill>
                    <a:srgbClr val="FFFFFF"/>
                  </a:solidFill>
                  <a:latin typeface="Arial"/>
                  <a:ea typeface="Arial"/>
                  <a:cs typeface="Arial"/>
                  <a:sym typeface="Arial"/>
                </a:rPr>
                <a:t>New Outreach Email</a:t>
              </a:r>
              <a:endParaRPr b="1" sz="1300">
                <a:solidFill>
                  <a:srgbClr val="FFFFFF"/>
                </a:solidFill>
                <a:latin typeface="Arial"/>
                <a:ea typeface="Arial"/>
                <a:cs typeface="Arial"/>
                <a:sym typeface="Arial"/>
              </a:endParaRPr>
            </a:p>
            <a:p>
              <a:pPr indent="0" lvl="0" marL="0" rtl="0" algn="l">
                <a:spcBef>
                  <a:spcPts val="900"/>
                </a:spcBef>
                <a:spcAft>
                  <a:spcPts val="0"/>
                </a:spcAft>
                <a:buNone/>
              </a:pPr>
              <a:r>
                <a:rPr b="1" lang="en" sz="1300">
                  <a:solidFill>
                    <a:srgbClr val="FFFFFF"/>
                  </a:solidFill>
                  <a:latin typeface="Arial"/>
                  <a:ea typeface="Arial"/>
                  <a:cs typeface="Arial"/>
                  <a:sym typeface="Arial"/>
                </a:rPr>
                <a:t>Internal Event Promotion</a:t>
              </a:r>
              <a:endParaRPr b="1" sz="1300">
                <a:solidFill>
                  <a:srgbClr val="FFFFFF"/>
                </a:solidFill>
                <a:latin typeface="Arial"/>
                <a:ea typeface="Arial"/>
                <a:cs typeface="Arial"/>
                <a:sym typeface="Arial"/>
              </a:endParaRPr>
            </a:p>
            <a:p>
              <a:pPr indent="-292100" lvl="0" marL="457200" rtl="0" algn="l">
                <a:spcBef>
                  <a:spcPts val="900"/>
                </a:spcBef>
                <a:spcAft>
                  <a:spcPts val="0"/>
                </a:spcAft>
                <a:buClr>
                  <a:srgbClr val="FFFFFF"/>
                </a:buClr>
                <a:buSzPts val="1000"/>
                <a:buFont typeface="Arial"/>
                <a:buChar char="-"/>
              </a:pPr>
              <a:r>
                <a:rPr b="1" lang="en" sz="1000">
                  <a:solidFill>
                    <a:srgbClr val="FFFFFF"/>
                  </a:solidFill>
                  <a:latin typeface="Arial"/>
                  <a:ea typeface="Arial"/>
                  <a:cs typeface="Arial"/>
                  <a:sym typeface="Arial"/>
                </a:rPr>
                <a:t>Lab Meeting tracker and Notification</a:t>
              </a:r>
              <a:endParaRPr b="1" sz="1000">
                <a:solidFill>
                  <a:srgbClr val="FFFFFF"/>
                </a:solidFill>
                <a:latin typeface="Arial"/>
                <a:ea typeface="Arial"/>
                <a:cs typeface="Arial"/>
                <a:sym typeface="Arial"/>
              </a:endParaRPr>
            </a:p>
            <a:p>
              <a:pPr indent="0" lvl="0" marL="0" rtl="0" algn="l">
                <a:spcBef>
                  <a:spcPts val="900"/>
                </a:spcBef>
                <a:spcAft>
                  <a:spcPts val="0"/>
                </a:spcAft>
                <a:buNone/>
              </a:pPr>
              <a:r>
                <a:rPr b="1" lang="en" sz="1300">
                  <a:solidFill>
                    <a:srgbClr val="FFFFFF"/>
                  </a:solidFill>
                  <a:latin typeface="Arial"/>
                  <a:ea typeface="Arial"/>
                  <a:cs typeface="Arial"/>
                  <a:sym typeface="Arial"/>
                </a:rPr>
                <a:t>External Event Promotion</a:t>
              </a:r>
              <a:endParaRPr b="1" sz="1300">
                <a:solidFill>
                  <a:srgbClr val="FFFFFF"/>
                </a:solidFill>
                <a:latin typeface="Arial"/>
                <a:ea typeface="Arial"/>
                <a:cs typeface="Arial"/>
                <a:sym typeface="Arial"/>
              </a:endParaRPr>
            </a:p>
            <a:p>
              <a:pPr indent="-292100" lvl="0" marL="457200" rtl="0" algn="l">
                <a:spcBef>
                  <a:spcPts val="900"/>
                </a:spcBef>
                <a:spcAft>
                  <a:spcPts val="0"/>
                </a:spcAft>
                <a:buClr>
                  <a:srgbClr val="CBD5E1"/>
                </a:buClr>
                <a:buSzPts val="1000"/>
                <a:buChar char="-"/>
              </a:pPr>
              <a:r>
                <a:rPr b="1" lang="en" sz="1000">
                  <a:solidFill>
                    <a:schemeClr val="lt1"/>
                  </a:solidFill>
                  <a:latin typeface="Arial"/>
                  <a:ea typeface="Arial"/>
                  <a:cs typeface="Arial"/>
                  <a:sym typeface="Arial"/>
                </a:rPr>
                <a:t>Tracker with Notifications</a:t>
              </a:r>
              <a:endParaRPr b="1" sz="1000">
                <a:solidFill>
                  <a:schemeClr val="lt1"/>
                </a:solidFill>
                <a:latin typeface="Arial"/>
                <a:ea typeface="Arial"/>
                <a:cs typeface="Arial"/>
                <a:sym typeface="Arial"/>
              </a:endParaRPr>
            </a:p>
            <a:p>
              <a:pPr indent="-292100" lvl="0" marL="457200" rtl="0" algn="l">
                <a:spcBef>
                  <a:spcPts val="0"/>
                </a:spcBef>
                <a:spcAft>
                  <a:spcPts val="0"/>
                </a:spcAft>
                <a:buClr>
                  <a:schemeClr val="lt1"/>
                </a:buClr>
                <a:buSzPts val="1000"/>
                <a:buFont typeface="Arial"/>
                <a:buChar char="-"/>
              </a:pPr>
              <a:r>
                <a:rPr b="1" lang="en" sz="1000">
                  <a:solidFill>
                    <a:schemeClr val="lt1"/>
                  </a:solidFill>
                  <a:latin typeface="Arial"/>
                  <a:ea typeface="Arial"/>
                  <a:cs typeface="Arial"/>
                  <a:sym typeface="Arial"/>
                </a:rPr>
                <a:t>New defined process document</a:t>
              </a:r>
              <a:endParaRPr b="1" sz="1000">
                <a:solidFill>
                  <a:schemeClr val="lt1"/>
                </a:solidFill>
                <a:latin typeface="Arial"/>
                <a:ea typeface="Arial"/>
                <a:cs typeface="Arial"/>
                <a:sym typeface="Arial"/>
              </a:endParaRPr>
            </a:p>
            <a:p>
              <a:pPr indent="-292100" lvl="0" marL="457200" rtl="0" algn="l">
                <a:spcBef>
                  <a:spcPts val="0"/>
                </a:spcBef>
                <a:spcAft>
                  <a:spcPts val="0"/>
                </a:spcAft>
                <a:buClr>
                  <a:schemeClr val="lt1"/>
                </a:buClr>
                <a:buSzPts val="1000"/>
                <a:buFont typeface="Arial"/>
                <a:buChar char="-"/>
              </a:pPr>
              <a:r>
                <a:rPr b="1" lang="en" sz="1000">
                  <a:solidFill>
                    <a:schemeClr val="lt1"/>
                  </a:solidFill>
                  <a:latin typeface="Arial"/>
                  <a:ea typeface="Arial"/>
                  <a:cs typeface="Arial"/>
                  <a:sym typeface="Arial"/>
                </a:rPr>
                <a:t>#post-feedback procedure</a:t>
              </a:r>
              <a:endParaRPr b="1" sz="1000">
                <a:solidFill>
                  <a:schemeClr val="lt1"/>
                </a:solidFill>
                <a:latin typeface="Arial"/>
                <a:ea typeface="Arial"/>
                <a:cs typeface="Arial"/>
                <a:sym typeface="Arial"/>
              </a:endParaRPr>
            </a:p>
          </p:txBody>
        </p:sp>
      </p:grpSp>
      <p:grpSp>
        <p:nvGrpSpPr>
          <p:cNvPr id="791" name="Google Shape;791;p58"/>
          <p:cNvGrpSpPr/>
          <p:nvPr/>
        </p:nvGrpSpPr>
        <p:grpSpPr>
          <a:xfrm>
            <a:off x="4752975" y="1038225"/>
            <a:ext cx="3829200" cy="3543300"/>
            <a:chOff x="-9525" y="-9525"/>
            <a:chExt cx="3829200" cy="3543300"/>
          </a:xfrm>
        </p:grpSpPr>
        <p:pic>
          <p:nvPicPr>
            <p:cNvPr id="792" name="Google Shape;792;p58"/>
            <p:cNvPicPr preferRelativeResize="0"/>
            <p:nvPr/>
          </p:nvPicPr>
          <p:blipFill rotWithShape="1">
            <a:blip r:embed="rId3">
              <a:alphaModFix/>
            </a:blip>
            <a:srcRect b="0" l="0" r="0" t="0"/>
            <a:stretch/>
          </p:blipFill>
          <p:spPr>
            <a:xfrm>
              <a:off x="-9525" y="-9525"/>
              <a:ext cx="3829200" cy="3543300"/>
            </a:xfrm>
            <a:prstGeom prst="rect">
              <a:avLst/>
            </a:prstGeom>
            <a:noFill/>
            <a:ln>
              <a:noFill/>
            </a:ln>
          </p:spPr>
        </p:pic>
        <p:sp>
          <p:nvSpPr>
            <p:cNvPr id="793" name="Google Shape;793;p58"/>
            <p:cNvSpPr txBox="1"/>
            <p:nvPr/>
          </p:nvSpPr>
          <p:spPr>
            <a:xfrm>
              <a:off x="228600" y="228600"/>
              <a:ext cx="3352800" cy="306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00E5FF"/>
                  </a:solidFill>
                  <a:latin typeface="Arial"/>
                  <a:ea typeface="Arial"/>
                  <a:cs typeface="Arial"/>
                  <a:sym typeface="Arial"/>
                </a:rPr>
                <a:t>Sheena Patel</a:t>
              </a:r>
              <a:endParaRPr b="1" sz="1500">
                <a:solidFill>
                  <a:srgbClr val="00E5FF"/>
                </a:solidFill>
                <a:latin typeface="Arial"/>
                <a:ea typeface="Arial"/>
                <a:cs typeface="Arial"/>
                <a:sym typeface="Arial"/>
              </a:endParaRPr>
            </a:p>
            <a:p>
              <a:pPr indent="0" lvl="0" marL="0" rtl="0" algn="l">
                <a:spcBef>
                  <a:spcPts val="600"/>
                </a:spcBef>
                <a:spcAft>
                  <a:spcPts val="0"/>
                </a:spcAft>
                <a:buNone/>
              </a:pPr>
              <a:r>
                <a:rPr b="1" lang="en" sz="1300">
                  <a:solidFill>
                    <a:schemeClr val="lt1"/>
                  </a:solidFill>
                  <a:latin typeface="Arial"/>
                  <a:ea typeface="Arial"/>
                  <a:cs typeface="Arial"/>
                  <a:sym typeface="Arial"/>
                </a:rPr>
                <a:t>Faces of HAAG</a:t>
              </a:r>
              <a:endParaRPr b="1" sz="1300">
                <a:solidFill>
                  <a:schemeClr val="lt1"/>
                </a:solidFill>
                <a:latin typeface="Arial"/>
                <a:ea typeface="Arial"/>
                <a:cs typeface="Arial"/>
                <a:sym typeface="Arial"/>
              </a:endParaRPr>
            </a:p>
            <a:p>
              <a:pPr indent="-292100" lvl="0" marL="457200" rtl="0" algn="l">
                <a:spcBef>
                  <a:spcPts val="900"/>
                </a:spcBef>
                <a:spcAft>
                  <a:spcPts val="0"/>
                </a:spcAft>
                <a:buClr>
                  <a:schemeClr val="lt1"/>
                </a:buClr>
                <a:buSzPts val="1000"/>
                <a:buFont typeface="Arial"/>
                <a:buChar char="-"/>
              </a:pPr>
              <a:r>
                <a:rPr b="1" lang="en" sz="1000">
                  <a:solidFill>
                    <a:schemeClr val="lt1"/>
                  </a:solidFill>
                  <a:latin typeface="Arial"/>
                  <a:ea typeface="Arial"/>
                  <a:cs typeface="Arial"/>
                  <a:sym typeface="Arial"/>
                </a:rPr>
                <a:t>Tracker</a:t>
              </a:r>
              <a:endParaRPr b="1" sz="1000">
                <a:solidFill>
                  <a:schemeClr val="lt1"/>
                </a:solidFill>
                <a:latin typeface="Arial"/>
                <a:ea typeface="Arial"/>
                <a:cs typeface="Arial"/>
                <a:sym typeface="Arial"/>
              </a:endParaRPr>
            </a:p>
            <a:p>
              <a:pPr indent="-292100" lvl="0" marL="457200" rtl="0" algn="l">
                <a:spcBef>
                  <a:spcPts val="0"/>
                </a:spcBef>
                <a:spcAft>
                  <a:spcPts val="0"/>
                </a:spcAft>
                <a:buClr>
                  <a:schemeClr val="lt1"/>
                </a:buClr>
                <a:buSzPts val="1000"/>
                <a:buFont typeface="Arial"/>
                <a:buChar char="-"/>
              </a:pPr>
              <a:r>
                <a:rPr b="1" lang="en" sz="1000">
                  <a:solidFill>
                    <a:schemeClr val="lt1"/>
                  </a:solidFill>
                  <a:latin typeface="Arial"/>
                  <a:ea typeface="Arial"/>
                  <a:cs typeface="Arial"/>
                  <a:sym typeface="Arial"/>
                </a:rPr>
                <a:t>Specific #Post-feedback process </a:t>
              </a:r>
              <a:endParaRPr b="1" sz="1300">
                <a:solidFill>
                  <a:schemeClr val="lt1"/>
                </a:solidFill>
                <a:latin typeface="Arial"/>
                <a:ea typeface="Arial"/>
                <a:cs typeface="Arial"/>
                <a:sym typeface="Arial"/>
              </a:endParaRPr>
            </a:p>
            <a:p>
              <a:pPr indent="0" lvl="0" marL="0" rtl="0" algn="l">
                <a:spcBef>
                  <a:spcPts val="900"/>
                </a:spcBef>
                <a:spcAft>
                  <a:spcPts val="0"/>
                </a:spcAft>
                <a:buNone/>
              </a:pPr>
              <a:r>
                <a:rPr b="1" lang="en" sz="1300">
                  <a:solidFill>
                    <a:schemeClr val="lt1"/>
                  </a:solidFill>
                  <a:latin typeface="Arial"/>
                  <a:ea typeface="Arial"/>
                  <a:cs typeface="Arial"/>
                  <a:sym typeface="Arial"/>
                </a:rPr>
                <a:t>Project Spotlight</a:t>
              </a:r>
              <a:endParaRPr b="1" sz="1300">
                <a:solidFill>
                  <a:schemeClr val="lt1"/>
                </a:solidFill>
                <a:latin typeface="Arial"/>
                <a:ea typeface="Arial"/>
                <a:cs typeface="Arial"/>
                <a:sym typeface="Arial"/>
              </a:endParaRPr>
            </a:p>
            <a:p>
              <a:pPr indent="-292100" lvl="0" marL="457200" rtl="0" algn="l">
                <a:spcBef>
                  <a:spcPts val="900"/>
                </a:spcBef>
                <a:spcAft>
                  <a:spcPts val="0"/>
                </a:spcAft>
                <a:buClr>
                  <a:schemeClr val="lt1"/>
                </a:buClr>
                <a:buSzPts val="1000"/>
                <a:buFont typeface="Arial"/>
                <a:buChar char="-"/>
              </a:pPr>
              <a:r>
                <a:rPr b="1" lang="en" sz="1000">
                  <a:solidFill>
                    <a:schemeClr val="lt1"/>
                  </a:solidFill>
                  <a:latin typeface="Arial"/>
                  <a:ea typeface="Arial"/>
                  <a:cs typeface="Arial"/>
                  <a:sym typeface="Arial"/>
                </a:rPr>
                <a:t>Tracker</a:t>
              </a:r>
              <a:endParaRPr b="1" sz="1000">
                <a:solidFill>
                  <a:schemeClr val="lt1"/>
                </a:solidFill>
                <a:latin typeface="Arial"/>
                <a:ea typeface="Arial"/>
                <a:cs typeface="Arial"/>
                <a:sym typeface="Arial"/>
              </a:endParaRPr>
            </a:p>
            <a:p>
              <a:pPr indent="-292100" lvl="0" marL="457200" rtl="0" algn="l">
                <a:spcBef>
                  <a:spcPts val="0"/>
                </a:spcBef>
                <a:spcAft>
                  <a:spcPts val="0"/>
                </a:spcAft>
                <a:buClr>
                  <a:schemeClr val="lt1"/>
                </a:buClr>
                <a:buSzPts val="1000"/>
                <a:buFont typeface="Arial"/>
                <a:buChar char="-"/>
              </a:pPr>
              <a:r>
                <a:rPr b="1" lang="en" sz="1000">
                  <a:solidFill>
                    <a:schemeClr val="lt1"/>
                  </a:solidFill>
                  <a:latin typeface="Arial"/>
                  <a:ea typeface="Arial"/>
                  <a:cs typeface="Arial"/>
                  <a:sym typeface="Arial"/>
                </a:rPr>
                <a:t>Implemented a Project Spotlight Post</a:t>
              </a:r>
              <a:endParaRPr b="1" sz="1000">
                <a:solidFill>
                  <a:schemeClr val="lt1"/>
                </a:solidFill>
                <a:latin typeface="Arial"/>
                <a:ea typeface="Arial"/>
                <a:cs typeface="Arial"/>
                <a:sym typeface="Arial"/>
              </a:endParaRPr>
            </a:p>
            <a:p>
              <a:pPr indent="-292100" lvl="0" marL="457200" rtl="0" algn="l">
                <a:spcBef>
                  <a:spcPts val="0"/>
                </a:spcBef>
                <a:spcAft>
                  <a:spcPts val="0"/>
                </a:spcAft>
                <a:buClr>
                  <a:schemeClr val="lt1"/>
                </a:buClr>
                <a:buSzPts val="1000"/>
                <a:buFont typeface="Arial"/>
                <a:buChar char="-"/>
              </a:pPr>
              <a:r>
                <a:rPr b="1" lang="en" sz="1000">
                  <a:solidFill>
                    <a:schemeClr val="lt1"/>
                  </a:solidFill>
                  <a:latin typeface="Arial"/>
                  <a:ea typeface="Arial"/>
                  <a:cs typeface="Arial"/>
                  <a:sym typeface="Arial"/>
                </a:rPr>
                <a:t>New Process document</a:t>
              </a:r>
              <a:endParaRPr b="1" sz="1000">
                <a:solidFill>
                  <a:schemeClr val="lt1"/>
                </a:solidFill>
                <a:latin typeface="Arial"/>
                <a:ea typeface="Arial"/>
                <a:cs typeface="Arial"/>
                <a:sym typeface="Arial"/>
              </a:endParaRPr>
            </a:p>
            <a:p>
              <a:pPr indent="-292100" lvl="0" marL="457200" rtl="0" algn="l">
                <a:spcBef>
                  <a:spcPts val="0"/>
                </a:spcBef>
                <a:spcAft>
                  <a:spcPts val="0"/>
                </a:spcAft>
                <a:buClr>
                  <a:schemeClr val="lt1"/>
                </a:buClr>
                <a:buSzPts val="1000"/>
                <a:buFont typeface="Arial"/>
                <a:buChar char="-"/>
              </a:pPr>
              <a:r>
                <a:rPr b="1" lang="en" sz="1000">
                  <a:solidFill>
                    <a:schemeClr val="lt1"/>
                  </a:solidFill>
                  <a:latin typeface="Arial"/>
                  <a:ea typeface="Arial"/>
                  <a:cs typeface="Arial"/>
                  <a:sym typeface="Arial"/>
                </a:rPr>
                <a:t>Specific #Post-feedback process </a:t>
              </a:r>
              <a:endParaRPr b="1" sz="1000">
                <a:solidFill>
                  <a:schemeClr val="lt1"/>
                </a:solidFill>
                <a:latin typeface="Arial"/>
                <a:ea typeface="Arial"/>
                <a:cs typeface="Arial"/>
                <a:sym typeface="Arial"/>
              </a:endParaRPr>
            </a:p>
          </p:txBody>
        </p:sp>
      </p:grpSp>
      <p:sp>
        <p:nvSpPr>
          <p:cNvPr id="794" name="Google Shape;794;p58"/>
          <p:cNvSpPr txBox="1"/>
          <p:nvPr>
            <p:ph idx="4294967295"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057"/>
        </a:solidFill>
      </p:bgPr>
    </p:bg>
    <p:spTree>
      <p:nvGrpSpPr>
        <p:cNvPr id="799" name="Shape 799"/>
        <p:cNvGrpSpPr/>
        <p:nvPr/>
      </p:nvGrpSpPr>
      <p:grpSpPr>
        <a:xfrm>
          <a:off x="0" y="0"/>
          <a:ext cx="0" cy="0"/>
          <a:chOff x="0" y="0"/>
          <a:chExt cx="0" cy="0"/>
        </a:xfrm>
      </p:grpSpPr>
      <p:sp>
        <p:nvSpPr>
          <p:cNvPr id="800" name="Google Shape;800;p59"/>
          <p:cNvSpPr/>
          <p:nvPr/>
        </p:nvSpPr>
        <p:spPr>
          <a:xfrm>
            <a:off x="7269480" y="-1234440"/>
            <a:ext cx="3429000" cy="34290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1" name="Google Shape;801;p59"/>
          <p:cNvSpPr/>
          <p:nvPr/>
        </p:nvSpPr>
        <p:spPr>
          <a:xfrm>
            <a:off x="-1028700" y="3566160"/>
            <a:ext cx="2743200" cy="2743200"/>
          </a:xfrm>
          <a:prstGeom prst="ellipse">
            <a:avLst/>
          </a:prstGeom>
          <a:solidFill>
            <a:srgbClr val="0A3D6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2" name="Google Shape;802;p59"/>
          <p:cNvSpPr/>
          <p:nvPr/>
        </p:nvSpPr>
        <p:spPr>
          <a:xfrm>
            <a:off x="582930" y="1543050"/>
            <a:ext cx="7200900" cy="8232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3300"/>
              <a:buFont typeface="Cambria"/>
              <a:buNone/>
            </a:pPr>
            <a:r>
              <a:rPr b="1" lang="en" sz="3300">
                <a:solidFill>
                  <a:srgbClr val="FFFFFF"/>
                </a:solidFill>
                <a:latin typeface="Cambria"/>
                <a:ea typeface="Cambria"/>
                <a:cs typeface="Cambria"/>
                <a:sym typeface="Cambria"/>
              </a:rPr>
              <a:t>Future of Social Media Initiative</a:t>
            </a:r>
            <a:endParaRPr b="0" i="0" sz="3300" u="none" cap="none" strike="noStrike">
              <a:solidFill>
                <a:schemeClr val="dk1"/>
              </a:solidFill>
              <a:latin typeface="Calibri"/>
              <a:ea typeface="Calibri"/>
              <a:cs typeface="Calibri"/>
              <a:sym typeface="Calibri"/>
            </a:endParaRPr>
          </a:p>
        </p:txBody>
      </p:sp>
      <p:sp>
        <p:nvSpPr>
          <p:cNvPr id="803" name="Google Shape;803;p59"/>
          <p:cNvSpPr/>
          <p:nvPr/>
        </p:nvSpPr>
        <p:spPr>
          <a:xfrm>
            <a:off x="617220" y="2297430"/>
            <a:ext cx="6515100" cy="6171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9C9C9"/>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804" name="Google Shape;804;p59"/>
          <p:cNvSpPr/>
          <p:nvPr/>
        </p:nvSpPr>
        <p:spPr>
          <a:xfrm>
            <a:off x="617220" y="4491990"/>
            <a:ext cx="54864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B3A369"/>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805" name="Google Shape;805;p59"/>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9" name="Shape 809"/>
        <p:cNvGrpSpPr/>
        <p:nvPr/>
      </p:nvGrpSpPr>
      <p:grpSpPr>
        <a:xfrm>
          <a:off x="0" y="0"/>
          <a:ext cx="0" cy="0"/>
          <a:chOff x="0" y="0"/>
          <a:chExt cx="0" cy="0"/>
        </a:xfrm>
      </p:grpSpPr>
      <p:sp>
        <p:nvSpPr>
          <p:cNvPr id="810" name="Google Shape;810;p60"/>
          <p:cNvSpPr/>
          <p:nvPr/>
        </p:nvSpPr>
        <p:spPr>
          <a:xfrm>
            <a:off x="7269480" y="-1234440"/>
            <a:ext cx="3429000" cy="34290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1" name="Google Shape;811;p60"/>
          <p:cNvSpPr/>
          <p:nvPr/>
        </p:nvSpPr>
        <p:spPr>
          <a:xfrm>
            <a:off x="-1028700" y="3566160"/>
            <a:ext cx="2743200" cy="2743200"/>
          </a:xfrm>
          <a:prstGeom prst="ellipse">
            <a:avLst/>
          </a:prstGeom>
          <a:solidFill>
            <a:srgbClr val="0A3D6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2" name="Google Shape;812;p60"/>
          <p:cNvSpPr txBox="1"/>
          <p:nvPr>
            <p:ph type="title"/>
          </p:nvPr>
        </p:nvSpPr>
        <p:spPr>
          <a:xfrm>
            <a:off x="311700" y="445025"/>
            <a:ext cx="8520600" cy="572700"/>
          </a:xfrm>
          <a:prstGeom prst="rect">
            <a:avLst/>
          </a:prstGeom>
          <a:solidFill>
            <a:srgbClr val="000000">
              <a:alpha val="0"/>
            </a:srgbClr>
          </a:solidFill>
          <a:ln>
            <a:noFill/>
          </a:ln>
        </p:spPr>
        <p:txBody>
          <a:bodyPr anchorCtr="0" anchor="t" bIns="91400" lIns="91400" spcFirstLastPara="1" rIns="91400" wrap="square" tIns="91400">
            <a:normAutofit fontScale="90000"/>
          </a:bodyPr>
          <a:lstStyle/>
          <a:p>
            <a:pPr indent="0" lvl="0" marL="0" rtl="0" algn="l">
              <a:spcBef>
                <a:spcPts val="0"/>
              </a:spcBef>
              <a:spcAft>
                <a:spcPts val="0"/>
              </a:spcAft>
              <a:buNone/>
            </a:pPr>
            <a:r>
              <a:rPr b="1" lang="en" sz="2200">
                <a:solidFill>
                  <a:schemeClr val="lt1"/>
                </a:solidFill>
                <a:latin typeface="Cambria"/>
                <a:ea typeface="Cambria"/>
                <a:cs typeface="Cambria"/>
                <a:sym typeface="Cambria"/>
              </a:rPr>
              <a:t>Next Steps</a:t>
            </a:r>
            <a:endParaRPr sz="2380">
              <a:solidFill>
                <a:srgbClr val="FFFFFF"/>
              </a:solidFill>
            </a:endParaRPr>
          </a:p>
          <a:p>
            <a:pPr indent="0" lvl="0" marL="0" rtl="0" algn="l">
              <a:spcBef>
                <a:spcPts val="450"/>
              </a:spcBef>
              <a:spcAft>
                <a:spcPts val="0"/>
              </a:spcAft>
              <a:buNone/>
            </a:pPr>
            <a:r>
              <a:t/>
            </a:r>
            <a:endParaRPr sz="2380">
              <a:solidFill>
                <a:srgbClr val="FFFFFF"/>
              </a:solidFill>
            </a:endParaRPr>
          </a:p>
        </p:txBody>
      </p:sp>
      <p:sp>
        <p:nvSpPr>
          <p:cNvPr id="813" name="Google Shape;813;p60"/>
          <p:cNvSpPr txBox="1"/>
          <p:nvPr/>
        </p:nvSpPr>
        <p:spPr>
          <a:xfrm>
            <a:off x="1032750" y="1418952"/>
            <a:ext cx="6317700" cy="1833300"/>
          </a:xfrm>
          <a:prstGeom prst="rect">
            <a:avLst/>
          </a:prstGeom>
          <a:noFill/>
          <a:ln cap="flat" cmpd="sng" w="9525">
            <a:solidFill>
              <a:srgbClr val="1155CC"/>
            </a:solidFill>
            <a:prstDash val="solid"/>
            <a:round/>
            <a:headEnd len="sm" w="sm" type="none"/>
            <a:tailEnd len="sm" w="sm" type="none"/>
          </a:ln>
        </p:spPr>
        <p:txBody>
          <a:bodyPr anchorCtr="0" anchor="t" bIns="91425" lIns="91425" spcFirstLastPara="1" rIns="91425" wrap="square" tIns="91425">
            <a:spAutoFit/>
          </a:bodyPr>
          <a:lstStyle/>
          <a:p>
            <a:pPr indent="-295275" lvl="0" marL="457200" rtl="0" algn="l">
              <a:lnSpc>
                <a:spcPct val="115000"/>
              </a:lnSpc>
              <a:spcBef>
                <a:spcPts val="0"/>
              </a:spcBef>
              <a:spcAft>
                <a:spcPts val="0"/>
              </a:spcAft>
              <a:buClr>
                <a:schemeClr val="lt1"/>
              </a:buClr>
              <a:buSzPts val="1050"/>
              <a:buChar char="●"/>
            </a:pPr>
            <a:r>
              <a:rPr lang="en" sz="1050">
                <a:solidFill>
                  <a:schemeClr val="lt1"/>
                </a:solidFill>
              </a:rPr>
              <a:t>Getting people interested in participating in all content streams </a:t>
            </a:r>
            <a:endParaRPr sz="180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295275" lvl="0" marL="457200" rtl="0" algn="l">
              <a:lnSpc>
                <a:spcPct val="115000"/>
              </a:lnSpc>
              <a:spcBef>
                <a:spcPts val="0"/>
              </a:spcBef>
              <a:spcAft>
                <a:spcPts val="0"/>
              </a:spcAft>
              <a:buClr>
                <a:schemeClr val="lt1"/>
              </a:buClr>
              <a:buSzPts val="1050"/>
              <a:buChar char="●"/>
            </a:pPr>
            <a:r>
              <a:rPr lang="en" sz="1050">
                <a:solidFill>
                  <a:schemeClr val="lt1"/>
                </a:solidFill>
              </a:rPr>
              <a:t>Recruit People to be part of the social media initiative</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295275" lvl="0" marL="457200" rtl="0" algn="l">
              <a:lnSpc>
                <a:spcPct val="115000"/>
              </a:lnSpc>
              <a:spcBef>
                <a:spcPts val="0"/>
              </a:spcBef>
              <a:spcAft>
                <a:spcPts val="0"/>
              </a:spcAft>
              <a:buClr>
                <a:schemeClr val="lt1"/>
              </a:buClr>
              <a:buSzPts val="1050"/>
              <a:buChar char="●"/>
            </a:pPr>
            <a:r>
              <a:rPr lang="en" sz="1050">
                <a:solidFill>
                  <a:schemeClr val="lt1"/>
                </a:solidFill>
              </a:rPr>
              <a:t>Brainstorm and think about the use of LinkedIn Analytics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295275" lvl="0" marL="457200" rtl="0" algn="l">
              <a:lnSpc>
                <a:spcPct val="115000"/>
              </a:lnSpc>
              <a:spcBef>
                <a:spcPts val="0"/>
              </a:spcBef>
              <a:spcAft>
                <a:spcPts val="0"/>
              </a:spcAft>
              <a:buClr>
                <a:schemeClr val="lt1"/>
              </a:buClr>
              <a:buSzPts val="1050"/>
              <a:buChar char="●"/>
            </a:pPr>
            <a:r>
              <a:rPr lang="en" sz="1050">
                <a:solidFill>
                  <a:schemeClr val="lt1"/>
                </a:solidFill>
              </a:rPr>
              <a:t>Need to finalize the announcement protocols when the drafts get posted in Slack for feedback </a:t>
            </a:r>
            <a:endParaRPr sz="1050">
              <a:solidFill>
                <a:schemeClr val="lt1"/>
              </a:solidFill>
            </a:endParaRPr>
          </a:p>
          <a:p>
            <a:pPr indent="0" lvl="0" marL="0" rtl="0" algn="l">
              <a:lnSpc>
                <a:spcPct val="115000"/>
              </a:lnSpc>
              <a:spcBef>
                <a:spcPts val="0"/>
              </a:spcBef>
              <a:spcAft>
                <a:spcPts val="0"/>
              </a:spcAft>
              <a:buNone/>
            </a:pPr>
            <a:r>
              <a:t/>
            </a:r>
            <a:endParaRPr sz="1050">
              <a:solidFill>
                <a:schemeClr val="lt1"/>
              </a:solidFill>
            </a:endParaRPr>
          </a:p>
          <a:p>
            <a:pPr indent="-295275" lvl="0" marL="457200" rtl="0" algn="l">
              <a:lnSpc>
                <a:spcPct val="115000"/>
              </a:lnSpc>
              <a:spcBef>
                <a:spcPts val="0"/>
              </a:spcBef>
              <a:spcAft>
                <a:spcPts val="0"/>
              </a:spcAft>
              <a:buClr>
                <a:schemeClr val="lt1"/>
              </a:buClr>
              <a:buSzPts val="1050"/>
              <a:buChar char="●"/>
            </a:pPr>
            <a:r>
              <a:rPr lang="en" sz="1050">
                <a:solidFill>
                  <a:schemeClr val="lt1"/>
                </a:solidFill>
              </a:rPr>
              <a:t>Need to validate the 48 hour window feedback cycle </a:t>
            </a:r>
            <a:endParaRPr>
              <a:solidFill>
                <a:schemeClr val="lt1"/>
              </a:solidFill>
            </a:endParaRPr>
          </a:p>
        </p:txBody>
      </p:sp>
      <p:sp>
        <p:nvSpPr>
          <p:cNvPr id="814" name="Google Shape;814;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pic>
        <p:nvPicPr>
          <p:cNvPr id="819" name="Google Shape;819;p61"/>
          <p:cNvPicPr preferRelativeResize="0"/>
          <p:nvPr/>
        </p:nvPicPr>
        <p:blipFill>
          <a:blip r:embed="rId3">
            <a:alphaModFix/>
          </a:blip>
          <a:stretch>
            <a:fillRect/>
          </a:stretch>
        </p:blipFill>
        <p:spPr>
          <a:xfrm>
            <a:off x="2302450" y="199900"/>
            <a:ext cx="4213700" cy="4200099"/>
          </a:xfrm>
          <a:prstGeom prst="rect">
            <a:avLst/>
          </a:prstGeom>
          <a:noFill/>
          <a:ln>
            <a:noFill/>
          </a:ln>
        </p:spPr>
      </p:pic>
      <p:sp>
        <p:nvSpPr>
          <p:cNvPr id="820" name="Google Shape;820;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Post Presentation Comments</a:t>
            </a:r>
            <a:endParaRPr/>
          </a:p>
        </p:txBody>
      </p:sp>
      <p:sp>
        <p:nvSpPr>
          <p:cNvPr id="826" name="Google Shape;826;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dk1"/>
                </a:solidFill>
              </a:rPr>
              <a:t>Q:</a:t>
            </a:r>
            <a:r>
              <a:rPr lang="en">
                <a:solidFill>
                  <a:schemeClr val="dk1"/>
                </a:solidFill>
              </a:rPr>
              <a:t> </a:t>
            </a:r>
            <a:r>
              <a:rPr b="1" lang="en" sz="1700">
                <a:solidFill>
                  <a:schemeClr val="dk1"/>
                </a:solidFill>
              </a:rPr>
              <a:t>How do you validate the outreach increased based on these content streams?</a:t>
            </a:r>
            <a:endParaRPr b="1" sz="1700">
              <a:solidFill>
                <a:schemeClr val="dk1"/>
              </a:solidFill>
            </a:endParaRPr>
          </a:p>
          <a:p>
            <a:pPr indent="0" lvl="0" marL="0" rtl="0" algn="l">
              <a:spcBef>
                <a:spcPts val="1200"/>
              </a:spcBef>
              <a:spcAft>
                <a:spcPts val="0"/>
              </a:spcAft>
              <a:buNone/>
            </a:pPr>
            <a:r>
              <a:rPr lang="en" sz="1700">
                <a:solidFill>
                  <a:schemeClr val="dk1"/>
                </a:solidFill>
              </a:rPr>
              <a:t>A: </a:t>
            </a:r>
            <a:r>
              <a:rPr lang="en" sz="1600">
                <a:solidFill>
                  <a:schemeClr val="dk1"/>
                </a:solidFill>
              </a:rPr>
              <a:t>The growth of the LinkedIn Group and likes/comments can be analyzed in the future. Being the second semester of the initiative, we just need better procedures in place (this semester’s work). Then, more posts can be created in each content stream. Finally, we can analyze how they’re doing and the growth from</a:t>
            </a:r>
            <a:endParaRPr sz="1400">
              <a:solidFill>
                <a:schemeClr val="dk1"/>
              </a:solidFill>
            </a:endParaRPr>
          </a:p>
          <a:p>
            <a:pPr indent="0" lvl="0" marL="0" rtl="0" algn="l">
              <a:spcBef>
                <a:spcPts val="1200"/>
              </a:spcBef>
              <a:spcAft>
                <a:spcPts val="1200"/>
              </a:spcAft>
              <a:buNone/>
            </a:pPr>
            <a:r>
              <a:t/>
            </a:r>
            <a:endParaRPr sz="2800">
              <a:solidFill>
                <a:schemeClr val="dk1"/>
              </a:solidFill>
            </a:endParaRPr>
          </a:p>
        </p:txBody>
      </p:sp>
      <p:sp>
        <p:nvSpPr>
          <p:cNvPr id="827" name="Google Shape;827;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